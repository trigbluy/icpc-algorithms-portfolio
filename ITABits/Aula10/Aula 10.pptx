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56"/>
  </p:notesMasterIdLst>
  <p:handoutMasterIdLst>
    <p:handoutMasterId r:id="rId57"/>
  </p:handoutMasterIdLst>
  <p:sldIdLst>
    <p:sldId id="256" r:id="rId2"/>
    <p:sldId id="257" r:id="rId3"/>
    <p:sldId id="258" r:id="rId4"/>
    <p:sldId id="268" r:id="rId5"/>
    <p:sldId id="267" r:id="rId6"/>
    <p:sldId id="269" r:id="rId7"/>
    <p:sldId id="270" r:id="rId8"/>
    <p:sldId id="275" r:id="rId9"/>
    <p:sldId id="274" r:id="rId10"/>
    <p:sldId id="273" r:id="rId11"/>
    <p:sldId id="276" r:id="rId12"/>
    <p:sldId id="278" r:id="rId13"/>
    <p:sldId id="279" r:id="rId14"/>
    <p:sldId id="277" r:id="rId15"/>
    <p:sldId id="280" r:id="rId16"/>
    <p:sldId id="281" r:id="rId17"/>
    <p:sldId id="282" r:id="rId18"/>
    <p:sldId id="284" r:id="rId19"/>
    <p:sldId id="313" r:id="rId20"/>
    <p:sldId id="283" r:id="rId21"/>
    <p:sldId id="285" r:id="rId22"/>
    <p:sldId id="288" r:id="rId23"/>
    <p:sldId id="287" r:id="rId24"/>
    <p:sldId id="290" r:id="rId25"/>
    <p:sldId id="314" r:id="rId26"/>
    <p:sldId id="315" r:id="rId27"/>
    <p:sldId id="316" r:id="rId28"/>
    <p:sldId id="317" r:id="rId29"/>
    <p:sldId id="325" r:id="rId30"/>
    <p:sldId id="319" r:id="rId31"/>
    <p:sldId id="320" r:id="rId32"/>
    <p:sldId id="321" r:id="rId33"/>
    <p:sldId id="322" r:id="rId34"/>
    <p:sldId id="323" r:id="rId35"/>
    <p:sldId id="324" r:id="rId36"/>
    <p:sldId id="318" r:id="rId37"/>
    <p:sldId id="293" r:id="rId38"/>
    <p:sldId id="308" r:id="rId39"/>
    <p:sldId id="292" r:id="rId40"/>
    <p:sldId id="294" r:id="rId41"/>
    <p:sldId id="301" r:id="rId42"/>
    <p:sldId id="302" r:id="rId43"/>
    <p:sldId id="303" r:id="rId44"/>
    <p:sldId id="304" r:id="rId45"/>
    <p:sldId id="305" r:id="rId46"/>
    <p:sldId id="295" r:id="rId47"/>
    <p:sldId id="309" r:id="rId48"/>
    <p:sldId id="297" r:id="rId49"/>
    <p:sldId id="306" r:id="rId50"/>
    <p:sldId id="307" r:id="rId51"/>
    <p:sldId id="299" r:id="rId52"/>
    <p:sldId id="326" r:id="rId53"/>
    <p:sldId id="310" r:id="rId54"/>
    <p:sldId id="311" r:id="rId55"/>
  </p:sldIdLst>
  <p:sldSz cx="12188825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2" autoAdjust="0"/>
    <p:restoredTop sz="94599" autoAdjust="0"/>
  </p:normalViewPr>
  <p:slideViewPr>
    <p:cSldViewPr>
      <p:cViewPr varScale="1">
        <p:scale>
          <a:sx n="74" d="100"/>
          <a:sy n="74" d="100"/>
        </p:scale>
        <p:origin x="456" y="72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8" d="100"/>
          <a:sy n="88" d="100"/>
        </p:scale>
        <p:origin x="3072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8D0EFA9-57C0-4188-B1C6-56EB9958F127}" type="datetime1">
              <a:rPr lang="pt-BR" smtClean="0"/>
              <a:t>04/06/2021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50423A-8BCE-448E-A97B-03A88B2B12C1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477323E-F331-42C0-8ED8-298FE2B5981D}" type="datetime1">
              <a:rPr lang="pt-BR" smtClean="0"/>
              <a:t>04/06/2021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dirty="0" smtClean="0"/>
              <a:t>Clique para editar o texto Mestre</a:t>
            </a:r>
          </a:p>
          <a:p>
            <a:pPr lvl="1" rtl="0"/>
            <a:r>
              <a:rPr lang="pt-BR" dirty="0" smtClean="0"/>
              <a:t>Segundo nível</a:t>
            </a:r>
          </a:p>
          <a:p>
            <a:pPr lvl="2" rtl="0"/>
            <a:r>
              <a:rPr lang="pt-BR" dirty="0" smtClean="0"/>
              <a:t>Terceiro nível</a:t>
            </a:r>
          </a:p>
          <a:p>
            <a:pPr lvl="3" rtl="0"/>
            <a:r>
              <a:rPr lang="pt-BR" dirty="0" smtClean="0"/>
              <a:t>Quarto nível</a:t>
            </a:r>
          </a:p>
          <a:p>
            <a:pPr lvl="4" rtl="0"/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F2A70B-78F2-4DCF-B53B-C990D2FAFB8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25624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88499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61082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1602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452164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740504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688731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597818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55245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053065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11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399850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49118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537535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14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63697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15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74623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16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255541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17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776621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18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49483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19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92276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20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13461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21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04494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22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150575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23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93807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24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33817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25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46129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26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8853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27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084778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28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475661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29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938471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30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33394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31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0387949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32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5709876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33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529659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34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367275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35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448327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36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4275093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37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47587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38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790825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39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717731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40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7759346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41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3015026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42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971915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43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7475947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44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6531439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45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0687912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46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6320651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47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76897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48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2644148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49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4522420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50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320781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51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8038642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52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1123264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53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0699317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1F2A70B-78F2-4DCF-B53B-C990D2FAFB8A}" type="slidenum">
              <a:rPr lang="pt-BR" smtClean="0"/>
              <a:t>54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07372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2000"/>
            <a:ext cx="9139238" cy="5334001"/>
          </a:xfrm>
          <a:prstGeom prst="rect">
            <a:avLst/>
          </a:pr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67849" y="762000"/>
            <a:ext cx="2924556" cy="5334001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569" y="1298448"/>
            <a:ext cx="7313295" cy="3255264"/>
          </a:xfrm>
        </p:spPr>
        <p:txBody>
          <a:bodyPr anchor="b">
            <a:normAutofit/>
          </a:bodyPr>
          <a:lstStyle>
            <a:lvl1pPr algn="l">
              <a:defRPr sz="5898" spc="-100" baseline="0">
                <a:solidFill>
                  <a:srgbClr val="FFFFFF"/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9729" y="4670246"/>
            <a:ext cx="7313295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199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063" indent="0" algn="ctr">
              <a:buNone/>
              <a:defRPr sz="2199"/>
            </a:lvl2pPr>
            <a:lvl3pPr marL="914126" indent="0" algn="ctr">
              <a:buNone/>
              <a:defRPr sz="2199"/>
            </a:lvl3pPr>
            <a:lvl4pPr marL="1371189" indent="0" algn="ctr">
              <a:buNone/>
              <a:defRPr sz="1999"/>
            </a:lvl4pPr>
            <a:lvl5pPr marL="1828251" indent="0" algn="ctr">
              <a:buNone/>
              <a:defRPr sz="1999"/>
            </a:lvl5pPr>
            <a:lvl6pPr marL="2285314" indent="0" algn="ctr">
              <a:buNone/>
              <a:defRPr sz="1999"/>
            </a:lvl6pPr>
            <a:lvl7pPr marL="2742377" indent="0" algn="ctr">
              <a:buNone/>
              <a:defRPr sz="1999"/>
            </a:lvl7pPr>
            <a:lvl8pPr marL="3199440" indent="0" algn="ctr">
              <a:buNone/>
              <a:defRPr sz="1999"/>
            </a:lvl8pPr>
            <a:lvl9pPr marL="3656503" indent="0" algn="ctr">
              <a:buNone/>
              <a:defRPr sz="1999"/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9758D4F-735F-46FE-9FCB-4849D9F60668}" type="datetime1">
              <a:rPr lang="pt-BR" smtClean="0"/>
              <a:t>04/06/2021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57106021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9758D4F-735F-46FE-9FCB-4849D9F60668}" type="datetime1">
              <a:rPr lang="pt-BR" smtClean="0"/>
              <a:t>04/06/2021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63735336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6905" y="1298448"/>
            <a:ext cx="7313295" cy="3255264"/>
          </a:xfrm>
        </p:spPr>
        <p:txBody>
          <a:bodyPr anchor="b">
            <a:normAutofit/>
          </a:bodyPr>
          <a:lstStyle>
            <a:lvl1pPr>
              <a:defRPr sz="5898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5188" y="4672584"/>
            <a:ext cx="7313295" cy="914400"/>
          </a:xfrm>
        </p:spPr>
        <p:txBody>
          <a:bodyPr anchor="t">
            <a:normAutofit/>
          </a:bodyPr>
          <a:lstStyle>
            <a:lvl1pPr marL="0" indent="0">
              <a:buNone/>
              <a:defRPr sz="2199" cap="none" spc="0" baseline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7F0D0AC-B9DC-491A-B40C-0529EC313878}" type="datetime1">
              <a:rPr lang="pt-BR" smtClean="0"/>
              <a:t>04/06/2021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04633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6905" y="868680"/>
            <a:ext cx="3473815" cy="5120640"/>
          </a:xfrm>
        </p:spPr>
        <p:txBody>
          <a:bodyPr/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6084" y="868680"/>
            <a:ext cx="3473815" cy="5120640"/>
          </a:xfrm>
        </p:spPr>
        <p:txBody>
          <a:bodyPr/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9758D4F-735F-46FE-9FCB-4849D9F60668}" type="datetime1">
              <a:rPr lang="pt-BR" smtClean="0"/>
              <a:t>04/06/2021</a:t>
            </a:fld>
            <a:endParaRPr lang="pt-BR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9213412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6905" y="1023586"/>
            <a:ext cx="3473815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99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6905" y="1930936"/>
            <a:ext cx="3473815" cy="4023360"/>
          </a:xfrm>
        </p:spPr>
        <p:txBody>
          <a:bodyPr/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6427" y="1023587"/>
            <a:ext cx="3473815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99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6427" y="1930936"/>
            <a:ext cx="3473815" cy="4023360"/>
          </a:xfrm>
        </p:spPr>
        <p:txBody>
          <a:bodyPr/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3F48602-A83C-4B27-B476-20AF32AE1EED}" type="datetime1">
              <a:rPr lang="pt-BR" smtClean="0"/>
              <a:t>04/06/2021</a:t>
            </a:fld>
            <a:endParaRPr lang="pt-BR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19183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9758D4F-735F-46FE-9FCB-4849D9F60668}" type="datetime1">
              <a:rPr lang="pt-BR" smtClean="0"/>
              <a:t>04/06/2021</a:t>
            </a:fld>
            <a:endParaRPr lang="pt-BR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64557421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71526F9-43E7-4B77-89D8-9DEFDDBA71B5}" type="datetime1">
              <a:rPr lang="pt-BR" smtClean="0"/>
              <a:t>04/06/2021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443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965" y="1143000"/>
            <a:ext cx="2833902" cy="2377440"/>
          </a:xfrm>
        </p:spPr>
        <p:txBody>
          <a:bodyPr anchor="b">
            <a:normAutofit/>
          </a:bodyPr>
          <a:lstStyle>
            <a:lvl1pPr>
              <a:defRPr sz="3199" b="0" baseline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6905" y="868680"/>
            <a:ext cx="7313295" cy="5120640"/>
          </a:xfrm>
        </p:spPr>
        <p:txBody>
          <a:bodyPr/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5965" y="3494176"/>
            <a:ext cx="2833902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5CA678-7531-4BBD-B1E6-6A1CA37BCB1B}" type="datetime1">
              <a:rPr lang="pt-BR" smtClean="0"/>
              <a:t>04/06/2021</a:t>
            </a:fld>
            <a:endParaRPr lang="pt-BR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480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965" y="1143000"/>
            <a:ext cx="2833902" cy="2377440"/>
          </a:xfrm>
        </p:spPr>
        <p:txBody>
          <a:bodyPr anchor="b">
            <a:normAutofit/>
          </a:bodyPr>
          <a:lstStyle>
            <a:lvl1pPr>
              <a:defRPr sz="3199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69714" y="767419"/>
            <a:ext cx="8113117" cy="5330952"/>
          </a:xfrm>
          <a:solidFill>
            <a:schemeClr val="bg1">
              <a:lumMod val="50000"/>
              <a:lumOff val="50000"/>
            </a:schemeClr>
          </a:solidFill>
        </p:spPr>
        <p:txBody>
          <a:bodyPr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5965" y="3493008"/>
            <a:ext cx="2833902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2184FD6-C734-4162-88D8-0C01192F6E9B}" type="datetime1">
              <a:rPr lang="pt-BR" smtClean="0"/>
              <a:t>04/06/2021</a:t>
            </a:fld>
            <a:endParaRPr lang="pt-BR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8190" y="6356351"/>
            <a:ext cx="5909978" cy="365125"/>
          </a:xfrm>
        </p:spPr>
        <p:txBody>
          <a:bodyPr/>
          <a:lstStyle/>
          <a:p>
            <a:pPr rtl="0"/>
            <a:endParaRPr lang="pt-BR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0595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9758D4F-735F-46FE-9FCB-4849D9F60668}" type="datetime1">
              <a:rPr lang="pt-BR" smtClean="0"/>
              <a:t>04/06/2021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90546028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0901" y="990600"/>
            <a:ext cx="2818666" cy="4953000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6905" y="868680"/>
            <a:ext cx="7313295" cy="5120640"/>
          </a:xfrm>
        </p:spPr>
        <p:txBody>
          <a:bodyPr vert="eaVert" anchor="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9758D4F-735F-46FE-9FCB-4849D9F60668}" type="datetime1">
              <a:rPr lang="pt-BR" smtClean="0"/>
              <a:t>04/06/2021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25BA54BD-C84D-46CE-8B72-31BFB26ABA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4311832"/>
      </p:ext>
    </p:extLst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522414" y="274638"/>
            <a:ext cx="9143998" cy="1020762"/>
          </a:xfrm>
        </p:spPr>
        <p:txBody>
          <a:bodyPr rtlCol="0"/>
          <a:lstStyle>
            <a:lvl1pPr rtl="0">
              <a:defRPr/>
            </a:lvl1pPr>
          </a:lstStyle>
          <a:p>
            <a:pPr rtl="0"/>
            <a:r>
              <a:rPr lang="pt-BR" dirty="0" smtClean="0"/>
              <a:t>Clique para editar o estilo de título Mestre</a:t>
            </a:r>
            <a:endParaRPr lang="pt-BR" dirty="0"/>
          </a:p>
        </p:txBody>
      </p:sp>
      <p:grpSp>
        <p:nvGrpSpPr>
          <p:cNvPr id="160" name="linha" descr="Gráfico de linhas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orma Livre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2" name="Forma Livre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3" name="Forma Livre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4" name="Forma Livre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5" name="Forma Livre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6" name="Forma Livre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7" name="Forma Livre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8" name="Forma Livre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69" name="Forma Livre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0" name="Forma Livre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1" name="Forma Livre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2" name="Forma Livre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3" name="Forma Livre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4" name="Forma Livre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5" name="Forma Livre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6" name="Forma Livre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7" name="Forma Livre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8" name="Forma Livre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79" name="Forma Livre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0" name="Forma Livre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1" name="Forma Livre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2" name="Forma Livre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3" name="Forma Livre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4" name="Forma Livre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5" name="Forma Livre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6" name="Forma Livre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7" name="Forma Livre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8" name="Forma Livre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89" name="Forma Livre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0" name="Forma Livre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1" name="Forma Livre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2" name="Forma Livre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3" name="Forma Livre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4" name="Forma Livre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5" name="Forma Livre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6" name="Forma Livre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7" name="Forma Livre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8" name="Forma Livre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199" name="Forma Livre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0" name="Forma Livre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1" name="Forma Livre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2" name="Forma Livre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3" name="Forma Livre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4" name="Forma Livre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5" name="Forma Livre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6" name="Forma Livre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7" name="Forma Livre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8" name="Forma Livre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09" name="Forma Livre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0" name="Forma Livre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1" name="Forma Livre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2" name="Forma Livre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3" name="Forma Livre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4" name="Forma Livre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5" name="Forma Livre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6" name="Forma Livre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7" name="Forma Livre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8" name="Forma Livre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19" name="Forma Livre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0" name="Forma Livre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1" name="Forma Livre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2" name="Forma Livre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3" name="Forma Livre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4" name="Forma Livre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5" name="Forma Livre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6" name="Forma Livre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7" name="Forma Livre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8" name="Forma Livre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29" name="Forma Livre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0" name="Forma Livre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1" name="Forma Livre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2" name="Forma Livre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3" name="Forma Livre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  <p:sp>
          <p:nvSpPr>
            <p:cNvPr id="234" name="Forma Livre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rtl="0"/>
              <a:endParaRPr lang="pt-BR" dirty="0">
                <a:ln>
                  <a:noFill/>
                </a:ln>
              </a:endParaRPr>
            </a:p>
          </p:txBody>
        </p:sp>
      </p:grp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pt-BR" smtClean="0"/>
              <a:t>Clique para editar o texto mestre</a:t>
            </a:r>
          </a:p>
          <a:p>
            <a:pPr lvl="1" rtl="0"/>
            <a:r>
              <a:rPr lang="pt-BR" smtClean="0"/>
              <a:t>Segundo nível</a:t>
            </a:r>
          </a:p>
          <a:p>
            <a:pPr lvl="2" rtl="0"/>
            <a:r>
              <a:rPr lang="pt-BR" smtClean="0"/>
              <a:t>Terceiro nível</a:t>
            </a:r>
          </a:p>
          <a:p>
            <a:pPr lvl="3" rtl="0"/>
            <a:r>
              <a:rPr lang="pt-BR" smtClean="0"/>
              <a:t>Quarto nível</a:t>
            </a:r>
          </a:p>
          <a:p>
            <a:pPr lvl="4" rtl="0"/>
            <a:r>
              <a:rPr lang="pt-BR" smtClean="0"/>
              <a:t>Quinto nível</a:t>
            </a: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smtClean="0"/>
              <a:t>Clique para editar o texto mestre</a:t>
            </a: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F48602-A83C-4B27-B476-20AF32AE1EED}" type="datetime1">
              <a:rPr lang="pt-BR" smtClean="0"/>
              <a:t>04/06/2021</a:t>
            </a:fld>
            <a:endParaRPr lang="pt-BR" dirty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5BA54BD-C84D-46CE-8B72-31BFB26ABA43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85" name="Espaço Reservado para Conteúdo 3"/>
          <p:cNvSpPr>
            <a:spLocks noGrp="1"/>
          </p:cNvSpPr>
          <p:nvPr>
            <p:ph sz="half" idx="13"/>
          </p:nvPr>
        </p:nvSpPr>
        <p:spPr>
          <a:xfrm>
            <a:off x="6249860" y="2819400"/>
            <a:ext cx="4416552" cy="3352801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 rtl="0"/>
            <a:r>
              <a:rPr lang="pt-BR" smtClean="0"/>
              <a:t>Clique para editar o texto mestre</a:t>
            </a:r>
          </a:p>
          <a:p>
            <a:pPr lvl="1" rtl="0"/>
            <a:r>
              <a:rPr lang="pt-BR" smtClean="0"/>
              <a:t>Segundo nível</a:t>
            </a:r>
          </a:p>
          <a:p>
            <a:pPr lvl="2" rtl="0"/>
            <a:r>
              <a:rPr lang="pt-BR" smtClean="0"/>
              <a:t>Terceiro nível</a:t>
            </a:r>
          </a:p>
          <a:p>
            <a:pPr lvl="3" rtl="0"/>
            <a:r>
              <a:rPr lang="pt-BR" smtClean="0"/>
              <a:t>Quarto nível</a:t>
            </a:r>
          </a:p>
          <a:p>
            <a:pPr lvl="4" rtl="0"/>
            <a:r>
              <a:rPr lang="pt-BR" smtClean="0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2693" cy="5330952"/>
          </a:xfrm>
          <a:prstGeom prst="rect">
            <a:avLst/>
          </a:prstGeom>
          <a:solidFill>
            <a:schemeClr val="accent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853" y="1123838"/>
            <a:ext cx="2946714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2787" y="758952"/>
            <a:ext cx="383948" cy="5330952"/>
          </a:xfrm>
          <a:prstGeom prst="rect">
            <a:avLst/>
          </a:prstGeom>
          <a:solidFill>
            <a:schemeClr val="accent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8260" y="864108"/>
            <a:ext cx="7313295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396" y="6356351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99758D4F-735F-46FE-9FCB-4849D9F60668}" type="datetime1">
              <a:rPr lang="pt-BR" smtClean="0"/>
              <a:t>04/06/2021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8261" y="6356351"/>
            <a:ext cx="5909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1366" y="6356351"/>
            <a:ext cx="15305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pPr rtl="0"/>
            <a:fld id="{25BA54BD-C84D-46CE-8B72-31BFB26ABA43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05024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665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3599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25" indent="-182825" algn="l" defTabSz="914126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tabLst>
          <a:tab pos="1142657" algn="l"/>
        </a:tabLst>
        <a:defRPr sz="1999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1pPr>
      <a:lvl2pPr marL="685594" indent="-182825" algn="l" defTabSz="914126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2657" algn="l"/>
        </a:tabLst>
        <a:defRPr sz="1799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2pPr>
      <a:lvl3pPr marL="1142657" indent="-182825" algn="l" defTabSz="914126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2657" algn="l"/>
        </a:tabLst>
        <a:defRPr sz="16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3pPr>
      <a:lvl4pPr marL="1599720" indent="-182825" algn="l" defTabSz="914126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2657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4pPr>
      <a:lvl5pPr marL="2056783" indent="-182825" algn="l" defTabSz="914126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2657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2657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2657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2657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tabLst>
          <a:tab pos="1142657" algn="l"/>
        </a:tabLst>
        <a:defRPr sz="1400" kern="1200">
          <a:solidFill>
            <a:schemeClr val="bg2">
              <a:lumMod val="20000"/>
              <a:lumOff val="8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hyperlink" Target="https://olimpiada.ic.unicamp.br/pratique/p2/2007/f2/lab/" TargetMode="External"/><Relationship Id="rId3" Type="http://schemas.openxmlformats.org/officeDocument/2006/relationships/hyperlink" Target="https://olimpiada.ic.unicamp.br/pratique/pj/2017/f3/onibus/" TargetMode="External"/><Relationship Id="rId7" Type="http://schemas.openxmlformats.org/officeDocument/2006/relationships/hyperlink" Target="https://olimpiada.ic.unicamp.br/pratique/p2/2007/f1/mobile/" TargetMode="Externa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olimpiada.ic.unicamp.br/pratique/pj/2014/f2/bolinha/" TargetMode="External"/><Relationship Id="rId11" Type="http://schemas.openxmlformats.org/officeDocument/2006/relationships/hyperlink" Target="https://br.spoj.com/problems/IREVIR/" TargetMode="External"/><Relationship Id="rId5" Type="http://schemas.openxmlformats.org/officeDocument/2006/relationships/hyperlink" Target="https://olimpiada.ic.unicamp.br/pratique/p2/2007/f1/pastas/" TargetMode="External"/><Relationship Id="rId10" Type="http://schemas.openxmlformats.org/officeDocument/2006/relationships/hyperlink" Target="https://br.spoj.com/problems/TARZAN12/" TargetMode="External"/><Relationship Id="rId4" Type="http://schemas.openxmlformats.org/officeDocument/2006/relationships/hyperlink" Target="https://olimpiada.ic.unicamp.br/pratique/p2/2011/f1/cartografico/" TargetMode="External"/><Relationship Id="rId9" Type="http://schemas.openxmlformats.org/officeDocument/2006/relationships/hyperlink" Target="https://br.spoj.com/problems/ROBO13/" TargetMode="Externa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br.spoj.com/problems/ORKUT/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br.spoj.com/problems/RODOVI13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File:Halin graph.svg - Wikimedia Commons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77247">
            <a:off x="1701924" y="1124744"/>
            <a:ext cx="5618752" cy="475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05780" y="1905000"/>
            <a:ext cx="11305256" cy="2667000"/>
          </a:xfrm>
        </p:spPr>
        <p:txBody>
          <a:bodyPr rtlCol="0"/>
          <a:lstStyle/>
          <a:p>
            <a:pPr rtl="0"/>
            <a:r>
              <a:rPr lang="pt-BR" dirty="0" smtClean="0"/>
              <a:t>Aula 10: Introdução a Grafos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pt-BR" dirty="0" smtClean="0"/>
              <a:t>Andrei Freiberger (Senai T24)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>
          <a:xfrm>
            <a:off x="252852" y="1123838"/>
            <a:ext cx="3033247" cy="4601183"/>
          </a:xfrm>
        </p:spPr>
        <p:txBody>
          <a:bodyPr rtlCol="0"/>
          <a:lstStyle/>
          <a:p>
            <a:pPr rtl="0"/>
            <a:r>
              <a:rPr lang="pt-BR" dirty="0" smtClean="0"/>
              <a:t>Tópicos da Aula</a:t>
            </a:r>
            <a:endParaRPr lang="pt-BR" dirty="0"/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>
          <a:xfrm>
            <a:off x="3862164" y="1089693"/>
            <a:ext cx="7313295" cy="5120640"/>
          </a:xfrm>
        </p:spPr>
        <p:txBody>
          <a:bodyPr rtlCol="0"/>
          <a:lstStyle/>
          <a:p>
            <a:pPr rtl="0"/>
            <a:r>
              <a:rPr lang="pt-BR" sz="2800" dirty="0" smtClean="0">
                <a:solidFill>
                  <a:schemeClr val="tx1"/>
                </a:solidFill>
              </a:rPr>
              <a:t>Motivação</a:t>
            </a:r>
          </a:p>
          <a:p>
            <a:pPr rtl="0"/>
            <a:r>
              <a:rPr lang="pt-BR" sz="2800" dirty="0" smtClean="0">
                <a:solidFill>
                  <a:schemeClr val="tx1"/>
                </a:solidFill>
              </a:rPr>
              <a:t>Tipos e Definições</a:t>
            </a:r>
          </a:p>
          <a:p>
            <a:pPr rtl="0"/>
            <a:r>
              <a:rPr lang="pt-BR" sz="2800" dirty="0" smtClean="0">
                <a:solidFill>
                  <a:schemeClr val="tx1"/>
                </a:solidFill>
              </a:rPr>
              <a:t>Tratamento de Grafos</a:t>
            </a:r>
          </a:p>
          <a:p>
            <a:pPr lvl="1"/>
            <a:r>
              <a:rPr lang="pt-BR" sz="2400" dirty="0" smtClean="0">
                <a:solidFill>
                  <a:schemeClr val="tx1"/>
                </a:solidFill>
              </a:rPr>
              <a:t>Matriz de Adjacências</a:t>
            </a:r>
          </a:p>
          <a:p>
            <a:pPr lvl="1"/>
            <a:r>
              <a:rPr lang="pt-BR" sz="2400" dirty="0" smtClean="0">
                <a:solidFill>
                  <a:schemeClr val="tx1"/>
                </a:solidFill>
              </a:rPr>
              <a:t>Lista de Adjacências</a:t>
            </a:r>
          </a:p>
          <a:p>
            <a:pPr rtl="0"/>
            <a:r>
              <a:rPr lang="pt-BR" sz="2800" dirty="0" smtClean="0">
                <a:solidFill>
                  <a:schemeClr val="tx1"/>
                </a:solidFill>
              </a:rPr>
              <a:t>Caminhamento em grafos</a:t>
            </a:r>
          </a:p>
          <a:p>
            <a:pPr lvl="1"/>
            <a:r>
              <a:rPr lang="pt-BR" sz="2400" dirty="0" smtClean="0">
                <a:solidFill>
                  <a:schemeClr val="tx1"/>
                </a:solidFill>
              </a:rPr>
              <a:t>Busca em Profundidade</a:t>
            </a:r>
          </a:p>
          <a:p>
            <a:pPr lvl="1"/>
            <a:r>
              <a:rPr lang="pt-BR" sz="2400" dirty="0" smtClean="0">
                <a:solidFill>
                  <a:schemeClr val="tx1"/>
                </a:solidFill>
              </a:rPr>
              <a:t>Busca em Largura</a:t>
            </a:r>
          </a:p>
          <a:p>
            <a:pPr rtl="0"/>
            <a:r>
              <a:rPr lang="pt-BR" sz="2800" dirty="0" smtClean="0">
                <a:solidFill>
                  <a:schemeClr val="tx1"/>
                </a:solidFill>
              </a:rPr>
              <a:t>Exercícios</a:t>
            </a:r>
          </a:p>
          <a:p>
            <a:pPr lvl="1"/>
            <a:endParaRPr lang="pt-BR" dirty="0" smtClean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620688"/>
            <a:ext cx="7313295" cy="3255264"/>
          </a:xfrm>
        </p:spPr>
        <p:txBody>
          <a:bodyPr rtlCol="0"/>
          <a:lstStyle/>
          <a:p>
            <a:pPr rtl="0"/>
            <a:r>
              <a:rPr lang="pt-BR" b="1" dirty="0" smtClean="0"/>
              <a:t>Motivação</a:t>
            </a:r>
            <a:endParaRPr lang="pt-BR" b="1" dirty="0"/>
          </a:p>
        </p:txBody>
      </p:sp>
      <p:pic>
        <p:nvPicPr>
          <p:cNvPr id="2052" name="Picture 4" descr="Introduction to graphs &amp; how facebook get friend suggestions | by Aman  Srivastav | Medium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0316" y="1052736"/>
            <a:ext cx="4824536" cy="4266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7750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924944"/>
            <a:ext cx="3430117" cy="951008"/>
          </a:xfrm>
        </p:spPr>
        <p:txBody>
          <a:bodyPr rtlCol="0"/>
          <a:lstStyle/>
          <a:p>
            <a:pPr rtl="0"/>
            <a:r>
              <a:rPr lang="pt-BR" dirty="0" smtClean="0"/>
              <a:t>Motivação</a:t>
            </a:r>
            <a:endParaRPr lang="pt-BR" dirty="0"/>
          </a:p>
        </p:txBody>
      </p:sp>
      <p:sp>
        <p:nvSpPr>
          <p:cNvPr id="4" name="Espaço Reservado para Conteúdo 5"/>
          <p:cNvSpPr txBox="1">
            <a:spLocks/>
          </p:cNvSpPr>
          <p:nvPr/>
        </p:nvSpPr>
        <p:spPr>
          <a:xfrm>
            <a:off x="3866905" y="868680"/>
            <a:ext cx="7313295" cy="51206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tx1"/>
                </a:solidFill>
              </a:rPr>
              <a:t>Grafos são usados para modelagens de redes e relacionamentos e estão presentes nas mais diversas áreas. </a:t>
            </a:r>
          </a:p>
          <a:p>
            <a:r>
              <a:rPr lang="pt-BR" dirty="0" smtClean="0">
                <a:solidFill>
                  <a:schemeClr val="tx1"/>
                </a:solidFill>
              </a:rPr>
              <a:t>São usados quando temos muitas informações e a relação entre cada uma dessas informações não é tão simples e muitas vezes é dinâmica.</a:t>
            </a:r>
          </a:p>
          <a:p>
            <a:r>
              <a:rPr lang="pt-BR" dirty="0" smtClean="0">
                <a:solidFill>
                  <a:schemeClr val="tx1"/>
                </a:solidFill>
              </a:rPr>
              <a:t>Num grafo, as informações são os </a:t>
            </a:r>
            <a:r>
              <a:rPr lang="pt-BR" b="1" dirty="0" smtClean="0">
                <a:solidFill>
                  <a:schemeClr val="accent2"/>
                </a:solidFill>
              </a:rPr>
              <a:t>nós/vértices</a:t>
            </a:r>
            <a:r>
              <a:rPr lang="pt-BR" dirty="0" smtClean="0">
                <a:solidFill>
                  <a:schemeClr val="tx1"/>
                </a:solidFill>
              </a:rPr>
              <a:t> e a relação entre cada uma dessas informações é representada por uma </a:t>
            </a:r>
            <a:r>
              <a:rPr lang="pt-BR" b="1" dirty="0" smtClean="0">
                <a:solidFill>
                  <a:schemeClr val="accent2"/>
                </a:solidFill>
              </a:rPr>
              <a:t>aresta</a:t>
            </a:r>
            <a:r>
              <a:rPr lang="pt-BR" b="1" dirty="0" smtClean="0">
                <a:solidFill>
                  <a:schemeClr val="tx1"/>
                </a:solidFill>
              </a:rPr>
              <a:t>.</a:t>
            </a:r>
          </a:p>
          <a:p>
            <a:endParaRPr lang="pt-BR" dirty="0" smtClean="0"/>
          </a:p>
        </p:txBody>
      </p:sp>
      <p:pic>
        <p:nvPicPr>
          <p:cNvPr id="4098" name="Picture 2" descr="Uma visão geral do funcionamento de grafos em estruturas de dados ⋆ Big  Data Week São Paulo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8188" y="3875952"/>
            <a:ext cx="2787828" cy="2719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/>
          <p:cNvSpPr txBox="1"/>
          <p:nvPr/>
        </p:nvSpPr>
        <p:spPr>
          <a:xfrm>
            <a:off x="7142296" y="4589315"/>
            <a:ext cx="38164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 smtClean="0"/>
              <a:t>Grafo simples com </a:t>
            </a:r>
            <a:r>
              <a:rPr lang="pt-BR" sz="2000" dirty="0" smtClean="0">
                <a:solidFill>
                  <a:schemeClr val="accent2"/>
                </a:solidFill>
              </a:rPr>
              <a:t>5</a:t>
            </a:r>
            <a:r>
              <a:rPr lang="pt-BR" sz="2000" dirty="0" smtClean="0"/>
              <a:t> vértices e </a:t>
            </a:r>
            <a:r>
              <a:rPr lang="pt-BR" sz="2000" dirty="0" smtClean="0">
                <a:solidFill>
                  <a:schemeClr val="accent2"/>
                </a:solidFill>
              </a:rPr>
              <a:t>6 </a:t>
            </a:r>
            <a:r>
              <a:rPr lang="pt-BR" sz="2000" dirty="0" smtClean="0"/>
              <a:t>arestas.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62920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924944"/>
            <a:ext cx="3430117" cy="951008"/>
          </a:xfrm>
        </p:spPr>
        <p:txBody>
          <a:bodyPr rtlCol="0">
            <a:normAutofit/>
          </a:bodyPr>
          <a:lstStyle/>
          <a:p>
            <a:pPr rtl="0"/>
            <a:r>
              <a:rPr lang="pt-BR" dirty="0" smtClean="0"/>
              <a:t>Motivação</a:t>
            </a:r>
            <a:endParaRPr lang="pt-BR" dirty="0"/>
          </a:p>
        </p:txBody>
      </p:sp>
      <p:sp>
        <p:nvSpPr>
          <p:cNvPr id="4" name="Espaço Reservado para Conteúdo 5"/>
          <p:cNvSpPr txBox="1">
            <a:spLocks/>
          </p:cNvSpPr>
          <p:nvPr/>
        </p:nvSpPr>
        <p:spPr>
          <a:xfrm>
            <a:off x="3866905" y="868680"/>
            <a:ext cx="7313295" cy="51206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tx1"/>
                </a:solidFill>
              </a:rPr>
              <a:t>Grafos são usados para modelagens de redes e relacionamentos e estão presentes nas mais diversas áreas. </a:t>
            </a:r>
          </a:p>
          <a:p>
            <a:r>
              <a:rPr lang="pt-BR" dirty="0" smtClean="0">
                <a:solidFill>
                  <a:schemeClr val="tx1"/>
                </a:solidFill>
              </a:rPr>
              <a:t>São usados quando temos muitas informações e a relação entre cada uma dessas informações não é tão simples e muitas vezes é dinâmica.</a:t>
            </a:r>
          </a:p>
          <a:p>
            <a:r>
              <a:rPr lang="pt-BR" dirty="0" smtClean="0">
                <a:solidFill>
                  <a:schemeClr val="tx1"/>
                </a:solidFill>
              </a:rPr>
              <a:t>Num grafo, as informações são os </a:t>
            </a:r>
            <a:r>
              <a:rPr lang="pt-BR" b="1" dirty="0" smtClean="0">
                <a:solidFill>
                  <a:schemeClr val="accent2"/>
                </a:solidFill>
              </a:rPr>
              <a:t>nós/vértices</a:t>
            </a:r>
            <a:r>
              <a:rPr lang="pt-BR" dirty="0" smtClean="0">
                <a:solidFill>
                  <a:schemeClr val="tx1"/>
                </a:solidFill>
              </a:rPr>
              <a:t> e a relação entre cada uma dessas informações é representada por uma </a:t>
            </a:r>
            <a:r>
              <a:rPr lang="pt-BR" b="1" dirty="0" smtClean="0">
                <a:solidFill>
                  <a:schemeClr val="accent2"/>
                </a:solidFill>
              </a:rPr>
              <a:t>aresta</a:t>
            </a:r>
            <a:r>
              <a:rPr lang="pt-BR" b="1" dirty="0" smtClean="0">
                <a:solidFill>
                  <a:schemeClr val="tx1"/>
                </a:solidFill>
              </a:rPr>
              <a:t>.</a:t>
            </a:r>
          </a:p>
          <a:p>
            <a:endParaRPr lang="pt-BR" dirty="0" smtClean="0"/>
          </a:p>
        </p:txBody>
      </p:sp>
      <p:pic>
        <p:nvPicPr>
          <p:cNvPr id="4098" name="Picture 2" descr="Uma visão geral do funcionamento de grafos em estruturas de dados ⋆ Big  Data Week São Paulo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8188" y="3875952"/>
            <a:ext cx="2787828" cy="2719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7030516" y="4005064"/>
            <a:ext cx="41496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Esse grafo pode ser:</a:t>
            </a:r>
          </a:p>
          <a:p>
            <a:r>
              <a:rPr lang="pt-BR" dirty="0" smtClean="0">
                <a:solidFill>
                  <a:schemeClr val="accent2"/>
                </a:solidFill>
              </a:rPr>
              <a:t>Mapa</a:t>
            </a:r>
            <a:r>
              <a:rPr lang="pt-BR" dirty="0" smtClean="0"/>
              <a:t>: Cada um dos nós é uma cidade e cada aresta é uma estrada.</a:t>
            </a:r>
          </a:p>
          <a:p>
            <a:r>
              <a:rPr lang="pt-BR" dirty="0" smtClean="0">
                <a:solidFill>
                  <a:schemeClr val="accent2"/>
                </a:solidFill>
              </a:rPr>
              <a:t>Rede de comunicação</a:t>
            </a:r>
            <a:r>
              <a:rPr lang="pt-BR" dirty="0" smtClean="0"/>
              <a:t>: Cada um dos nós é um indivíduo e cada aresta é a relação entre esses indivíduos</a:t>
            </a:r>
          </a:p>
          <a:p>
            <a:r>
              <a:rPr lang="pt-BR" dirty="0" smtClean="0">
                <a:solidFill>
                  <a:schemeClr val="accent2"/>
                </a:solidFill>
              </a:rPr>
              <a:t>Ou qualquer coisa que possua relações complexas</a:t>
            </a:r>
            <a:endParaRPr lang="pt-B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6776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564904"/>
            <a:ext cx="3430117" cy="1800200"/>
          </a:xfrm>
        </p:spPr>
        <p:txBody>
          <a:bodyPr rtlCol="0">
            <a:normAutofit fontScale="90000"/>
          </a:bodyPr>
          <a:lstStyle/>
          <a:p>
            <a:pPr rtl="0"/>
            <a:r>
              <a:rPr lang="pt-BR" b="1" dirty="0" smtClean="0"/>
              <a:t>Tipos e Definições</a:t>
            </a:r>
            <a:endParaRPr lang="pt-BR" b="1" dirty="0"/>
          </a:p>
        </p:txBody>
      </p:sp>
      <p:grpSp>
        <p:nvGrpSpPr>
          <p:cNvPr id="5" name="Grupo 4"/>
          <p:cNvGrpSpPr/>
          <p:nvPr/>
        </p:nvGrpSpPr>
        <p:grpSpPr>
          <a:xfrm>
            <a:off x="3646140" y="2276872"/>
            <a:ext cx="7992888" cy="2376264"/>
            <a:chOff x="3609071" y="2564904"/>
            <a:chExt cx="7992888" cy="2376264"/>
          </a:xfrm>
        </p:grpSpPr>
        <p:sp>
          <p:nvSpPr>
            <p:cNvPr id="4" name="Retângulo 3"/>
            <p:cNvSpPr/>
            <p:nvPr/>
          </p:nvSpPr>
          <p:spPr>
            <a:xfrm>
              <a:off x="3609071" y="2564904"/>
              <a:ext cx="7992888" cy="23762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CaixaDeTexto 2"/>
            <p:cNvSpPr txBox="1"/>
            <p:nvPr/>
          </p:nvSpPr>
          <p:spPr>
            <a:xfrm>
              <a:off x="3609071" y="2968206"/>
              <a:ext cx="799288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2400" dirty="0" smtClean="0"/>
                <a:t>Como cada problema possui suas características específicas, os grafos também podem possuir topologias diferentes que envolverão abordagens diferentes para melhor resolver cada problema.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98370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5"/>
          <p:cNvSpPr txBox="1">
            <a:spLocks/>
          </p:cNvSpPr>
          <p:nvPr/>
        </p:nvSpPr>
        <p:spPr>
          <a:xfrm>
            <a:off x="3866905" y="868680"/>
            <a:ext cx="5611883" cy="45765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solidFill>
                  <a:schemeClr val="accent2"/>
                </a:solidFill>
              </a:rPr>
              <a:t>Grafos Não-Orientados:</a:t>
            </a:r>
          </a:p>
          <a:p>
            <a:r>
              <a:rPr lang="pt-BR" dirty="0">
                <a:solidFill>
                  <a:schemeClr val="tx1"/>
                </a:solidFill>
              </a:rPr>
              <a:t>As arestas possuem não uma orientação, pode-se ir de A à B e de B à A sem problemas.</a:t>
            </a:r>
          </a:p>
          <a:p>
            <a:endParaRPr lang="pt-BR" dirty="0">
              <a:solidFill>
                <a:schemeClr val="accent2"/>
              </a:solidFill>
            </a:endParaRPr>
          </a:p>
          <a:p>
            <a:endParaRPr lang="pt-BR" dirty="0">
              <a:solidFill>
                <a:schemeClr val="accent2"/>
              </a:solidFill>
            </a:endParaRPr>
          </a:p>
          <a:p>
            <a:endParaRPr lang="pt-BR" dirty="0" smtClean="0">
              <a:solidFill>
                <a:schemeClr val="accent2"/>
              </a:solidFill>
            </a:endParaRP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0" y="2564904"/>
            <a:ext cx="3430117" cy="18002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 smtClean="0"/>
              <a:t>Tipos e Definições</a:t>
            </a:r>
            <a:endParaRPr lang="pt-BR" dirty="0"/>
          </a:p>
        </p:txBody>
      </p:sp>
      <p:pic>
        <p:nvPicPr>
          <p:cNvPr id="5126" name="Picture 6" descr="Uma visão geral do funcionamento de grafos em estruturas de dados ⋆ Big  Data Week São Paulo"/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670" b="20361"/>
          <a:stretch/>
        </p:blipFill>
        <p:spPr bwMode="auto">
          <a:xfrm>
            <a:off x="9720723" y="567612"/>
            <a:ext cx="1964425" cy="1820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2476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5"/>
          <p:cNvSpPr txBox="1">
            <a:spLocks/>
          </p:cNvSpPr>
          <p:nvPr/>
        </p:nvSpPr>
        <p:spPr>
          <a:xfrm>
            <a:off x="3866905" y="868680"/>
            <a:ext cx="5611883" cy="45765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solidFill>
                  <a:schemeClr val="accent2"/>
                </a:solidFill>
              </a:rPr>
              <a:t>Grafos Não-Orientados:</a:t>
            </a:r>
          </a:p>
          <a:p>
            <a:r>
              <a:rPr lang="pt-BR" dirty="0">
                <a:solidFill>
                  <a:schemeClr val="tx1"/>
                </a:solidFill>
              </a:rPr>
              <a:t>As arestas possuem não uma orientação, pode-se ir de A à B e de B à A sem problemas.</a:t>
            </a:r>
          </a:p>
          <a:p>
            <a:endParaRPr lang="pt-BR" dirty="0">
              <a:solidFill>
                <a:schemeClr val="accent2"/>
              </a:solidFill>
            </a:endParaRPr>
          </a:p>
          <a:p>
            <a:r>
              <a:rPr lang="pt-BR" dirty="0" smtClean="0">
                <a:solidFill>
                  <a:schemeClr val="accent2"/>
                </a:solidFill>
              </a:rPr>
              <a:t>Grafos Orientados (</a:t>
            </a:r>
            <a:r>
              <a:rPr lang="pt-BR" b="1" dirty="0" smtClean="0">
                <a:solidFill>
                  <a:schemeClr val="accent2"/>
                </a:solidFill>
              </a:rPr>
              <a:t>Dígrafos</a:t>
            </a:r>
            <a:r>
              <a:rPr lang="pt-BR" dirty="0" smtClean="0">
                <a:solidFill>
                  <a:schemeClr val="accent2"/>
                </a:solidFill>
              </a:rPr>
              <a:t>): </a:t>
            </a:r>
          </a:p>
          <a:p>
            <a:r>
              <a:rPr lang="pt-BR" dirty="0" smtClean="0">
                <a:solidFill>
                  <a:schemeClr val="tx1"/>
                </a:solidFill>
              </a:rPr>
              <a:t>As arestas possuem uma orientação, o que implica numa relação assimétrica. Nesse caso, chamamos as arestas de arcos.</a:t>
            </a:r>
          </a:p>
          <a:p>
            <a:endParaRPr lang="pt-BR" dirty="0">
              <a:solidFill>
                <a:schemeClr val="accent2"/>
              </a:solidFill>
            </a:endParaRPr>
          </a:p>
          <a:p>
            <a:endParaRPr lang="pt-BR" dirty="0" smtClean="0">
              <a:solidFill>
                <a:schemeClr val="accent2"/>
              </a:solidFill>
            </a:endParaRP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0" y="2564904"/>
            <a:ext cx="3430117" cy="18002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 smtClean="0"/>
              <a:t>Tipos e Definições</a:t>
            </a:r>
            <a:endParaRPr lang="pt-BR" dirty="0"/>
          </a:p>
        </p:txBody>
      </p:sp>
      <p:pic>
        <p:nvPicPr>
          <p:cNvPr id="5126" name="Picture 6" descr="Uma visão geral do funcionamento de grafos em estruturas de dados ⋆ Big  Data Week São Paulo"/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670" b="20361"/>
          <a:stretch/>
        </p:blipFill>
        <p:spPr bwMode="auto">
          <a:xfrm>
            <a:off x="9720723" y="567612"/>
            <a:ext cx="1964425" cy="1820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Uma visão geral do funcionamento de grafos em estruturas de dados ⋆ Big  Data Week São Paulo"/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22" r="35805" b="18658"/>
          <a:stretch/>
        </p:blipFill>
        <p:spPr bwMode="auto">
          <a:xfrm>
            <a:off x="9617125" y="2388261"/>
            <a:ext cx="2068023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2449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5"/>
          <p:cNvSpPr txBox="1">
            <a:spLocks/>
          </p:cNvSpPr>
          <p:nvPr/>
        </p:nvSpPr>
        <p:spPr>
          <a:xfrm>
            <a:off x="3866905" y="868680"/>
            <a:ext cx="5611883" cy="45765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solidFill>
                  <a:schemeClr val="accent2"/>
                </a:solidFill>
              </a:rPr>
              <a:t>Grafos Não-Orientados:</a:t>
            </a:r>
          </a:p>
          <a:p>
            <a:r>
              <a:rPr lang="pt-BR" dirty="0">
                <a:solidFill>
                  <a:schemeClr val="tx1"/>
                </a:solidFill>
              </a:rPr>
              <a:t>As arestas possuem não uma orientação, pode-se ir de A à B e de B à A sem problemas.</a:t>
            </a:r>
          </a:p>
          <a:p>
            <a:endParaRPr lang="pt-BR" dirty="0">
              <a:solidFill>
                <a:schemeClr val="accent2"/>
              </a:solidFill>
            </a:endParaRPr>
          </a:p>
          <a:p>
            <a:r>
              <a:rPr lang="pt-BR" dirty="0" smtClean="0">
                <a:solidFill>
                  <a:schemeClr val="accent2"/>
                </a:solidFill>
              </a:rPr>
              <a:t>Grafos Orientados (</a:t>
            </a:r>
            <a:r>
              <a:rPr lang="pt-BR" b="1" dirty="0" smtClean="0">
                <a:solidFill>
                  <a:schemeClr val="accent2"/>
                </a:solidFill>
              </a:rPr>
              <a:t>Dígrafos</a:t>
            </a:r>
            <a:r>
              <a:rPr lang="pt-BR" dirty="0" smtClean="0">
                <a:solidFill>
                  <a:schemeClr val="accent2"/>
                </a:solidFill>
              </a:rPr>
              <a:t>): </a:t>
            </a:r>
          </a:p>
          <a:p>
            <a:r>
              <a:rPr lang="pt-BR" dirty="0" smtClean="0">
                <a:solidFill>
                  <a:schemeClr val="tx1"/>
                </a:solidFill>
              </a:rPr>
              <a:t>As arestas possuem uma orientação, o que implica numa relação assimétrica. Nesse caso, chamamos as arestas de arcos.</a:t>
            </a:r>
          </a:p>
          <a:p>
            <a:endParaRPr lang="pt-BR" dirty="0">
              <a:solidFill>
                <a:schemeClr val="accent2"/>
              </a:solidFill>
            </a:endParaRPr>
          </a:p>
          <a:p>
            <a:r>
              <a:rPr lang="pt-BR" dirty="0" smtClean="0">
                <a:solidFill>
                  <a:schemeClr val="accent2"/>
                </a:solidFill>
              </a:rPr>
              <a:t>Grafos Ponderados:</a:t>
            </a:r>
          </a:p>
          <a:p>
            <a:r>
              <a:rPr lang="pt-BR" dirty="0" smtClean="0">
                <a:solidFill>
                  <a:schemeClr val="tx1"/>
                </a:solidFill>
              </a:rPr>
              <a:t>Cada aresta possui um valor associado (</a:t>
            </a:r>
            <a:r>
              <a:rPr lang="pt-BR" dirty="0" smtClean="0">
                <a:solidFill>
                  <a:schemeClr val="accent2"/>
                </a:solidFill>
              </a:rPr>
              <a:t>peso</a:t>
            </a:r>
            <a:r>
              <a:rPr lang="pt-BR" dirty="0" smtClean="0">
                <a:solidFill>
                  <a:schemeClr val="tx1"/>
                </a:solidFill>
              </a:rPr>
              <a:t>).</a:t>
            </a:r>
          </a:p>
          <a:p>
            <a:endParaRPr lang="pt-BR" dirty="0" smtClean="0">
              <a:solidFill>
                <a:schemeClr val="accent2"/>
              </a:solidFill>
            </a:endParaRP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0" y="2564904"/>
            <a:ext cx="3430117" cy="18002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 smtClean="0"/>
              <a:t>Tipos e Definições</a:t>
            </a:r>
            <a:endParaRPr lang="pt-BR" dirty="0"/>
          </a:p>
        </p:txBody>
      </p:sp>
      <p:pic>
        <p:nvPicPr>
          <p:cNvPr id="5126" name="Picture 6" descr="Uma visão geral do funcionamento de grafos em estruturas de dados ⋆ Big  Data Week São Paulo"/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670" b="20361"/>
          <a:stretch/>
        </p:blipFill>
        <p:spPr bwMode="auto">
          <a:xfrm>
            <a:off x="9720723" y="567612"/>
            <a:ext cx="1964425" cy="1820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Uma visão geral do funcionamento de grafos em estruturas de dados ⋆ Big  Data Week São Paulo"/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22" r="35805" b="18658"/>
          <a:stretch/>
        </p:blipFill>
        <p:spPr bwMode="auto">
          <a:xfrm>
            <a:off x="9617125" y="2388261"/>
            <a:ext cx="2068023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Uma visão geral do funcionamento de grafos em estruturas de dados ⋆ Big  Data Week São Paulo"/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749" b="20361"/>
          <a:stretch/>
        </p:blipFill>
        <p:spPr bwMode="auto">
          <a:xfrm>
            <a:off x="9697326" y="4365104"/>
            <a:ext cx="2076077" cy="1997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3286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5"/>
          <p:cNvSpPr txBox="1">
            <a:spLocks/>
          </p:cNvSpPr>
          <p:nvPr/>
        </p:nvSpPr>
        <p:spPr>
          <a:xfrm>
            <a:off x="3866905" y="868680"/>
            <a:ext cx="5611883" cy="45765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solidFill>
                  <a:schemeClr val="accent2"/>
                </a:solidFill>
              </a:rPr>
              <a:t>Grafos Não-Orientados:</a:t>
            </a:r>
          </a:p>
          <a:p>
            <a:r>
              <a:rPr lang="pt-BR" dirty="0">
                <a:solidFill>
                  <a:schemeClr val="tx1"/>
                </a:solidFill>
              </a:rPr>
              <a:t>As arestas possuem não uma orientação, pode-se ir de A à B e de B à A sem problemas.</a:t>
            </a:r>
          </a:p>
          <a:p>
            <a:endParaRPr lang="pt-BR" dirty="0">
              <a:solidFill>
                <a:schemeClr val="accent2"/>
              </a:solidFill>
            </a:endParaRPr>
          </a:p>
          <a:p>
            <a:r>
              <a:rPr lang="pt-BR" dirty="0" smtClean="0">
                <a:solidFill>
                  <a:schemeClr val="accent2"/>
                </a:solidFill>
              </a:rPr>
              <a:t>Grafos Orientados (</a:t>
            </a:r>
            <a:r>
              <a:rPr lang="pt-BR" b="1" dirty="0" smtClean="0">
                <a:solidFill>
                  <a:schemeClr val="accent2"/>
                </a:solidFill>
              </a:rPr>
              <a:t>Dígrafos</a:t>
            </a:r>
            <a:r>
              <a:rPr lang="pt-BR" dirty="0" smtClean="0">
                <a:solidFill>
                  <a:schemeClr val="accent2"/>
                </a:solidFill>
              </a:rPr>
              <a:t>): </a:t>
            </a:r>
          </a:p>
          <a:p>
            <a:r>
              <a:rPr lang="pt-BR" dirty="0" smtClean="0">
                <a:solidFill>
                  <a:schemeClr val="tx1"/>
                </a:solidFill>
              </a:rPr>
              <a:t>As arestas possuem uma orientação, o que implica numa relação assimétrica. Nesse caso, chamamos as arestas de arcos.</a:t>
            </a:r>
          </a:p>
          <a:p>
            <a:endParaRPr lang="pt-BR" dirty="0">
              <a:solidFill>
                <a:schemeClr val="accent2"/>
              </a:solidFill>
            </a:endParaRPr>
          </a:p>
          <a:p>
            <a:r>
              <a:rPr lang="pt-BR" dirty="0" smtClean="0">
                <a:solidFill>
                  <a:schemeClr val="accent2"/>
                </a:solidFill>
              </a:rPr>
              <a:t>Grafos Ponderados:</a:t>
            </a:r>
          </a:p>
          <a:p>
            <a:r>
              <a:rPr lang="pt-BR" dirty="0" smtClean="0">
                <a:solidFill>
                  <a:schemeClr val="tx1"/>
                </a:solidFill>
              </a:rPr>
              <a:t>Cada aresta possui um valor associado (</a:t>
            </a:r>
            <a:r>
              <a:rPr lang="pt-BR" dirty="0" smtClean="0">
                <a:solidFill>
                  <a:schemeClr val="accent2"/>
                </a:solidFill>
              </a:rPr>
              <a:t>peso</a:t>
            </a:r>
            <a:r>
              <a:rPr lang="pt-BR" dirty="0" smtClean="0">
                <a:solidFill>
                  <a:schemeClr val="tx1"/>
                </a:solidFill>
              </a:rPr>
              <a:t>).</a:t>
            </a:r>
          </a:p>
          <a:p>
            <a:endParaRPr lang="pt-BR" dirty="0" smtClean="0">
              <a:solidFill>
                <a:schemeClr val="accent2"/>
              </a:solidFill>
            </a:endParaRP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0" y="2564904"/>
            <a:ext cx="3430117" cy="18002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 smtClean="0"/>
              <a:t>Tipos e Definições</a:t>
            </a:r>
            <a:endParaRPr lang="pt-BR" dirty="0"/>
          </a:p>
        </p:txBody>
      </p:sp>
      <p:pic>
        <p:nvPicPr>
          <p:cNvPr id="5126" name="Picture 6" descr="Uma visão geral do funcionamento de grafos em estruturas de dados ⋆ Big  Data Week São Paulo"/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670" b="20361"/>
          <a:stretch/>
        </p:blipFill>
        <p:spPr bwMode="auto">
          <a:xfrm>
            <a:off x="9720723" y="567612"/>
            <a:ext cx="1964425" cy="1820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Uma visão geral do funcionamento de grafos em estruturas de dados ⋆ Big  Data Week São Paulo"/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22" r="35805" b="18658"/>
          <a:stretch/>
        </p:blipFill>
        <p:spPr bwMode="auto">
          <a:xfrm>
            <a:off x="9617125" y="2388261"/>
            <a:ext cx="2068023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Uma visão geral do funcionamento de grafos em estruturas de dados ⋆ Big  Data Week São Paulo"/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749" b="20361"/>
          <a:stretch/>
        </p:blipFill>
        <p:spPr bwMode="auto">
          <a:xfrm>
            <a:off x="9697326" y="4365104"/>
            <a:ext cx="2076077" cy="1997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3866905" y="5445224"/>
            <a:ext cx="56118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menor custo para se ir de A à D, sem passar pelo mesmo nó duas vezes, é o caminho </a:t>
            </a:r>
            <a:r>
              <a:rPr lang="pt-BR" dirty="0" smtClean="0"/>
              <a:t>A-E-D, com custo 5</a:t>
            </a:r>
            <a:endParaRPr lang="pt-B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109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5"/>
          <p:cNvSpPr txBox="1">
            <a:spLocks/>
          </p:cNvSpPr>
          <p:nvPr/>
        </p:nvSpPr>
        <p:spPr>
          <a:xfrm>
            <a:off x="3866905" y="868680"/>
            <a:ext cx="5611883" cy="11133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solidFill>
                  <a:schemeClr val="accent2"/>
                </a:solidFill>
              </a:rPr>
              <a:t>Grafos </a:t>
            </a:r>
            <a:r>
              <a:rPr lang="pt-BR" dirty="0" smtClean="0">
                <a:solidFill>
                  <a:schemeClr val="accent2"/>
                </a:solidFill>
              </a:rPr>
              <a:t>Simples:</a:t>
            </a:r>
            <a:endParaRPr lang="pt-BR" dirty="0">
              <a:solidFill>
                <a:schemeClr val="accent2"/>
              </a:solidFill>
            </a:endParaRPr>
          </a:p>
          <a:p>
            <a:r>
              <a:rPr lang="pt-BR" dirty="0" smtClean="0">
                <a:solidFill>
                  <a:schemeClr val="tx1"/>
                </a:solidFill>
              </a:rPr>
              <a:t>Não possui arestas múltiplas ou laços</a:t>
            </a:r>
            <a:endParaRPr lang="pt-BR" dirty="0">
              <a:solidFill>
                <a:schemeClr val="tx1"/>
              </a:solidFill>
            </a:endParaRPr>
          </a:p>
          <a:p>
            <a:endParaRPr lang="pt-BR" dirty="0">
              <a:solidFill>
                <a:schemeClr val="accent2"/>
              </a:solidFill>
            </a:endParaRPr>
          </a:p>
          <a:p>
            <a:endParaRPr lang="pt-BR" dirty="0">
              <a:solidFill>
                <a:schemeClr val="accent2"/>
              </a:solidFill>
            </a:endParaRPr>
          </a:p>
          <a:p>
            <a:endParaRPr lang="pt-BR" dirty="0" smtClean="0">
              <a:solidFill>
                <a:schemeClr val="accent2"/>
              </a:solidFill>
            </a:endParaRP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0" y="2564904"/>
            <a:ext cx="3430117" cy="18002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 smtClean="0"/>
              <a:t>Tipos e Definições</a:t>
            </a:r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8877" y="2564904"/>
            <a:ext cx="1486114" cy="1238428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5343" y="4711404"/>
            <a:ext cx="2138568" cy="1368152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9564527" y="4342072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Aresta Múltipla</a:t>
            </a:r>
            <a:endParaRPr lang="en-US" dirty="0"/>
          </a:p>
        </p:txBody>
      </p:sp>
      <p:sp>
        <p:nvSpPr>
          <p:cNvPr id="10" name="CaixaDeTexto 9"/>
          <p:cNvSpPr txBox="1"/>
          <p:nvPr/>
        </p:nvSpPr>
        <p:spPr>
          <a:xfrm>
            <a:off x="9902863" y="2120173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Laço</a:t>
            </a:r>
            <a:endParaRPr lang="en-US" dirty="0"/>
          </a:p>
        </p:txBody>
      </p:sp>
      <p:pic>
        <p:nvPicPr>
          <p:cNvPr id="14" name="Picture 2" descr="Uma visão geral do funcionamento de grafos em estruturas de dados ⋆ Big  Data Week São Paulo"/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2244" y="1976588"/>
            <a:ext cx="2809187" cy="2740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0077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5"/>
          <p:cNvSpPr txBox="1">
            <a:spLocks/>
          </p:cNvSpPr>
          <p:nvPr/>
        </p:nvSpPr>
        <p:spPr>
          <a:xfrm>
            <a:off x="3866905" y="868680"/>
            <a:ext cx="5611883" cy="5512648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Ordem de um Grafo:</a:t>
            </a:r>
            <a:endParaRPr lang="pt-BR" dirty="0">
              <a:solidFill>
                <a:schemeClr val="accent2"/>
              </a:solidFill>
            </a:endParaRPr>
          </a:p>
          <a:p>
            <a:r>
              <a:rPr lang="pt-BR" dirty="0" smtClean="0">
                <a:solidFill>
                  <a:schemeClr val="tx1"/>
                </a:solidFill>
              </a:rPr>
              <a:t>É número de vértices que esse grafo possui</a:t>
            </a:r>
            <a:endParaRPr lang="pt-BR" dirty="0">
              <a:solidFill>
                <a:schemeClr val="tx1"/>
              </a:solidFill>
            </a:endParaRPr>
          </a:p>
          <a:p>
            <a:endParaRPr lang="pt-BR" dirty="0">
              <a:solidFill>
                <a:schemeClr val="accent2"/>
              </a:solidFill>
            </a:endParaRPr>
          </a:p>
          <a:p>
            <a:r>
              <a:rPr lang="pt-BR" dirty="0" smtClean="0">
                <a:solidFill>
                  <a:schemeClr val="accent2"/>
                </a:solidFill>
              </a:rPr>
              <a:t>Vértices Adjacentes:</a:t>
            </a:r>
          </a:p>
          <a:p>
            <a:r>
              <a:rPr lang="pt-BR" dirty="0" smtClean="0">
                <a:solidFill>
                  <a:schemeClr val="tx1"/>
                </a:solidFill>
              </a:rPr>
              <a:t>Dois vértices são adjacentes se existe aresta ou arco que relacione os dois.</a:t>
            </a:r>
          </a:p>
          <a:p>
            <a:endParaRPr lang="pt-BR" dirty="0">
              <a:solidFill>
                <a:schemeClr val="accent2"/>
              </a:solidFill>
            </a:endParaRPr>
          </a:p>
          <a:p>
            <a:r>
              <a:rPr lang="pt-BR" dirty="0" smtClean="0">
                <a:solidFill>
                  <a:schemeClr val="accent2"/>
                </a:solidFill>
              </a:rPr>
              <a:t>Grau:</a:t>
            </a:r>
          </a:p>
          <a:p>
            <a:r>
              <a:rPr lang="pt-BR" dirty="0" smtClean="0">
                <a:solidFill>
                  <a:schemeClr val="tx1"/>
                </a:solidFill>
              </a:rPr>
              <a:t>Quantidade de arestas relacionadas a um nó em um grafo não orientado.</a:t>
            </a:r>
          </a:p>
          <a:p>
            <a:endParaRPr lang="pt-BR" dirty="0" smtClean="0">
              <a:solidFill>
                <a:schemeClr val="tx1"/>
              </a:solidFill>
            </a:endParaRPr>
          </a:p>
          <a:p>
            <a:r>
              <a:rPr lang="pt-BR" dirty="0" smtClean="0">
                <a:solidFill>
                  <a:schemeClr val="accent2"/>
                </a:solidFill>
              </a:rPr>
              <a:t>Grau de Entrada/Saída</a:t>
            </a:r>
          </a:p>
          <a:p>
            <a:r>
              <a:rPr lang="pt-BR" dirty="0">
                <a:solidFill>
                  <a:schemeClr val="tx1"/>
                </a:solidFill>
              </a:rPr>
              <a:t>Quantos arcos estão entrando/saindo de um nó em um grafo </a:t>
            </a:r>
            <a:r>
              <a:rPr lang="pt-BR" dirty="0" smtClean="0">
                <a:solidFill>
                  <a:schemeClr val="tx1"/>
                </a:solidFill>
              </a:rPr>
              <a:t>orientado.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0" y="2564904"/>
            <a:ext cx="3430117" cy="18002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 smtClean="0"/>
              <a:t>Tipos e Definições</a:t>
            </a:r>
            <a:endParaRPr lang="pt-BR" dirty="0"/>
          </a:p>
        </p:txBody>
      </p:sp>
      <p:pic>
        <p:nvPicPr>
          <p:cNvPr id="8" name="Picture 6" descr="Uma visão geral do funcionamento de grafos em estruturas de dados ⋆ Big  Data Week São Paulo"/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670" b="20361"/>
          <a:stretch/>
        </p:blipFill>
        <p:spPr bwMode="auto">
          <a:xfrm>
            <a:off x="9732389" y="868680"/>
            <a:ext cx="1964425" cy="1820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Uma visão geral do funcionamento de grafos em estruturas de dados ⋆ Big  Data Week São Paulo"/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22" r="35805" b="18658"/>
          <a:stretch/>
        </p:blipFill>
        <p:spPr bwMode="auto">
          <a:xfrm>
            <a:off x="9628791" y="3574434"/>
            <a:ext cx="2068023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9628791" y="2689026"/>
            <a:ext cx="2068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Ordem: 5</a:t>
            </a:r>
          </a:p>
          <a:p>
            <a:r>
              <a:rPr lang="pt-BR" dirty="0" smtClean="0"/>
              <a:t>Grau de E: 3 </a:t>
            </a:r>
            <a:endParaRPr lang="en-US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9402662" y="5506569"/>
            <a:ext cx="25202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Ordem: 5</a:t>
            </a:r>
          </a:p>
          <a:p>
            <a:r>
              <a:rPr lang="pt-BR" dirty="0" smtClean="0"/>
              <a:t>Grau de Entrada de E: 2</a:t>
            </a:r>
          </a:p>
          <a:p>
            <a:r>
              <a:rPr lang="pt-BR" dirty="0" smtClean="0"/>
              <a:t>Grau de Saída de E: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12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5"/>
          <p:cNvSpPr txBox="1">
            <a:spLocks/>
          </p:cNvSpPr>
          <p:nvPr/>
        </p:nvSpPr>
        <p:spPr>
          <a:xfrm>
            <a:off x="3866905" y="868680"/>
            <a:ext cx="7340075" cy="55126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Passeio:</a:t>
            </a:r>
            <a:endParaRPr lang="pt-BR" dirty="0">
              <a:solidFill>
                <a:schemeClr val="accent2"/>
              </a:solidFill>
            </a:endParaRPr>
          </a:p>
          <a:p>
            <a:r>
              <a:rPr lang="pt-BR" dirty="0" smtClean="0">
                <a:solidFill>
                  <a:schemeClr val="tx1"/>
                </a:solidFill>
              </a:rPr>
              <a:t>Sequência finita ou não de vértices em sequência</a:t>
            </a:r>
            <a:endParaRPr lang="pt-BR" dirty="0">
              <a:solidFill>
                <a:schemeClr val="tx1"/>
              </a:solidFill>
            </a:endParaRPr>
          </a:p>
          <a:p>
            <a:endParaRPr lang="pt-BR" dirty="0">
              <a:solidFill>
                <a:schemeClr val="accent2"/>
              </a:solidFill>
            </a:endParaRPr>
          </a:p>
          <a:p>
            <a:r>
              <a:rPr lang="pt-BR" dirty="0" smtClean="0">
                <a:solidFill>
                  <a:schemeClr val="accent2"/>
                </a:solidFill>
              </a:rPr>
              <a:t>Caminho:</a:t>
            </a:r>
          </a:p>
          <a:p>
            <a:r>
              <a:rPr lang="pt-BR" dirty="0" smtClean="0">
                <a:solidFill>
                  <a:schemeClr val="tx1"/>
                </a:solidFill>
              </a:rPr>
              <a:t>Passeio sem arcos repetidos</a:t>
            </a:r>
          </a:p>
          <a:p>
            <a:endParaRPr lang="pt-BR" dirty="0">
              <a:solidFill>
                <a:schemeClr val="accent2"/>
              </a:solidFill>
            </a:endParaRPr>
          </a:p>
          <a:p>
            <a:r>
              <a:rPr lang="pt-BR" dirty="0" smtClean="0">
                <a:solidFill>
                  <a:schemeClr val="accent2"/>
                </a:solidFill>
              </a:rPr>
              <a:t>Caminho Simples:</a:t>
            </a:r>
          </a:p>
          <a:p>
            <a:r>
              <a:rPr lang="pt-BR" dirty="0" smtClean="0">
                <a:solidFill>
                  <a:schemeClr val="tx1"/>
                </a:solidFill>
              </a:rPr>
              <a:t>Passeio sem vértices repetidos</a:t>
            </a:r>
          </a:p>
          <a:p>
            <a:endParaRPr lang="pt-BR" dirty="0" smtClean="0">
              <a:solidFill>
                <a:schemeClr val="tx1"/>
              </a:solidFill>
            </a:endParaRPr>
          </a:p>
          <a:p>
            <a:r>
              <a:rPr lang="pt-BR" dirty="0" smtClean="0">
                <a:solidFill>
                  <a:schemeClr val="accent2"/>
                </a:solidFill>
              </a:rPr>
              <a:t>Conexo:</a:t>
            </a:r>
          </a:p>
          <a:p>
            <a:r>
              <a:rPr lang="pt-BR" dirty="0" smtClean="0">
                <a:solidFill>
                  <a:schemeClr val="tx1"/>
                </a:solidFill>
              </a:rPr>
              <a:t>A é conexo a B se existe um caminho de A à B.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0" y="2564904"/>
            <a:ext cx="3430117" cy="18002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 smtClean="0"/>
              <a:t>Tipos e Definições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54203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5374" y="2276872"/>
            <a:ext cx="3430117" cy="1800200"/>
          </a:xfrm>
        </p:spPr>
        <p:txBody>
          <a:bodyPr rtlCol="0">
            <a:noAutofit/>
          </a:bodyPr>
          <a:lstStyle/>
          <a:p>
            <a:pPr rtl="0"/>
            <a:r>
              <a:rPr lang="pt-BR" sz="3600" b="1" dirty="0" smtClean="0"/>
              <a:t>Tratamento e Implementação de Grafos</a:t>
            </a:r>
            <a:endParaRPr lang="pt-BR" sz="3600" b="1" dirty="0"/>
          </a:p>
        </p:txBody>
      </p:sp>
      <p:grpSp>
        <p:nvGrpSpPr>
          <p:cNvPr id="5" name="Grupo 4"/>
          <p:cNvGrpSpPr/>
          <p:nvPr/>
        </p:nvGrpSpPr>
        <p:grpSpPr>
          <a:xfrm>
            <a:off x="3646140" y="2276872"/>
            <a:ext cx="7992888" cy="2376264"/>
            <a:chOff x="3609071" y="2564904"/>
            <a:chExt cx="7992888" cy="2376264"/>
          </a:xfrm>
        </p:grpSpPr>
        <p:sp>
          <p:nvSpPr>
            <p:cNvPr id="4" name="Retângulo 3"/>
            <p:cNvSpPr/>
            <p:nvPr/>
          </p:nvSpPr>
          <p:spPr>
            <a:xfrm>
              <a:off x="3609071" y="2564904"/>
              <a:ext cx="7992888" cy="23762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CaixaDeTexto 2"/>
            <p:cNvSpPr txBox="1"/>
            <p:nvPr/>
          </p:nvSpPr>
          <p:spPr>
            <a:xfrm>
              <a:off x="6201359" y="3152871"/>
              <a:ext cx="295232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 smtClean="0"/>
                <a:t>Matriz de Adjacências</a:t>
              </a:r>
            </a:p>
            <a:p>
              <a:pPr algn="ctr"/>
              <a:endParaRPr lang="pt-BR" sz="2400" dirty="0" smtClean="0"/>
            </a:p>
            <a:p>
              <a:pPr algn="ctr"/>
              <a:r>
                <a:rPr lang="pt-BR" sz="2400" dirty="0" smtClean="0"/>
                <a:t>Lista de Adjacências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23714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5"/>
          <p:cNvSpPr txBox="1">
            <a:spLocks/>
          </p:cNvSpPr>
          <p:nvPr/>
        </p:nvSpPr>
        <p:spPr>
          <a:xfrm>
            <a:off x="3866905" y="868680"/>
            <a:ext cx="7556099" cy="212827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Tratamento com Matriz de Adjacências:</a:t>
            </a:r>
            <a:endParaRPr lang="pt-BR" dirty="0">
              <a:solidFill>
                <a:schemeClr val="accent2"/>
              </a:solidFill>
            </a:endParaRPr>
          </a:p>
          <a:p>
            <a:r>
              <a:rPr lang="pt-BR" dirty="0" smtClean="0">
                <a:solidFill>
                  <a:schemeClr val="tx1"/>
                </a:solidFill>
              </a:rPr>
              <a:t>Geralmente, nosso maior interesse em um grafo são as arestas desse grafo, ou seja, como estão relacionados cada um dos nós.</a:t>
            </a:r>
          </a:p>
          <a:p>
            <a:r>
              <a:rPr lang="pt-BR" dirty="0" smtClean="0">
                <a:solidFill>
                  <a:schemeClr val="tx1"/>
                </a:solidFill>
              </a:rPr>
              <a:t>Uma forma de guardar esse tipo de informação é por meio de uma </a:t>
            </a:r>
            <a:r>
              <a:rPr lang="pt-BR" dirty="0" smtClean="0">
                <a:solidFill>
                  <a:schemeClr val="accent2"/>
                </a:solidFill>
              </a:rPr>
              <a:t>matriz booleana M_adj </a:t>
            </a:r>
            <a:r>
              <a:rPr lang="pt-BR" dirty="0" smtClean="0">
                <a:solidFill>
                  <a:schemeClr val="tx1"/>
                </a:solidFill>
              </a:rPr>
              <a:t>tal que M_adj</a:t>
            </a:r>
            <a:r>
              <a:rPr lang="pt-BR" sz="1200" dirty="0">
                <a:solidFill>
                  <a:schemeClr val="tx1"/>
                </a:solidFill>
              </a:rPr>
              <a:t>i</a:t>
            </a:r>
            <a:r>
              <a:rPr lang="pt-BR" sz="1200" dirty="0" smtClean="0">
                <a:solidFill>
                  <a:schemeClr val="tx1"/>
                </a:solidFill>
              </a:rPr>
              <a:t>j</a:t>
            </a:r>
            <a:r>
              <a:rPr lang="pt-BR" dirty="0" smtClean="0">
                <a:solidFill>
                  <a:schemeClr val="tx1"/>
                </a:solidFill>
              </a:rPr>
              <a:t> guarda o julgamento se é possível sair do nó </a:t>
            </a:r>
            <a:r>
              <a:rPr lang="pt-BR" dirty="0" smtClean="0">
                <a:solidFill>
                  <a:schemeClr val="accent2"/>
                </a:solidFill>
              </a:rPr>
              <a:t>i</a:t>
            </a:r>
            <a:r>
              <a:rPr lang="pt-BR" dirty="0" smtClean="0">
                <a:solidFill>
                  <a:schemeClr val="tx1"/>
                </a:solidFill>
              </a:rPr>
              <a:t> e ir diretamente para o nó </a:t>
            </a:r>
            <a:r>
              <a:rPr lang="pt-BR" dirty="0" smtClean="0">
                <a:solidFill>
                  <a:schemeClr val="accent2"/>
                </a:solidFill>
              </a:rPr>
              <a:t>j</a:t>
            </a:r>
            <a:r>
              <a:rPr lang="pt-BR" dirty="0" smtClean="0">
                <a:solidFill>
                  <a:schemeClr val="tx1"/>
                </a:solidFill>
              </a:rPr>
              <a:t>.</a:t>
            </a:r>
            <a:endParaRPr lang="pt-BR" dirty="0">
              <a:solidFill>
                <a:schemeClr val="tx1"/>
              </a:solidFill>
            </a:endParaRPr>
          </a:p>
          <a:p>
            <a:endParaRPr lang="pt-BR" dirty="0">
              <a:solidFill>
                <a:schemeClr val="accent2"/>
              </a:solidFill>
            </a:endParaRPr>
          </a:p>
          <a:p>
            <a:endParaRPr lang="pt-BR" dirty="0" smtClean="0">
              <a:solidFill>
                <a:schemeClr val="accent2"/>
              </a:solidFill>
            </a:endParaRPr>
          </a:p>
        </p:txBody>
      </p:sp>
      <p:pic>
        <p:nvPicPr>
          <p:cNvPr id="5128" name="Picture 8" descr="Uma visão geral do funcionamento de grafos em estruturas de dados ⋆ Big  Data Week São Paulo"/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22" r="35805" b="18658"/>
          <a:stretch/>
        </p:blipFill>
        <p:spPr bwMode="auto">
          <a:xfrm>
            <a:off x="3888891" y="3438292"/>
            <a:ext cx="2068023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205374" y="2276872"/>
            <a:ext cx="3430117" cy="1800200"/>
          </a:xfrm>
        </p:spPr>
        <p:txBody>
          <a:bodyPr rtlCol="0">
            <a:noAutofit/>
          </a:bodyPr>
          <a:lstStyle/>
          <a:p>
            <a:pPr rtl="0"/>
            <a:r>
              <a:rPr lang="pt-BR" sz="3600" b="1" dirty="0" smtClean="0"/>
              <a:t>Tratamento e Implementação de Grafos</a:t>
            </a:r>
            <a:endParaRPr lang="pt-BR" sz="3600" b="1" dirty="0"/>
          </a:p>
        </p:txBody>
      </p:sp>
      <p:sp>
        <p:nvSpPr>
          <p:cNvPr id="2" name="CaixaDeTexto 1"/>
          <p:cNvSpPr txBox="1"/>
          <p:nvPr/>
        </p:nvSpPr>
        <p:spPr>
          <a:xfrm>
            <a:off x="205374" y="4077072"/>
            <a:ext cx="3008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</a:rPr>
              <a:t>Matriz de Adjacências</a:t>
            </a:r>
            <a:endParaRPr lang="en-US" b="1" dirty="0">
              <a:solidFill>
                <a:schemeClr val="tx2"/>
              </a:solidFill>
            </a:endParaRP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078774"/>
              </p:ext>
            </p:extLst>
          </p:nvPr>
        </p:nvGraphicFramePr>
        <p:xfrm>
          <a:off x="8437041" y="3181713"/>
          <a:ext cx="3168354" cy="2564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8059"/>
                <a:gridCol w="528059"/>
                <a:gridCol w="528059"/>
                <a:gridCol w="528059"/>
                <a:gridCol w="528059"/>
                <a:gridCol w="528059"/>
              </a:tblGrid>
              <a:tr h="42743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A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B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C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E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7435">
                <a:tc>
                  <a:txBody>
                    <a:bodyPr/>
                    <a:lstStyle/>
                    <a:p>
                      <a:r>
                        <a:rPr lang="pt-BR" dirty="0" smtClean="0"/>
                        <a:t>A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7435">
                <a:tc>
                  <a:txBody>
                    <a:bodyPr/>
                    <a:lstStyle/>
                    <a:p>
                      <a:r>
                        <a:rPr lang="pt-BR" dirty="0" smtClean="0"/>
                        <a:t>B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7435">
                <a:tc>
                  <a:txBody>
                    <a:bodyPr/>
                    <a:lstStyle/>
                    <a:p>
                      <a:r>
                        <a:rPr lang="pt-BR" dirty="0" smtClean="0"/>
                        <a:t>C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7435">
                <a:tc>
                  <a:txBody>
                    <a:bodyPr/>
                    <a:lstStyle/>
                    <a:p>
                      <a:r>
                        <a:rPr lang="pt-BR" dirty="0" smtClean="0"/>
                        <a:t>D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7435">
                <a:tc>
                  <a:txBody>
                    <a:bodyPr/>
                    <a:lstStyle/>
                    <a:p>
                      <a:r>
                        <a:rPr lang="pt-BR" dirty="0" smtClean="0"/>
                        <a:t>E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9" name="CaixaDeTexto 8"/>
          <p:cNvSpPr txBox="1"/>
          <p:nvPr/>
        </p:nvSpPr>
        <p:spPr>
          <a:xfrm>
            <a:off x="6210314" y="3569241"/>
            <a:ext cx="18053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Primeira linha:</a:t>
            </a:r>
          </a:p>
          <a:p>
            <a:r>
              <a:rPr lang="pt-BR" dirty="0" smtClean="0"/>
              <a:t>A -&gt; A?</a:t>
            </a:r>
          </a:p>
          <a:p>
            <a:r>
              <a:rPr lang="pt-BR" dirty="0" smtClean="0"/>
              <a:t>A -&gt; B?</a:t>
            </a:r>
          </a:p>
          <a:p>
            <a:r>
              <a:rPr lang="pt-BR" dirty="0" smtClean="0"/>
              <a:t>A -&gt; C?</a:t>
            </a:r>
          </a:p>
          <a:p>
            <a:r>
              <a:rPr lang="pt-BR" dirty="0" smtClean="0"/>
              <a:t>A -&gt; D</a:t>
            </a:r>
            <a:r>
              <a:rPr lang="en-US" dirty="0" smtClean="0"/>
              <a:t>?</a:t>
            </a:r>
          </a:p>
          <a:p>
            <a:r>
              <a:rPr lang="pt-BR" dirty="0" smtClean="0"/>
              <a:t>A -&gt; E?</a:t>
            </a:r>
          </a:p>
        </p:txBody>
      </p:sp>
    </p:spTree>
    <p:extLst>
      <p:ext uri="{BB962C8B-B14F-4D97-AF65-F5344CB8AC3E}">
        <p14:creationId xmlns:p14="http://schemas.microsoft.com/office/powerpoint/2010/main" val="1020933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5"/>
          <p:cNvSpPr txBox="1">
            <a:spLocks/>
          </p:cNvSpPr>
          <p:nvPr/>
        </p:nvSpPr>
        <p:spPr>
          <a:xfrm>
            <a:off x="3866905" y="868680"/>
            <a:ext cx="7556099" cy="212827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Tratamento com Matriz de Adjacências:</a:t>
            </a:r>
            <a:endParaRPr lang="pt-BR" dirty="0">
              <a:solidFill>
                <a:schemeClr val="accent2"/>
              </a:solidFill>
            </a:endParaRPr>
          </a:p>
          <a:p>
            <a:r>
              <a:rPr lang="pt-BR" dirty="0" smtClean="0">
                <a:solidFill>
                  <a:schemeClr val="tx1"/>
                </a:solidFill>
              </a:rPr>
              <a:t>Geralmente, nosso maior interesse em um grafo são as arestas desse grafo, ou seja, como estão relacionados cada um dos nós.</a:t>
            </a:r>
          </a:p>
          <a:p>
            <a:r>
              <a:rPr lang="pt-BR" dirty="0" smtClean="0">
                <a:solidFill>
                  <a:schemeClr val="tx1"/>
                </a:solidFill>
              </a:rPr>
              <a:t>Uma forma de guardar esse tipo de informação é por meio de uma </a:t>
            </a:r>
            <a:r>
              <a:rPr lang="pt-BR" dirty="0" smtClean="0">
                <a:solidFill>
                  <a:schemeClr val="accent2"/>
                </a:solidFill>
              </a:rPr>
              <a:t>matriz booleana M_adj </a:t>
            </a:r>
            <a:r>
              <a:rPr lang="pt-BR" dirty="0" smtClean="0">
                <a:solidFill>
                  <a:schemeClr val="tx1"/>
                </a:solidFill>
              </a:rPr>
              <a:t>tal que M_adj</a:t>
            </a:r>
            <a:r>
              <a:rPr lang="pt-BR" sz="1200" dirty="0">
                <a:solidFill>
                  <a:schemeClr val="tx1"/>
                </a:solidFill>
              </a:rPr>
              <a:t>i</a:t>
            </a:r>
            <a:r>
              <a:rPr lang="pt-BR" sz="1200" dirty="0" smtClean="0">
                <a:solidFill>
                  <a:schemeClr val="tx1"/>
                </a:solidFill>
              </a:rPr>
              <a:t>j</a:t>
            </a:r>
            <a:r>
              <a:rPr lang="pt-BR" dirty="0" smtClean="0">
                <a:solidFill>
                  <a:schemeClr val="tx1"/>
                </a:solidFill>
              </a:rPr>
              <a:t> guarda o julgamento se é possível sair do nó </a:t>
            </a:r>
            <a:r>
              <a:rPr lang="pt-BR" dirty="0" smtClean="0">
                <a:solidFill>
                  <a:schemeClr val="accent2"/>
                </a:solidFill>
              </a:rPr>
              <a:t>i</a:t>
            </a:r>
            <a:r>
              <a:rPr lang="pt-BR" dirty="0" smtClean="0">
                <a:solidFill>
                  <a:schemeClr val="tx1"/>
                </a:solidFill>
              </a:rPr>
              <a:t> e ir diretamente para o nó </a:t>
            </a:r>
            <a:r>
              <a:rPr lang="pt-BR" dirty="0" smtClean="0">
                <a:solidFill>
                  <a:schemeClr val="accent2"/>
                </a:solidFill>
              </a:rPr>
              <a:t>j</a:t>
            </a:r>
            <a:r>
              <a:rPr lang="pt-BR" dirty="0" smtClean="0">
                <a:solidFill>
                  <a:schemeClr val="tx1"/>
                </a:solidFill>
              </a:rPr>
              <a:t>.</a:t>
            </a:r>
            <a:endParaRPr lang="pt-BR" dirty="0">
              <a:solidFill>
                <a:schemeClr val="tx1"/>
              </a:solidFill>
            </a:endParaRPr>
          </a:p>
          <a:p>
            <a:endParaRPr lang="pt-BR" dirty="0">
              <a:solidFill>
                <a:schemeClr val="accent2"/>
              </a:solidFill>
            </a:endParaRPr>
          </a:p>
          <a:p>
            <a:endParaRPr lang="pt-BR" dirty="0" smtClean="0">
              <a:solidFill>
                <a:schemeClr val="accent2"/>
              </a:solidFill>
            </a:endParaRPr>
          </a:p>
        </p:txBody>
      </p:sp>
      <p:pic>
        <p:nvPicPr>
          <p:cNvPr id="5128" name="Picture 8" descr="Uma visão geral do funcionamento de grafos em estruturas de dados ⋆ Big  Data Week São Paulo"/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22" r="35805" b="18658"/>
          <a:stretch/>
        </p:blipFill>
        <p:spPr bwMode="auto">
          <a:xfrm>
            <a:off x="4222204" y="3176972"/>
            <a:ext cx="2068023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205374" y="2276872"/>
            <a:ext cx="3430117" cy="1800200"/>
          </a:xfrm>
        </p:spPr>
        <p:txBody>
          <a:bodyPr rtlCol="0">
            <a:noAutofit/>
          </a:bodyPr>
          <a:lstStyle/>
          <a:p>
            <a:pPr rtl="0"/>
            <a:r>
              <a:rPr lang="pt-BR" sz="3600" b="1" dirty="0" smtClean="0"/>
              <a:t>Tratamento e Implementação de Grafos</a:t>
            </a:r>
            <a:endParaRPr lang="pt-BR" sz="3600" b="1" dirty="0"/>
          </a:p>
        </p:txBody>
      </p:sp>
      <p:sp>
        <p:nvSpPr>
          <p:cNvPr id="2" name="CaixaDeTexto 1"/>
          <p:cNvSpPr txBox="1"/>
          <p:nvPr/>
        </p:nvSpPr>
        <p:spPr>
          <a:xfrm>
            <a:off x="205374" y="4077072"/>
            <a:ext cx="3008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</a:rPr>
              <a:t>Matriz de Adjacências</a:t>
            </a:r>
            <a:endParaRPr lang="en-US" b="1" dirty="0">
              <a:solidFill>
                <a:schemeClr val="tx2"/>
              </a:solidFill>
            </a:endParaRP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346984"/>
              </p:ext>
            </p:extLst>
          </p:nvPr>
        </p:nvGraphicFramePr>
        <p:xfrm>
          <a:off x="7534572" y="3116496"/>
          <a:ext cx="2640295" cy="2137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8059"/>
                <a:gridCol w="528059"/>
                <a:gridCol w="528059"/>
                <a:gridCol w="528059"/>
                <a:gridCol w="528059"/>
              </a:tblGrid>
              <a:tr h="427435"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7435"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7435"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7435"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7435"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5" name="CaixaDeTexto 4"/>
          <p:cNvSpPr txBox="1"/>
          <p:nvPr/>
        </p:nvSpPr>
        <p:spPr>
          <a:xfrm>
            <a:off x="3826160" y="5436416"/>
            <a:ext cx="7416824" cy="769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199" dirty="0"/>
              <a:t>É fácil ver que há poucos </a:t>
            </a:r>
            <a:r>
              <a:rPr lang="pt-BR" sz="2199" dirty="0" smtClean="0"/>
              <a:t>1’s </a:t>
            </a:r>
            <a:r>
              <a:rPr lang="pt-BR" sz="2199" dirty="0"/>
              <a:t>nessa matriz de adjacências, o </a:t>
            </a:r>
            <a:r>
              <a:rPr lang="pt-BR" sz="2199" dirty="0" smtClean="0"/>
              <a:t>que o caracteriza como </a:t>
            </a:r>
            <a:r>
              <a:rPr lang="pt-BR" sz="2199" dirty="0"/>
              <a:t>grafo </a:t>
            </a:r>
            <a:r>
              <a:rPr lang="pt-BR" sz="2199" dirty="0" smtClean="0"/>
              <a:t>esparso.</a:t>
            </a:r>
            <a:endParaRPr lang="en-US" sz="2199" dirty="0"/>
          </a:p>
        </p:txBody>
      </p:sp>
    </p:spTree>
    <p:extLst>
      <p:ext uri="{BB962C8B-B14F-4D97-AF65-F5344CB8AC3E}">
        <p14:creationId xmlns:p14="http://schemas.microsoft.com/office/powerpoint/2010/main" val="2458462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5"/>
          <p:cNvSpPr txBox="1">
            <a:spLocks/>
          </p:cNvSpPr>
          <p:nvPr/>
        </p:nvSpPr>
        <p:spPr>
          <a:xfrm>
            <a:off x="3635491" y="1014763"/>
            <a:ext cx="7556099" cy="15522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Variações</a:t>
            </a:r>
            <a:endParaRPr lang="pt-BR" dirty="0">
              <a:solidFill>
                <a:schemeClr val="accent2"/>
              </a:solidFill>
            </a:endParaRPr>
          </a:p>
          <a:p>
            <a:r>
              <a:rPr lang="pt-BR" dirty="0" smtClean="0">
                <a:solidFill>
                  <a:schemeClr val="tx1"/>
                </a:solidFill>
              </a:rPr>
              <a:t>A partir de uma matriz booleana não obtemos nenhuma informação sobre os pesos das arestas no caso de um grafo ponderado. Nesse caso cria-se também uma matriz de custos.</a:t>
            </a:r>
          </a:p>
          <a:p>
            <a:endParaRPr lang="pt-BR" dirty="0">
              <a:solidFill>
                <a:schemeClr val="accent2"/>
              </a:solidFill>
            </a:endParaRPr>
          </a:p>
        </p:txBody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205374" y="2276872"/>
            <a:ext cx="3430117" cy="1800200"/>
          </a:xfrm>
        </p:spPr>
        <p:txBody>
          <a:bodyPr rtlCol="0">
            <a:noAutofit/>
          </a:bodyPr>
          <a:lstStyle/>
          <a:p>
            <a:pPr rtl="0"/>
            <a:r>
              <a:rPr lang="pt-BR" sz="3600" b="1" dirty="0" smtClean="0"/>
              <a:t>Tratamento e Implementação de Grafos</a:t>
            </a:r>
            <a:endParaRPr lang="pt-BR" sz="3600" b="1" dirty="0"/>
          </a:p>
        </p:txBody>
      </p:sp>
      <p:sp>
        <p:nvSpPr>
          <p:cNvPr id="2" name="CaixaDeTexto 1"/>
          <p:cNvSpPr txBox="1"/>
          <p:nvPr/>
        </p:nvSpPr>
        <p:spPr>
          <a:xfrm>
            <a:off x="205374" y="4077072"/>
            <a:ext cx="3008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</a:rPr>
              <a:t>Matriz de Adjacências</a:t>
            </a:r>
            <a:endParaRPr lang="en-US" b="1" dirty="0">
              <a:solidFill>
                <a:schemeClr val="tx2"/>
              </a:solidFill>
            </a:endParaRP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32970"/>
              </p:ext>
            </p:extLst>
          </p:nvPr>
        </p:nvGraphicFramePr>
        <p:xfrm>
          <a:off x="5973868" y="2915706"/>
          <a:ext cx="2640295" cy="2137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8059"/>
                <a:gridCol w="528059"/>
                <a:gridCol w="528059"/>
                <a:gridCol w="528059"/>
                <a:gridCol w="528059"/>
              </a:tblGrid>
              <a:tr h="427435"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7435"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7435"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7435"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7435"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0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pic>
        <p:nvPicPr>
          <p:cNvPr id="9" name="Picture 10" descr="Uma visão geral do funcionamento de grafos em estruturas de dados ⋆ Big  Data Week São Paulo"/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749" b="20361"/>
          <a:stretch/>
        </p:blipFill>
        <p:spPr bwMode="auto">
          <a:xfrm>
            <a:off x="3635491" y="2974342"/>
            <a:ext cx="2076077" cy="1997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065476"/>
              </p:ext>
            </p:extLst>
          </p:nvPr>
        </p:nvGraphicFramePr>
        <p:xfrm>
          <a:off x="8876463" y="2915853"/>
          <a:ext cx="2640295" cy="2137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8059"/>
                <a:gridCol w="528059"/>
                <a:gridCol w="528059"/>
                <a:gridCol w="528059"/>
                <a:gridCol w="528059"/>
              </a:tblGrid>
              <a:tr h="42743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6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7435">
                <a:tc>
                  <a:txBody>
                    <a:bodyPr/>
                    <a:lstStyle/>
                    <a:p>
                      <a:r>
                        <a:rPr lang="pt-BR" dirty="0" smtClean="0"/>
                        <a:t>6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8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743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2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3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743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8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2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4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27435">
                <a:tc>
                  <a:txBody>
                    <a:bodyPr/>
                    <a:lstStyle/>
                    <a:p>
                      <a:r>
                        <a:rPr lang="pt-BR" dirty="0" smtClean="0"/>
                        <a:t>1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3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4</a:t>
                      </a:r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1" name="Espaço Reservado para Conteúdo 5"/>
          <p:cNvSpPr txBox="1">
            <a:spLocks/>
          </p:cNvSpPr>
          <p:nvPr/>
        </p:nvSpPr>
        <p:spPr>
          <a:xfrm>
            <a:off x="3635490" y="5157192"/>
            <a:ext cx="7556099" cy="15522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Problema</a:t>
            </a:r>
            <a:endParaRPr lang="pt-BR" dirty="0">
              <a:solidFill>
                <a:schemeClr val="accent2"/>
              </a:solidFill>
            </a:endParaRPr>
          </a:p>
          <a:p>
            <a:r>
              <a:rPr lang="pt-BR" dirty="0" smtClean="0">
                <a:solidFill>
                  <a:schemeClr val="tx1"/>
                </a:solidFill>
              </a:rPr>
              <a:t>Para matrizes esparsas, mas com muitos vértices, há mau uso de memória, já que teremos que criar matrizes muito grandes que conterão pouca informação relevante.</a:t>
            </a:r>
          </a:p>
          <a:p>
            <a:endParaRPr lang="pt-B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2744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5"/>
          <p:cNvSpPr txBox="1">
            <a:spLocks/>
          </p:cNvSpPr>
          <p:nvPr/>
        </p:nvSpPr>
        <p:spPr>
          <a:xfrm>
            <a:off x="3790156" y="908720"/>
            <a:ext cx="7556099" cy="3980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Implementação em C trivial</a:t>
            </a:r>
            <a:endParaRPr lang="pt-BR" dirty="0">
              <a:solidFill>
                <a:schemeClr val="accent2"/>
              </a:solidFill>
            </a:endParaRPr>
          </a:p>
        </p:txBody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205374" y="2276872"/>
            <a:ext cx="3430117" cy="1800200"/>
          </a:xfrm>
        </p:spPr>
        <p:txBody>
          <a:bodyPr rtlCol="0">
            <a:noAutofit/>
          </a:bodyPr>
          <a:lstStyle/>
          <a:p>
            <a:pPr rtl="0"/>
            <a:r>
              <a:rPr lang="pt-BR" sz="3600" b="1" dirty="0" smtClean="0"/>
              <a:t>Tratamento e Implementação de Grafos</a:t>
            </a:r>
            <a:endParaRPr lang="pt-BR" sz="3600" b="1" dirty="0"/>
          </a:p>
        </p:txBody>
      </p:sp>
      <p:sp>
        <p:nvSpPr>
          <p:cNvPr id="2" name="CaixaDeTexto 1"/>
          <p:cNvSpPr txBox="1"/>
          <p:nvPr/>
        </p:nvSpPr>
        <p:spPr>
          <a:xfrm>
            <a:off x="205374" y="4077072"/>
            <a:ext cx="3008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</a:rPr>
              <a:t>Matriz de Adjacências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3790156" y="1306733"/>
            <a:ext cx="648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No caso que a quantidade de nós é fixa ou pelo menos sabemos quanto é a ordem máxima. Para um grafo de ordem 20:</a:t>
            </a:r>
            <a:endParaRPr lang="en-US" dirty="0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2204" y="2132856"/>
            <a:ext cx="5054962" cy="616459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0533" y="3831893"/>
            <a:ext cx="5738304" cy="450528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3790156" y="3035642"/>
            <a:ext cx="6966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Para uso somente na OBI, quando não se sabe de imediato a ordem da grafo:</a:t>
            </a:r>
            <a:endParaRPr lang="en-US" dirty="0"/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0533" y="5049267"/>
            <a:ext cx="6952889" cy="381561"/>
          </a:xfrm>
          <a:prstGeom prst="rect">
            <a:avLst/>
          </a:prstGeom>
        </p:spPr>
      </p:pic>
      <p:sp>
        <p:nvSpPr>
          <p:cNvPr id="14" name="Espaço Reservado para Conteúdo 5"/>
          <p:cNvSpPr txBox="1">
            <a:spLocks/>
          </p:cNvSpPr>
          <p:nvPr/>
        </p:nvSpPr>
        <p:spPr>
          <a:xfrm>
            <a:off x="3790154" y="4533070"/>
            <a:ext cx="7556099" cy="3980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Implementação em C++</a:t>
            </a:r>
            <a:endParaRPr lang="pt-B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171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5"/>
          <p:cNvSpPr txBox="1">
            <a:spLocks/>
          </p:cNvSpPr>
          <p:nvPr/>
        </p:nvSpPr>
        <p:spPr>
          <a:xfrm>
            <a:off x="3790156" y="908720"/>
            <a:ext cx="7556099" cy="3980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Implementação em C trivial</a:t>
            </a:r>
            <a:endParaRPr lang="pt-BR" dirty="0">
              <a:solidFill>
                <a:schemeClr val="accent2"/>
              </a:solidFill>
            </a:endParaRPr>
          </a:p>
        </p:txBody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205374" y="2276872"/>
            <a:ext cx="3430117" cy="1800200"/>
          </a:xfrm>
        </p:spPr>
        <p:txBody>
          <a:bodyPr rtlCol="0">
            <a:noAutofit/>
          </a:bodyPr>
          <a:lstStyle/>
          <a:p>
            <a:pPr rtl="0"/>
            <a:r>
              <a:rPr lang="pt-BR" sz="3600" b="1" dirty="0" smtClean="0"/>
              <a:t>Tratamento e Implementação de Grafos</a:t>
            </a:r>
            <a:endParaRPr lang="pt-BR" sz="3600" b="1" dirty="0"/>
          </a:p>
        </p:txBody>
      </p:sp>
      <p:sp>
        <p:nvSpPr>
          <p:cNvPr id="2" name="CaixaDeTexto 1"/>
          <p:cNvSpPr txBox="1"/>
          <p:nvPr/>
        </p:nvSpPr>
        <p:spPr>
          <a:xfrm>
            <a:off x="205374" y="4077072"/>
            <a:ext cx="3008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</a:rPr>
              <a:t>Matriz de Adjacências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3790156" y="1306733"/>
            <a:ext cx="648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No caso que a quantidade de nós é fixa ou pelo menos sabemos quanto é a ordem máxima. Para um grafo de ordem 20:</a:t>
            </a:r>
            <a:endParaRPr lang="en-US" dirty="0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2204" y="2132856"/>
            <a:ext cx="5054962" cy="616459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0533" y="3831893"/>
            <a:ext cx="5738304" cy="450528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3790156" y="3035642"/>
            <a:ext cx="6966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Para uso somente na OBI, quando não se sabe de imediato a ordem da grafo:</a:t>
            </a:r>
            <a:endParaRPr lang="en-US" dirty="0"/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0533" y="5049267"/>
            <a:ext cx="6952889" cy="381561"/>
          </a:xfrm>
          <a:prstGeom prst="rect">
            <a:avLst/>
          </a:prstGeom>
        </p:spPr>
      </p:pic>
      <p:sp>
        <p:nvSpPr>
          <p:cNvPr id="14" name="Espaço Reservado para Conteúdo 5"/>
          <p:cNvSpPr txBox="1">
            <a:spLocks/>
          </p:cNvSpPr>
          <p:nvPr/>
        </p:nvSpPr>
        <p:spPr>
          <a:xfrm>
            <a:off x="3790154" y="4533070"/>
            <a:ext cx="7556099" cy="3980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Implementação em C++</a:t>
            </a:r>
            <a:endParaRPr lang="pt-BR" dirty="0">
              <a:solidFill>
                <a:schemeClr val="accent2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3635491" y="5517232"/>
            <a:ext cx="82915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Quando o gráfico é ponderado, pode-se criar uma segunda matriz com as informações sobre os pesos.</a:t>
            </a:r>
          </a:p>
          <a:p>
            <a:r>
              <a:rPr lang="pt-BR" dirty="0" smtClean="0"/>
              <a:t>Caso haja garantia que os pesos sejam positivos, pode-se trabalhar com apensas uma matriz: fazendo -1 como indicativo que não há aresta e o peso quando há aresta.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0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5"/>
          <p:cNvSpPr txBox="1">
            <a:spLocks/>
          </p:cNvSpPr>
          <p:nvPr/>
        </p:nvSpPr>
        <p:spPr>
          <a:xfrm>
            <a:off x="333772" y="114663"/>
            <a:ext cx="7556099" cy="3980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Implementação em C com malloc</a:t>
            </a:r>
            <a:endParaRPr lang="pt-BR" dirty="0">
              <a:solidFill>
                <a:schemeClr val="accent2"/>
              </a:solidFill>
            </a:endParaRPr>
          </a:p>
        </p:txBody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205374" y="2276872"/>
            <a:ext cx="3430117" cy="1800200"/>
          </a:xfrm>
        </p:spPr>
        <p:txBody>
          <a:bodyPr rtlCol="0">
            <a:noAutofit/>
          </a:bodyPr>
          <a:lstStyle/>
          <a:p>
            <a:pPr rtl="0"/>
            <a:r>
              <a:rPr lang="pt-BR" sz="3600" b="1" dirty="0" smtClean="0"/>
              <a:t>Tratamento e Implementação de Grafos</a:t>
            </a:r>
            <a:endParaRPr lang="pt-BR" sz="3600" b="1" dirty="0"/>
          </a:p>
        </p:txBody>
      </p:sp>
      <p:sp>
        <p:nvSpPr>
          <p:cNvPr id="2" name="CaixaDeTexto 1"/>
          <p:cNvSpPr txBox="1"/>
          <p:nvPr/>
        </p:nvSpPr>
        <p:spPr>
          <a:xfrm>
            <a:off x="205374" y="4077072"/>
            <a:ext cx="3008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</a:rPr>
              <a:t>Matriz de Adjacências</a:t>
            </a: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934" y="920628"/>
            <a:ext cx="5760640" cy="5410413"/>
          </a:xfrm>
          <a:prstGeom prst="rect">
            <a:avLst/>
          </a:prstGeom>
        </p:spPr>
      </p:pic>
      <p:sp>
        <p:nvSpPr>
          <p:cNvPr id="18" name="CaixaDeTexto 17"/>
          <p:cNvSpPr txBox="1"/>
          <p:nvPr/>
        </p:nvSpPr>
        <p:spPr>
          <a:xfrm>
            <a:off x="4294212" y="512676"/>
            <a:ext cx="5976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Quando não se sabe de imediato a ordem do grafo:</a:t>
            </a:r>
            <a:endParaRPr lang="en-US" dirty="0"/>
          </a:p>
        </p:txBody>
      </p:sp>
      <p:sp>
        <p:nvSpPr>
          <p:cNvPr id="19" name="CaixaDeTexto 18"/>
          <p:cNvSpPr txBox="1"/>
          <p:nvPr/>
        </p:nvSpPr>
        <p:spPr>
          <a:xfrm>
            <a:off x="9550796" y="3661573"/>
            <a:ext cx="2303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Nesse caso utilizam-se funções para criar a matriz, adicionar os seus elementos, etc..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633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205374" y="2276872"/>
            <a:ext cx="3430117" cy="1800200"/>
          </a:xfrm>
        </p:spPr>
        <p:txBody>
          <a:bodyPr rtlCol="0">
            <a:noAutofit/>
          </a:bodyPr>
          <a:lstStyle/>
          <a:p>
            <a:pPr rtl="0"/>
            <a:r>
              <a:rPr lang="pt-BR" sz="3600" b="1" dirty="0" smtClean="0"/>
              <a:t>Tratamento e Implementação de Grafos</a:t>
            </a:r>
            <a:endParaRPr lang="pt-BR" sz="3600" b="1" dirty="0"/>
          </a:p>
        </p:txBody>
      </p:sp>
      <p:sp>
        <p:nvSpPr>
          <p:cNvPr id="2" name="CaixaDeTexto 1"/>
          <p:cNvSpPr txBox="1"/>
          <p:nvPr/>
        </p:nvSpPr>
        <p:spPr>
          <a:xfrm>
            <a:off x="205374" y="4077072"/>
            <a:ext cx="3008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</a:rPr>
              <a:t>Lista de Adjacências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9" name="Espaço Reservado para Conteúdo 5"/>
          <p:cNvSpPr txBox="1">
            <a:spLocks/>
          </p:cNvSpPr>
          <p:nvPr/>
        </p:nvSpPr>
        <p:spPr>
          <a:xfrm>
            <a:off x="3866905" y="868680"/>
            <a:ext cx="7556099" cy="24883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Tratamento com Lista de Adjacências:</a:t>
            </a:r>
            <a:endParaRPr lang="pt-BR" dirty="0">
              <a:solidFill>
                <a:schemeClr val="accent2"/>
              </a:solidFill>
            </a:endParaRPr>
          </a:p>
          <a:p>
            <a:r>
              <a:rPr lang="pt-BR" dirty="0" smtClean="0">
                <a:solidFill>
                  <a:schemeClr val="tx1"/>
                </a:solidFill>
              </a:rPr>
              <a:t>Uso eficiente de memória e tempo de execução menor, implementação mais complexa.</a:t>
            </a:r>
          </a:p>
          <a:p>
            <a:r>
              <a:rPr lang="pt-BR" dirty="0" smtClean="0">
                <a:solidFill>
                  <a:schemeClr val="tx1"/>
                </a:solidFill>
              </a:rPr>
              <a:t>É como se estivéssemos apenas guardando a informação de quais arestas existem e ignorando as que arestas que não existem.</a:t>
            </a:r>
            <a:endParaRPr lang="pt-BR" dirty="0">
              <a:solidFill>
                <a:schemeClr val="tx1"/>
              </a:solidFill>
            </a:endParaRPr>
          </a:p>
          <a:p>
            <a:endParaRPr lang="pt-BR" dirty="0">
              <a:solidFill>
                <a:schemeClr val="accent2"/>
              </a:solidFill>
            </a:endParaRPr>
          </a:p>
          <a:p>
            <a:endParaRPr lang="pt-BR" dirty="0" smtClean="0">
              <a:solidFill>
                <a:schemeClr val="accent2"/>
              </a:solidFill>
            </a:endParaRPr>
          </a:p>
        </p:txBody>
      </p:sp>
      <p:pic>
        <p:nvPicPr>
          <p:cNvPr id="10" name="Picture 8" descr="Uma visão geral do funcionamento de grafos em estruturas de dados ⋆ Big  Data Week São Paulo"/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22" r="35805" b="18658"/>
          <a:stretch/>
        </p:blipFill>
        <p:spPr bwMode="auto">
          <a:xfrm>
            <a:off x="3852603" y="3253626"/>
            <a:ext cx="2068023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/>
          <p:cNvSpPr/>
          <p:nvPr/>
        </p:nvSpPr>
        <p:spPr>
          <a:xfrm>
            <a:off x="6382444" y="3176972"/>
            <a:ext cx="576064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</a:t>
            </a:r>
            <a:endParaRPr lang="en-US" dirty="0"/>
          </a:p>
        </p:txBody>
      </p:sp>
      <p:cxnSp>
        <p:nvCxnSpPr>
          <p:cNvPr id="7" name="Conector de seta reta 6"/>
          <p:cNvCxnSpPr>
            <a:stCxn id="5" idx="3"/>
            <a:endCxn id="11" idx="1"/>
          </p:cNvCxnSpPr>
          <p:nvPr/>
        </p:nvCxnSpPr>
        <p:spPr>
          <a:xfrm>
            <a:off x="6958508" y="3374994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upo 12"/>
          <p:cNvGrpSpPr/>
          <p:nvPr/>
        </p:nvGrpSpPr>
        <p:grpSpPr>
          <a:xfrm>
            <a:off x="7318548" y="3176972"/>
            <a:ext cx="685569" cy="396044"/>
            <a:chOff x="7750596" y="3176972"/>
            <a:chExt cx="936104" cy="396044"/>
          </a:xfrm>
        </p:grpSpPr>
        <p:sp>
          <p:nvSpPr>
            <p:cNvPr id="11" name="Retângulo 10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tângulo 11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CaixaDeTexto 13"/>
          <p:cNvSpPr txBox="1"/>
          <p:nvPr/>
        </p:nvSpPr>
        <p:spPr>
          <a:xfrm>
            <a:off x="7397651" y="3190328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B</a:t>
            </a:r>
            <a:endParaRPr lang="en-US" dirty="0"/>
          </a:p>
        </p:txBody>
      </p:sp>
      <p:cxnSp>
        <p:nvCxnSpPr>
          <p:cNvPr id="19" name="Conector de seta reta 18"/>
          <p:cNvCxnSpPr>
            <a:endCxn id="21" idx="1"/>
          </p:cNvCxnSpPr>
          <p:nvPr/>
        </p:nvCxnSpPr>
        <p:spPr>
          <a:xfrm>
            <a:off x="8013230" y="3388350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upo 19"/>
          <p:cNvGrpSpPr/>
          <p:nvPr/>
        </p:nvGrpSpPr>
        <p:grpSpPr>
          <a:xfrm>
            <a:off x="8373270" y="3190328"/>
            <a:ext cx="685569" cy="396044"/>
            <a:chOff x="7750596" y="3176972"/>
            <a:chExt cx="936104" cy="396044"/>
          </a:xfrm>
        </p:grpSpPr>
        <p:sp>
          <p:nvSpPr>
            <p:cNvPr id="21" name="Retângulo 20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tângulo 21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CaixaDeTexto 22"/>
          <p:cNvSpPr txBox="1"/>
          <p:nvPr/>
        </p:nvSpPr>
        <p:spPr>
          <a:xfrm>
            <a:off x="8452373" y="3203684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E</a:t>
            </a:r>
            <a:endParaRPr lang="en-US" dirty="0"/>
          </a:p>
        </p:txBody>
      </p:sp>
      <p:cxnSp>
        <p:nvCxnSpPr>
          <p:cNvPr id="16" name="Conector de seta reta 15"/>
          <p:cNvCxnSpPr>
            <a:stCxn id="22" idx="3"/>
          </p:cNvCxnSpPr>
          <p:nvPr/>
        </p:nvCxnSpPr>
        <p:spPr>
          <a:xfrm>
            <a:off x="9058839" y="3388350"/>
            <a:ext cx="3479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luxograma: Somador 26"/>
          <p:cNvSpPr/>
          <p:nvPr/>
        </p:nvSpPr>
        <p:spPr>
          <a:xfrm>
            <a:off x="9376565" y="3204413"/>
            <a:ext cx="360040" cy="382688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tângulo 40"/>
          <p:cNvSpPr/>
          <p:nvPr/>
        </p:nvSpPr>
        <p:spPr>
          <a:xfrm>
            <a:off x="6382444" y="3712312"/>
            <a:ext cx="576064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B</a:t>
            </a:r>
            <a:endParaRPr lang="en-US" dirty="0"/>
          </a:p>
        </p:txBody>
      </p:sp>
      <p:cxnSp>
        <p:nvCxnSpPr>
          <p:cNvPr id="42" name="Conector de seta reta 41"/>
          <p:cNvCxnSpPr>
            <a:stCxn id="41" idx="3"/>
            <a:endCxn id="44" idx="1"/>
          </p:cNvCxnSpPr>
          <p:nvPr/>
        </p:nvCxnSpPr>
        <p:spPr>
          <a:xfrm>
            <a:off x="6958508" y="3910334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upo 42"/>
          <p:cNvGrpSpPr/>
          <p:nvPr/>
        </p:nvGrpSpPr>
        <p:grpSpPr>
          <a:xfrm>
            <a:off x="7318548" y="3712312"/>
            <a:ext cx="685569" cy="396044"/>
            <a:chOff x="7750596" y="3176972"/>
            <a:chExt cx="936104" cy="396044"/>
          </a:xfrm>
        </p:grpSpPr>
        <p:sp>
          <p:nvSpPr>
            <p:cNvPr id="44" name="Retângulo 43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tângulo 44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CaixaDeTexto 45"/>
          <p:cNvSpPr txBox="1"/>
          <p:nvPr/>
        </p:nvSpPr>
        <p:spPr>
          <a:xfrm>
            <a:off x="7397651" y="3725668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D</a:t>
            </a:r>
            <a:endParaRPr lang="en-US" dirty="0"/>
          </a:p>
        </p:txBody>
      </p:sp>
      <p:cxnSp>
        <p:nvCxnSpPr>
          <p:cNvPr id="47" name="Conector de seta reta 46"/>
          <p:cNvCxnSpPr>
            <a:endCxn id="49" idx="1"/>
          </p:cNvCxnSpPr>
          <p:nvPr/>
        </p:nvCxnSpPr>
        <p:spPr>
          <a:xfrm>
            <a:off x="8013230" y="3923690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Fluxograma: Somador 52"/>
          <p:cNvSpPr/>
          <p:nvPr/>
        </p:nvSpPr>
        <p:spPr>
          <a:xfrm>
            <a:off x="8358299" y="3739389"/>
            <a:ext cx="360040" cy="382688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tângulo 53"/>
          <p:cNvSpPr/>
          <p:nvPr/>
        </p:nvSpPr>
        <p:spPr>
          <a:xfrm>
            <a:off x="6382444" y="4226732"/>
            <a:ext cx="576064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</a:t>
            </a:r>
            <a:endParaRPr lang="en-US" dirty="0"/>
          </a:p>
        </p:txBody>
      </p:sp>
      <p:cxnSp>
        <p:nvCxnSpPr>
          <p:cNvPr id="55" name="Conector de seta reta 54"/>
          <p:cNvCxnSpPr>
            <a:stCxn id="54" idx="3"/>
            <a:endCxn id="57" idx="1"/>
          </p:cNvCxnSpPr>
          <p:nvPr/>
        </p:nvCxnSpPr>
        <p:spPr>
          <a:xfrm>
            <a:off x="6958508" y="4424754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Fluxograma: Somador 65"/>
          <p:cNvSpPr/>
          <p:nvPr/>
        </p:nvSpPr>
        <p:spPr>
          <a:xfrm>
            <a:off x="7318548" y="4226732"/>
            <a:ext cx="360040" cy="382688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tângulo 66"/>
          <p:cNvSpPr/>
          <p:nvPr/>
        </p:nvSpPr>
        <p:spPr>
          <a:xfrm>
            <a:off x="6382444" y="4742569"/>
            <a:ext cx="576064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D</a:t>
            </a:r>
            <a:endParaRPr lang="en-US" dirty="0"/>
          </a:p>
        </p:txBody>
      </p:sp>
      <p:cxnSp>
        <p:nvCxnSpPr>
          <p:cNvPr id="68" name="Conector de seta reta 67"/>
          <p:cNvCxnSpPr>
            <a:stCxn id="67" idx="3"/>
            <a:endCxn id="70" idx="1"/>
          </p:cNvCxnSpPr>
          <p:nvPr/>
        </p:nvCxnSpPr>
        <p:spPr>
          <a:xfrm>
            <a:off x="6958508" y="4940591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upo 68"/>
          <p:cNvGrpSpPr/>
          <p:nvPr/>
        </p:nvGrpSpPr>
        <p:grpSpPr>
          <a:xfrm>
            <a:off x="7318548" y="4742569"/>
            <a:ext cx="685569" cy="396044"/>
            <a:chOff x="7750596" y="3176972"/>
            <a:chExt cx="936104" cy="396044"/>
          </a:xfrm>
        </p:grpSpPr>
        <p:sp>
          <p:nvSpPr>
            <p:cNvPr id="70" name="Retângulo 69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tângulo 70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2" name="CaixaDeTexto 71"/>
          <p:cNvSpPr txBox="1"/>
          <p:nvPr/>
        </p:nvSpPr>
        <p:spPr>
          <a:xfrm>
            <a:off x="7397651" y="4755925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</a:t>
            </a:r>
            <a:endParaRPr lang="en-US" dirty="0"/>
          </a:p>
        </p:txBody>
      </p:sp>
      <p:cxnSp>
        <p:nvCxnSpPr>
          <p:cNvPr id="73" name="Conector de seta reta 72"/>
          <p:cNvCxnSpPr>
            <a:endCxn id="75" idx="1"/>
          </p:cNvCxnSpPr>
          <p:nvPr/>
        </p:nvCxnSpPr>
        <p:spPr>
          <a:xfrm>
            <a:off x="8013230" y="4953947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upo 73"/>
          <p:cNvGrpSpPr/>
          <p:nvPr/>
        </p:nvGrpSpPr>
        <p:grpSpPr>
          <a:xfrm>
            <a:off x="8373270" y="4755925"/>
            <a:ext cx="685569" cy="396044"/>
            <a:chOff x="7750596" y="3176972"/>
            <a:chExt cx="936104" cy="396044"/>
          </a:xfrm>
        </p:grpSpPr>
        <p:sp>
          <p:nvSpPr>
            <p:cNvPr id="75" name="Retângulo 74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tângulo 75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7" name="CaixaDeTexto 76"/>
          <p:cNvSpPr txBox="1"/>
          <p:nvPr/>
        </p:nvSpPr>
        <p:spPr>
          <a:xfrm>
            <a:off x="8452373" y="4769281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E</a:t>
            </a:r>
            <a:endParaRPr lang="en-US" dirty="0"/>
          </a:p>
        </p:txBody>
      </p:sp>
      <p:cxnSp>
        <p:nvCxnSpPr>
          <p:cNvPr id="78" name="Conector de seta reta 77"/>
          <p:cNvCxnSpPr>
            <a:stCxn id="76" idx="3"/>
          </p:cNvCxnSpPr>
          <p:nvPr/>
        </p:nvCxnSpPr>
        <p:spPr>
          <a:xfrm>
            <a:off x="9058839" y="4953947"/>
            <a:ext cx="3479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Fluxograma: Somador 78"/>
          <p:cNvSpPr/>
          <p:nvPr/>
        </p:nvSpPr>
        <p:spPr>
          <a:xfrm>
            <a:off x="9376565" y="4770010"/>
            <a:ext cx="360040" cy="382688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tângulo 79"/>
          <p:cNvSpPr/>
          <p:nvPr/>
        </p:nvSpPr>
        <p:spPr>
          <a:xfrm>
            <a:off x="6382444" y="5263824"/>
            <a:ext cx="576064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E</a:t>
            </a:r>
            <a:endParaRPr lang="en-US" dirty="0"/>
          </a:p>
        </p:txBody>
      </p:sp>
      <p:cxnSp>
        <p:nvCxnSpPr>
          <p:cNvPr id="81" name="Conector de seta reta 80"/>
          <p:cNvCxnSpPr>
            <a:stCxn id="80" idx="3"/>
            <a:endCxn id="83" idx="1"/>
          </p:cNvCxnSpPr>
          <p:nvPr/>
        </p:nvCxnSpPr>
        <p:spPr>
          <a:xfrm>
            <a:off x="6958508" y="5461846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Grupo 81"/>
          <p:cNvGrpSpPr/>
          <p:nvPr/>
        </p:nvGrpSpPr>
        <p:grpSpPr>
          <a:xfrm>
            <a:off x="7318548" y="5263824"/>
            <a:ext cx="685569" cy="396044"/>
            <a:chOff x="7750596" y="3176972"/>
            <a:chExt cx="936104" cy="396044"/>
          </a:xfrm>
        </p:grpSpPr>
        <p:sp>
          <p:nvSpPr>
            <p:cNvPr id="83" name="Retângulo 82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tângulo 83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5" name="CaixaDeTexto 84"/>
          <p:cNvSpPr txBox="1"/>
          <p:nvPr/>
        </p:nvSpPr>
        <p:spPr>
          <a:xfrm>
            <a:off x="7397651" y="5277180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</a:t>
            </a:r>
            <a:endParaRPr lang="en-US" dirty="0"/>
          </a:p>
        </p:txBody>
      </p:sp>
      <p:cxnSp>
        <p:nvCxnSpPr>
          <p:cNvPr id="86" name="Conector de seta reta 85"/>
          <p:cNvCxnSpPr>
            <a:endCxn id="88" idx="1"/>
          </p:cNvCxnSpPr>
          <p:nvPr/>
        </p:nvCxnSpPr>
        <p:spPr>
          <a:xfrm>
            <a:off x="8013230" y="5475202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Fluxograma: Somador 91"/>
          <p:cNvSpPr/>
          <p:nvPr/>
        </p:nvSpPr>
        <p:spPr>
          <a:xfrm>
            <a:off x="8342184" y="5291630"/>
            <a:ext cx="360040" cy="382688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619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205374" y="2276872"/>
            <a:ext cx="3430117" cy="1800200"/>
          </a:xfrm>
        </p:spPr>
        <p:txBody>
          <a:bodyPr rtlCol="0">
            <a:noAutofit/>
          </a:bodyPr>
          <a:lstStyle/>
          <a:p>
            <a:pPr rtl="0"/>
            <a:r>
              <a:rPr lang="pt-BR" sz="3600" b="1" dirty="0" smtClean="0"/>
              <a:t>Tratamento e Implementação de Grafos</a:t>
            </a:r>
            <a:endParaRPr lang="pt-BR" sz="3600" b="1" dirty="0"/>
          </a:p>
        </p:txBody>
      </p:sp>
      <p:sp>
        <p:nvSpPr>
          <p:cNvPr id="2" name="CaixaDeTexto 1"/>
          <p:cNvSpPr txBox="1"/>
          <p:nvPr/>
        </p:nvSpPr>
        <p:spPr>
          <a:xfrm>
            <a:off x="205374" y="4077072"/>
            <a:ext cx="3008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</a:rPr>
              <a:t>Lista de Adjacências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9" name="Espaço Reservado para Conteúdo 5"/>
          <p:cNvSpPr txBox="1">
            <a:spLocks/>
          </p:cNvSpPr>
          <p:nvPr/>
        </p:nvSpPr>
        <p:spPr>
          <a:xfrm>
            <a:off x="3866905" y="868680"/>
            <a:ext cx="7556099" cy="24883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Tratamento com Lista de Adjacências:</a:t>
            </a:r>
            <a:endParaRPr lang="pt-BR" dirty="0">
              <a:solidFill>
                <a:schemeClr val="accent2"/>
              </a:solidFill>
            </a:endParaRPr>
          </a:p>
          <a:p>
            <a:r>
              <a:rPr lang="pt-BR" dirty="0" smtClean="0">
                <a:solidFill>
                  <a:schemeClr val="tx1"/>
                </a:solidFill>
              </a:rPr>
              <a:t>Uso eficiente de memória e tempo de execução menor, implementação mais complexa.</a:t>
            </a:r>
          </a:p>
          <a:p>
            <a:r>
              <a:rPr lang="pt-BR" dirty="0" smtClean="0">
                <a:solidFill>
                  <a:schemeClr val="tx1"/>
                </a:solidFill>
              </a:rPr>
              <a:t>É como se estivéssemos apenas guardando a informação de quais arestas existem e ignorando as que arestas que não existem.</a:t>
            </a:r>
            <a:endParaRPr lang="pt-BR" dirty="0">
              <a:solidFill>
                <a:schemeClr val="tx1"/>
              </a:solidFill>
            </a:endParaRPr>
          </a:p>
          <a:p>
            <a:endParaRPr lang="pt-BR" dirty="0">
              <a:solidFill>
                <a:schemeClr val="accent2"/>
              </a:solidFill>
            </a:endParaRPr>
          </a:p>
          <a:p>
            <a:endParaRPr lang="pt-BR" dirty="0" smtClean="0">
              <a:solidFill>
                <a:schemeClr val="accent2"/>
              </a:solidFill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6382444" y="3176972"/>
            <a:ext cx="576064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</a:t>
            </a:r>
            <a:endParaRPr lang="en-US" dirty="0"/>
          </a:p>
        </p:txBody>
      </p:sp>
      <p:cxnSp>
        <p:nvCxnSpPr>
          <p:cNvPr id="7" name="Conector de seta reta 6"/>
          <p:cNvCxnSpPr>
            <a:stCxn id="5" idx="3"/>
            <a:endCxn id="11" idx="1"/>
          </p:cNvCxnSpPr>
          <p:nvPr/>
        </p:nvCxnSpPr>
        <p:spPr>
          <a:xfrm>
            <a:off x="6958508" y="3374994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upo 12"/>
          <p:cNvGrpSpPr/>
          <p:nvPr/>
        </p:nvGrpSpPr>
        <p:grpSpPr>
          <a:xfrm>
            <a:off x="7318548" y="3176972"/>
            <a:ext cx="685569" cy="396044"/>
            <a:chOff x="7750596" y="3176972"/>
            <a:chExt cx="936104" cy="396044"/>
          </a:xfrm>
        </p:grpSpPr>
        <p:sp>
          <p:nvSpPr>
            <p:cNvPr id="11" name="Retângulo 10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tângulo 11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CaixaDeTexto 13"/>
          <p:cNvSpPr txBox="1"/>
          <p:nvPr/>
        </p:nvSpPr>
        <p:spPr>
          <a:xfrm>
            <a:off x="7397651" y="3190328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B</a:t>
            </a:r>
            <a:endParaRPr lang="en-US" dirty="0"/>
          </a:p>
        </p:txBody>
      </p:sp>
      <p:cxnSp>
        <p:nvCxnSpPr>
          <p:cNvPr id="19" name="Conector de seta reta 18"/>
          <p:cNvCxnSpPr>
            <a:endCxn id="21" idx="1"/>
          </p:cNvCxnSpPr>
          <p:nvPr/>
        </p:nvCxnSpPr>
        <p:spPr>
          <a:xfrm>
            <a:off x="8013230" y="3388350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upo 19"/>
          <p:cNvGrpSpPr/>
          <p:nvPr/>
        </p:nvGrpSpPr>
        <p:grpSpPr>
          <a:xfrm>
            <a:off x="8373270" y="3190328"/>
            <a:ext cx="685569" cy="396044"/>
            <a:chOff x="7750596" y="3176972"/>
            <a:chExt cx="936104" cy="396044"/>
          </a:xfrm>
        </p:grpSpPr>
        <p:sp>
          <p:nvSpPr>
            <p:cNvPr id="21" name="Retângulo 20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tângulo 21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CaixaDeTexto 22"/>
          <p:cNvSpPr txBox="1"/>
          <p:nvPr/>
        </p:nvSpPr>
        <p:spPr>
          <a:xfrm>
            <a:off x="8452373" y="3203684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E</a:t>
            </a:r>
            <a:endParaRPr lang="en-US" dirty="0"/>
          </a:p>
        </p:txBody>
      </p:sp>
      <p:cxnSp>
        <p:nvCxnSpPr>
          <p:cNvPr id="16" name="Conector de seta reta 15"/>
          <p:cNvCxnSpPr>
            <a:stCxn id="22" idx="3"/>
          </p:cNvCxnSpPr>
          <p:nvPr/>
        </p:nvCxnSpPr>
        <p:spPr>
          <a:xfrm>
            <a:off x="9058839" y="3388350"/>
            <a:ext cx="3479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luxograma: Somador 26"/>
          <p:cNvSpPr/>
          <p:nvPr/>
        </p:nvSpPr>
        <p:spPr>
          <a:xfrm>
            <a:off x="9376565" y="3204413"/>
            <a:ext cx="360040" cy="382688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tângulo 40"/>
          <p:cNvSpPr/>
          <p:nvPr/>
        </p:nvSpPr>
        <p:spPr>
          <a:xfrm>
            <a:off x="6382444" y="3712312"/>
            <a:ext cx="576064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B</a:t>
            </a:r>
            <a:endParaRPr lang="en-US" dirty="0"/>
          </a:p>
        </p:txBody>
      </p:sp>
      <p:cxnSp>
        <p:nvCxnSpPr>
          <p:cNvPr id="42" name="Conector de seta reta 41"/>
          <p:cNvCxnSpPr>
            <a:stCxn id="41" idx="3"/>
            <a:endCxn id="44" idx="1"/>
          </p:cNvCxnSpPr>
          <p:nvPr/>
        </p:nvCxnSpPr>
        <p:spPr>
          <a:xfrm>
            <a:off x="6958508" y="3910334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upo 42"/>
          <p:cNvGrpSpPr/>
          <p:nvPr/>
        </p:nvGrpSpPr>
        <p:grpSpPr>
          <a:xfrm>
            <a:off x="7318548" y="3712312"/>
            <a:ext cx="685569" cy="396044"/>
            <a:chOff x="7750596" y="3176972"/>
            <a:chExt cx="936104" cy="396044"/>
          </a:xfrm>
        </p:grpSpPr>
        <p:sp>
          <p:nvSpPr>
            <p:cNvPr id="44" name="Retângulo 43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tângulo 44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CaixaDeTexto 45"/>
          <p:cNvSpPr txBox="1"/>
          <p:nvPr/>
        </p:nvSpPr>
        <p:spPr>
          <a:xfrm>
            <a:off x="7397651" y="3725668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D</a:t>
            </a:r>
            <a:endParaRPr lang="en-US" dirty="0"/>
          </a:p>
        </p:txBody>
      </p:sp>
      <p:cxnSp>
        <p:nvCxnSpPr>
          <p:cNvPr id="47" name="Conector de seta reta 46"/>
          <p:cNvCxnSpPr/>
          <p:nvPr/>
        </p:nvCxnSpPr>
        <p:spPr>
          <a:xfrm>
            <a:off x="8013230" y="3923690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Fluxograma: Somador 52"/>
          <p:cNvSpPr/>
          <p:nvPr/>
        </p:nvSpPr>
        <p:spPr>
          <a:xfrm>
            <a:off x="8358299" y="3739389"/>
            <a:ext cx="360040" cy="382688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tângulo 53"/>
          <p:cNvSpPr/>
          <p:nvPr/>
        </p:nvSpPr>
        <p:spPr>
          <a:xfrm>
            <a:off x="6382444" y="4226732"/>
            <a:ext cx="576064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</a:t>
            </a:r>
            <a:endParaRPr lang="en-US" dirty="0"/>
          </a:p>
        </p:txBody>
      </p:sp>
      <p:cxnSp>
        <p:nvCxnSpPr>
          <p:cNvPr id="55" name="Conector de seta reta 54"/>
          <p:cNvCxnSpPr>
            <a:stCxn id="54" idx="3"/>
          </p:cNvCxnSpPr>
          <p:nvPr/>
        </p:nvCxnSpPr>
        <p:spPr>
          <a:xfrm>
            <a:off x="6958508" y="4424754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Fluxograma: Somador 65"/>
          <p:cNvSpPr/>
          <p:nvPr/>
        </p:nvSpPr>
        <p:spPr>
          <a:xfrm>
            <a:off x="7318548" y="4226732"/>
            <a:ext cx="360040" cy="382688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tângulo 66"/>
          <p:cNvSpPr/>
          <p:nvPr/>
        </p:nvSpPr>
        <p:spPr>
          <a:xfrm>
            <a:off x="6382444" y="4742569"/>
            <a:ext cx="576064" cy="39604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D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8" name="Conector de seta reta 67"/>
          <p:cNvCxnSpPr>
            <a:stCxn id="67" idx="3"/>
            <a:endCxn id="70" idx="1"/>
          </p:cNvCxnSpPr>
          <p:nvPr/>
        </p:nvCxnSpPr>
        <p:spPr>
          <a:xfrm>
            <a:off x="6958508" y="4940591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upo 68"/>
          <p:cNvGrpSpPr/>
          <p:nvPr/>
        </p:nvGrpSpPr>
        <p:grpSpPr>
          <a:xfrm>
            <a:off x="7318548" y="4742569"/>
            <a:ext cx="685569" cy="396044"/>
            <a:chOff x="7750596" y="3176972"/>
            <a:chExt cx="936104" cy="396044"/>
          </a:xfrm>
        </p:grpSpPr>
        <p:sp>
          <p:nvSpPr>
            <p:cNvPr id="70" name="Retângulo 69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tângulo 70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2" name="CaixaDeTexto 71"/>
          <p:cNvSpPr txBox="1"/>
          <p:nvPr/>
        </p:nvSpPr>
        <p:spPr>
          <a:xfrm>
            <a:off x="7397651" y="4755925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</a:t>
            </a:r>
            <a:endParaRPr lang="en-US" dirty="0"/>
          </a:p>
        </p:txBody>
      </p:sp>
      <p:cxnSp>
        <p:nvCxnSpPr>
          <p:cNvPr id="73" name="Conector de seta reta 72"/>
          <p:cNvCxnSpPr>
            <a:endCxn id="75" idx="1"/>
          </p:cNvCxnSpPr>
          <p:nvPr/>
        </p:nvCxnSpPr>
        <p:spPr>
          <a:xfrm>
            <a:off x="8013230" y="4953947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upo 73"/>
          <p:cNvGrpSpPr/>
          <p:nvPr/>
        </p:nvGrpSpPr>
        <p:grpSpPr>
          <a:xfrm>
            <a:off x="8373270" y="4755925"/>
            <a:ext cx="685569" cy="396044"/>
            <a:chOff x="7750596" y="3176972"/>
            <a:chExt cx="936104" cy="396044"/>
          </a:xfrm>
        </p:grpSpPr>
        <p:sp>
          <p:nvSpPr>
            <p:cNvPr id="75" name="Retângulo 74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tângulo 75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7" name="CaixaDeTexto 76"/>
          <p:cNvSpPr txBox="1"/>
          <p:nvPr/>
        </p:nvSpPr>
        <p:spPr>
          <a:xfrm>
            <a:off x="8452373" y="4769281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E</a:t>
            </a:r>
            <a:endParaRPr lang="en-US" dirty="0"/>
          </a:p>
        </p:txBody>
      </p:sp>
      <p:cxnSp>
        <p:nvCxnSpPr>
          <p:cNvPr id="78" name="Conector de seta reta 77"/>
          <p:cNvCxnSpPr>
            <a:stCxn id="76" idx="3"/>
          </p:cNvCxnSpPr>
          <p:nvPr/>
        </p:nvCxnSpPr>
        <p:spPr>
          <a:xfrm>
            <a:off x="9058839" y="4953947"/>
            <a:ext cx="3479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Fluxograma: Somador 78"/>
          <p:cNvSpPr/>
          <p:nvPr/>
        </p:nvSpPr>
        <p:spPr>
          <a:xfrm>
            <a:off x="9376565" y="4770010"/>
            <a:ext cx="360040" cy="382688"/>
          </a:xfrm>
          <a:prstGeom prst="flowChartSummingJunct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tângulo 79"/>
          <p:cNvSpPr/>
          <p:nvPr/>
        </p:nvSpPr>
        <p:spPr>
          <a:xfrm>
            <a:off x="6382444" y="5263824"/>
            <a:ext cx="576064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E</a:t>
            </a:r>
            <a:endParaRPr lang="en-US" dirty="0"/>
          </a:p>
        </p:txBody>
      </p:sp>
      <p:cxnSp>
        <p:nvCxnSpPr>
          <p:cNvPr id="81" name="Conector de seta reta 80"/>
          <p:cNvCxnSpPr>
            <a:stCxn id="80" idx="3"/>
            <a:endCxn id="83" idx="1"/>
          </p:cNvCxnSpPr>
          <p:nvPr/>
        </p:nvCxnSpPr>
        <p:spPr>
          <a:xfrm>
            <a:off x="6958508" y="5461846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Grupo 81"/>
          <p:cNvGrpSpPr/>
          <p:nvPr/>
        </p:nvGrpSpPr>
        <p:grpSpPr>
          <a:xfrm>
            <a:off x="7318548" y="5263824"/>
            <a:ext cx="685569" cy="396044"/>
            <a:chOff x="7750596" y="3176972"/>
            <a:chExt cx="936104" cy="396044"/>
          </a:xfrm>
        </p:grpSpPr>
        <p:sp>
          <p:nvSpPr>
            <p:cNvPr id="83" name="Retângulo 82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tângulo 83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5" name="CaixaDeTexto 84"/>
          <p:cNvSpPr txBox="1"/>
          <p:nvPr/>
        </p:nvSpPr>
        <p:spPr>
          <a:xfrm>
            <a:off x="7397651" y="5277180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</a:t>
            </a:r>
            <a:endParaRPr lang="en-US" dirty="0"/>
          </a:p>
        </p:txBody>
      </p:sp>
      <p:cxnSp>
        <p:nvCxnSpPr>
          <p:cNvPr id="86" name="Conector de seta reta 85"/>
          <p:cNvCxnSpPr/>
          <p:nvPr/>
        </p:nvCxnSpPr>
        <p:spPr>
          <a:xfrm>
            <a:off x="8013230" y="5475202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Fluxograma: Somador 91"/>
          <p:cNvSpPr/>
          <p:nvPr/>
        </p:nvSpPr>
        <p:spPr>
          <a:xfrm>
            <a:off x="8342184" y="5291630"/>
            <a:ext cx="360040" cy="382688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CaixaDeTexto 92"/>
          <p:cNvSpPr txBox="1"/>
          <p:nvPr/>
        </p:nvSpPr>
        <p:spPr>
          <a:xfrm>
            <a:off x="9736605" y="5482974"/>
            <a:ext cx="1757886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D manda flecha para C e </a:t>
            </a:r>
            <a:r>
              <a:rPr lang="pt-BR" dirty="0" err="1" smtClean="0"/>
              <a:t>E</a:t>
            </a:r>
            <a:r>
              <a:rPr lang="pt-BR" dirty="0" smtClean="0"/>
              <a:t>.</a:t>
            </a:r>
            <a:endParaRPr lang="en-US" dirty="0"/>
          </a:p>
        </p:txBody>
      </p:sp>
      <p:cxnSp>
        <p:nvCxnSpPr>
          <p:cNvPr id="97" name="Conector em curva 96"/>
          <p:cNvCxnSpPr>
            <a:stCxn id="93" idx="0"/>
          </p:cNvCxnSpPr>
          <p:nvPr/>
        </p:nvCxnSpPr>
        <p:spPr>
          <a:xfrm rot="16200000" flipV="1">
            <a:off x="10038386" y="4905812"/>
            <a:ext cx="521620" cy="63270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6" name="Picture 8" descr="Uma visão geral do funcionamento de grafos em estruturas de dados ⋆ Big  Data Week São Paulo"/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22" r="35805" b="18658"/>
          <a:stretch/>
        </p:blipFill>
        <p:spPr bwMode="auto">
          <a:xfrm>
            <a:off x="3852603" y="3253626"/>
            <a:ext cx="2068023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Seta para a direita 56"/>
          <p:cNvSpPr/>
          <p:nvPr/>
        </p:nvSpPr>
        <p:spPr>
          <a:xfrm rot="14047725">
            <a:off x="5047593" y="3778430"/>
            <a:ext cx="631734" cy="1105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Seta para a direita 57"/>
          <p:cNvSpPr/>
          <p:nvPr/>
        </p:nvSpPr>
        <p:spPr>
          <a:xfrm rot="10371557" flipV="1">
            <a:off x="4957105" y="4147187"/>
            <a:ext cx="631734" cy="1120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003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205374" y="2276872"/>
            <a:ext cx="3430117" cy="1800200"/>
          </a:xfrm>
        </p:spPr>
        <p:txBody>
          <a:bodyPr rtlCol="0">
            <a:noAutofit/>
          </a:bodyPr>
          <a:lstStyle/>
          <a:p>
            <a:pPr rtl="0"/>
            <a:r>
              <a:rPr lang="pt-BR" sz="3600" b="1" dirty="0" smtClean="0"/>
              <a:t>Tratamento e Implementação de Grafos</a:t>
            </a:r>
            <a:endParaRPr lang="pt-BR" sz="3600" b="1" dirty="0"/>
          </a:p>
        </p:txBody>
      </p:sp>
      <p:sp>
        <p:nvSpPr>
          <p:cNvPr id="2" name="CaixaDeTexto 1"/>
          <p:cNvSpPr txBox="1"/>
          <p:nvPr/>
        </p:nvSpPr>
        <p:spPr>
          <a:xfrm>
            <a:off x="205374" y="4077072"/>
            <a:ext cx="3008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</a:rPr>
              <a:t>Lista de Adjacências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9" name="Espaço Reservado para Conteúdo 5"/>
          <p:cNvSpPr txBox="1">
            <a:spLocks/>
          </p:cNvSpPr>
          <p:nvPr/>
        </p:nvSpPr>
        <p:spPr>
          <a:xfrm>
            <a:off x="3866905" y="868680"/>
            <a:ext cx="7556099" cy="18691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Desvantagens:</a:t>
            </a:r>
            <a:endParaRPr lang="pt-BR" dirty="0">
              <a:solidFill>
                <a:schemeClr val="accent2"/>
              </a:solidFill>
            </a:endParaRPr>
          </a:p>
          <a:p>
            <a:r>
              <a:rPr lang="pt-BR" dirty="0" smtClean="0">
                <a:solidFill>
                  <a:schemeClr val="tx1"/>
                </a:solidFill>
              </a:rPr>
              <a:t>Acesso lento às arestas, dificuldade no cálculo do grau de entrada de um nó (a informação direta que temos é quem manda flecha para quem, para sabermos o grau de entrada devemos percorrer a lista inteira)</a:t>
            </a:r>
            <a:endParaRPr lang="pt-BR" dirty="0">
              <a:solidFill>
                <a:schemeClr val="tx1"/>
              </a:solidFill>
            </a:endParaRPr>
          </a:p>
          <a:p>
            <a:endParaRPr lang="pt-BR" dirty="0">
              <a:solidFill>
                <a:schemeClr val="accent2"/>
              </a:solidFill>
            </a:endParaRPr>
          </a:p>
          <a:p>
            <a:endParaRPr lang="pt-BR" dirty="0" smtClean="0">
              <a:solidFill>
                <a:schemeClr val="accent2"/>
              </a:solidFill>
            </a:endParaRPr>
          </a:p>
        </p:txBody>
      </p:sp>
      <p:pic>
        <p:nvPicPr>
          <p:cNvPr id="10" name="Picture 8" descr="Uma visão geral do funcionamento de grafos em estruturas de dados ⋆ Big  Data Week São Paulo"/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22" r="35805" b="18658"/>
          <a:stretch/>
        </p:blipFill>
        <p:spPr bwMode="auto">
          <a:xfrm>
            <a:off x="3852603" y="3253626"/>
            <a:ext cx="2068023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tângulo 4"/>
          <p:cNvSpPr/>
          <p:nvPr/>
        </p:nvSpPr>
        <p:spPr>
          <a:xfrm>
            <a:off x="6382444" y="3176972"/>
            <a:ext cx="576064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</a:t>
            </a:r>
            <a:endParaRPr lang="en-US" dirty="0"/>
          </a:p>
        </p:txBody>
      </p:sp>
      <p:cxnSp>
        <p:nvCxnSpPr>
          <p:cNvPr id="7" name="Conector de seta reta 6"/>
          <p:cNvCxnSpPr>
            <a:stCxn id="5" idx="3"/>
            <a:endCxn id="11" idx="1"/>
          </p:cNvCxnSpPr>
          <p:nvPr/>
        </p:nvCxnSpPr>
        <p:spPr>
          <a:xfrm>
            <a:off x="6958508" y="3374994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upo 12"/>
          <p:cNvGrpSpPr/>
          <p:nvPr/>
        </p:nvGrpSpPr>
        <p:grpSpPr>
          <a:xfrm>
            <a:off x="7318548" y="3176972"/>
            <a:ext cx="685569" cy="396044"/>
            <a:chOff x="7750596" y="3176972"/>
            <a:chExt cx="936104" cy="396044"/>
          </a:xfrm>
        </p:grpSpPr>
        <p:sp>
          <p:nvSpPr>
            <p:cNvPr id="11" name="Retângulo 10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tângulo 11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CaixaDeTexto 13"/>
          <p:cNvSpPr txBox="1"/>
          <p:nvPr/>
        </p:nvSpPr>
        <p:spPr>
          <a:xfrm>
            <a:off x="7397651" y="3190328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B</a:t>
            </a:r>
            <a:endParaRPr lang="en-US" dirty="0"/>
          </a:p>
        </p:txBody>
      </p:sp>
      <p:cxnSp>
        <p:nvCxnSpPr>
          <p:cNvPr id="19" name="Conector de seta reta 18"/>
          <p:cNvCxnSpPr>
            <a:endCxn id="21" idx="1"/>
          </p:cNvCxnSpPr>
          <p:nvPr/>
        </p:nvCxnSpPr>
        <p:spPr>
          <a:xfrm>
            <a:off x="8013230" y="3388350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upo 19"/>
          <p:cNvGrpSpPr/>
          <p:nvPr/>
        </p:nvGrpSpPr>
        <p:grpSpPr>
          <a:xfrm>
            <a:off x="8373270" y="3190328"/>
            <a:ext cx="685569" cy="396044"/>
            <a:chOff x="7750596" y="3176972"/>
            <a:chExt cx="936104" cy="396044"/>
          </a:xfrm>
        </p:grpSpPr>
        <p:sp>
          <p:nvSpPr>
            <p:cNvPr id="21" name="Retângulo 20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tângulo 21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CaixaDeTexto 22"/>
          <p:cNvSpPr txBox="1"/>
          <p:nvPr/>
        </p:nvSpPr>
        <p:spPr>
          <a:xfrm>
            <a:off x="8452373" y="3203684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E</a:t>
            </a:r>
            <a:endParaRPr lang="en-US" dirty="0"/>
          </a:p>
        </p:txBody>
      </p:sp>
      <p:cxnSp>
        <p:nvCxnSpPr>
          <p:cNvPr id="16" name="Conector de seta reta 15"/>
          <p:cNvCxnSpPr>
            <a:stCxn id="22" idx="3"/>
          </p:cNvCxnSpPr>
          <p:nvPr/>
        </p:nvCxnSpPr>
        <p:spPr>
          <a:xfrm>
            <a:off x="9058839" y="3388350"/>
            <a:ext cx="3479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luxograma: Somador 26"/>
          <p:cNvSpPr/>
          <p:nvPr/>
        </p:nvSpPr>
        <p:spPr>
          <a:xfrm>
            <a:off x="9376565" y="3204413"/>
            <a:ext cx="360040" cy="382688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tângulo 40"/>
          <p:cNvSpPr/>
          <p:nvPr/>
        </p:nvSpPr>
        <p:spPr>
          <a:xfrm>
            <a:off x="6382444" y="3712312"/>
            <a:ext cx="576064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B</a:t>
            </a:r>
            <a:endParaRPr lang="en-US" dirty="0"/>
          </a:p>
        </p:txBody>
      </p:sp>
      <p:cxnSp>
        <p:nvCxnSpPr>
          <p:cNvPr id="42" name="Conector de seta reta 41"/>
          <p:cNvCxnSpPr>
            <a:stCxn id="41" idx="3"/>
            <a:endCxn id="44" idx="1"/>
          </p:cNvCxnSpPr>
          <p:nvPr/>
        </p:nvCxnSpPr>
        <p:spPr>
          <a:xfrm>
            <a:off x="6958508" y="3910334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upo 42"/>
          <p:cNvGrpSpPr/>
          <p:nvPr/>
        </p:nvGrpSpPr>
        <p:grpSpPr>
          <a:xfrm>
            <a:off x="7318548" y="3712312"/>
            <a:ext cx="685569" cy="396044"/>
            <a:chOff x="7750596" y="3176972"/>
            <a:chExt cx="936104" cy="396044"/>
          </a:xfrm>
        </p:grpSpPr>
        <p:sp>
          <p:nvSpPr>
            <p:cNvPr id="44" name="Retângulo 43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tângulo 44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CaixaDeTexto 45"/>
          <p:cNvSpPr txBox="1"/>
          <p:nvPr/>
        </p:nvSpPr>
        <p:spPr>
          <a:xfrm>
            <a:off x="7397651" y="3725668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D</a:t>
            </a:r>
            <a:endParaRPr lang="en-US" dirty="0"/>
          </a:p>
        </p:txBody>
      </p:sp>
      <p:cxnSp>
        <p:nvCxnSpPr>
          <p:cNvPr id="47" name="Conector de seta reta 46"/>
          <p:cNvCxnSpPr/>
          <p:nvPr/>
        </p:nvCxnSpPr>
        <p:spPr>
          <a:xfrm>
            <a:off x="8013230" y="3923690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Fluxograma: Somador 52"/>
          <p:cNvSpPr/>
          <p:nvPr/>
        </p:nvSpPr>
        <p:spPr>
          <a:xfrm>
            <a:off x="8358299" y="3739389"/>
            <a:ext cx="360040" cy="382688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tângulo 53"/>
          <p:cNvSpPr/>
          <p:nvPr/>
        </p:nvSpPr>
        <p:spPr>
          <a:xfrm>
            <a:off x="6382444" y="4226732"/>
            <a:ext cx="576064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</a:t>
            </a:r>
            <a:endParaRPr lang="en-US" dirty="0"/>
          </a:p>
        </p:txBody>
      </p:sp>
      <p:cxnSp>
        <p:nvCxnSpPr>
          <p:cNvPr id="55" name="Conector de seta reta 54"/>
          <p:cNvCxnSpPr>
            <a:stCxn id="54" idx="3"/>
          </p:cNvCxnSpPr>
          <p:nvPr/>
        </p:nvCxnSpPr>
        <p:spPr>
          <a:xfrm>
            <a:off x="6958508" y="4424754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Fluxograma: Somador 65"/>
          <p:cNvSpPr/>
          <p:nvPr/>
        </p:nvSpPr>
        <p:spPr>
          <a:xfrm>
            <a:off x="7318548" y="4226732"/>
            <a:ext cx="360040" cy="382688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tângulo 66"/>
          <p:cNvSpPr/>
          <p:nvPr/>
        </p:nvSpPr>
        <p:spPr>
          <a:xfrm>
            <a:off x="6382444" y="4742569"/>
            <a:ext cx="576064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D</a:t>
            </a:r>
            <a:endParaRPr lang="en-US" dirty="0"/>
          </a:p>
        </p:txBody>
      </p:sp>
      <p:cxnSp>
        <p:nvCxnSpPr>
          <p:cNvPr id="68" name="Conector de seta reta 67"/>
          <p:cNvCxnSpPr>
            <a:stCxn id="67" idx="3"/>
            <a:endCxn id="70" idx="1"/>
          </p:cNvCxnSpPr>
          <p:nvPr/>
        </p:nvCxnSpPr>
        <p:spPr>
          <a:xfrm>
            <a:off x="6958508" y="4940591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upo 68"/>
          <p:cNvGrpSpPr/>
          <p:nvPr/>
        </p:nvGrpSpPr>
        <p:grpSpPr>
          <a:xfrm>
            <a:off x="7318548" y="4742569"/>
            <a:ext cx="685569" cy="396044"/>
            <a:chOff x="7750596" y="3176972"/>
            <a:chExt cx="936104" cy="396044"/>
          </a:xfrm>
        </p:grpSpPr>
        <p:sp>
          <p:nvSpPr>
            <p:cNvPr id="70" name="Retângulo 69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tângulo 70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2" name="CaixaDeTexto 71"/>
          <p:cNvSpPr txBox="1"/>
          <p:nvPr/>
        </p:nvSpPr>
        <p:spPr>
          <a:xfrm>
            <a:off x="7397651" y="4755925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</a:t>
            </a:r>
            <a:endParaRPr lang="en-US" dirty="0"/>
          </a:p>
        </p:txBody>
      </p:sp>
      <p:cxnSp>
        <p:nvCxnSpPr>
          <p:cNvPr id="73" name="Conector de seta reta 72"/>
          <p:cNvCxnSpPr>
            <a:endCxn id="75" idx="1"/>
          </p:cNvCxnSpPr>
          <p:nvPr/>
        </p:nvCxnSpPr>
        <p:spPr>
          <a:xfrm>
            <a:off x="8013230" y="4953947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Grupo 73"/>
          <p:cNvGrpSpPr/>
          <p:nvPr/>
        </p:nvGrpSpPr>
        <p:grpSpPr>
          <a:xfrm>
            <a:off x="8373270" y="4755925"/>
            <a:ext cx="685569" cy="396044"/>
            <a:chOff x="7750596" y="3176972"/>
            <a:chExt cx="936104" cy="396044"/>
          </a:xfrm>
        </p:grpSpPr>
        <p:sp>
          <p:nvSpPr>
            <p:cNvPr id="75" name="Retângulo 74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tângulo 75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7" name="CaixaDeTexto 76"/>
          <p:cNvSpPr txBox="1"/>
          <p:nvPr/>
        </p:nvSpPr>
        <p:spPr>
          <a:xfrm>
            <a:off x="8452373" y="4769281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E</a:t>
            </a:r>
            <a:endParaRPr lang="en-US" dirty="0"/>
          </a:p>
        </p:txBody>
      </p:sp>
      <p:cxnSp>
        <p:nvCxnSpPr>
          <p:cNvPr id="78" name="Conector de seta reta 77"/>
          <p:cNvCxnSpPr>
            <a:stCxn id="76" idx="3"/>
          </p:cNvCxnSpPr>
          <p:nvPr/>
        </p:nvCxnSpPr>
        <p:spPr>
          <a:xfrm>
            <a:off x="9058839" y="4953947"/>
            <a:ext cx="3479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Fluxograma: Somador 78"/>
          <p:cNvSpPr/>
          <p:nvPr/>
        </p:nvSpPr>
        <p:spPr>
          <a:xfrm>
            <a:off x="9376565" y="4770010"/>
            <a:ext cx="360040" cy="382688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tângulo 79"/>
          <p:cNvSpPr/>
          <p:nvPr/>
        </p:nvSpPr>
        <p:spPr>
          <a:xfrm>
            <a:off x="6382444" y="5263824"/>
            <a:ext cx="576064" cy="3960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E</a:t>
            </a:r>
            <a:endParaRPr lang="en-US" dirty="0"/>
          </a:p>
        </p:txBody>
      </p:sp>
      <p:cxnSp>
        <p:nvCxnSpPr>
          <p:cNvPr id="81" name="Conector de seta reta 80"/>
          <p:cNvCxnSpPr>
            <a:stCxn id="80" idx="3"/>
            <a:endCxn id="83" idx="1"/>
          </p:cNvCxnSpPr>
          <p:nvPr/>
        </p:nvCxnSpPr>
        <p:spPr>
          <a:xfrm>
            <a:off x="6958508" y="5461846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Grupo 81"/>
          <p:cNvGrpSpPr/>
          <p:nvPr/>
        </p:nvGrpSpPr>
        <p:grpSpPr>
          <a:xfrm>
            <a:off x="7318548" y="5263824"/>
            <a:ext cx="685569" cy="396044"/>
            <a:chOff x="7750596" y="3176972"/>
            <a:chExt cx="936104" cy="396044"/>
          </a:xfrm>
        </p:grpSpPr>
        <p:sp>
          <p:nvSpPr>
            <p:cNvPr id="83" name="Retângulo 82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tângulo 83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5" name="CaixaDeTexto 84"/>
          <p:cNvSpPr txBox="1"/>
          <p:nvPr/>
        </p:nvSpPr>
        <p:spPr>
          <a:xfrm>
            <a:off x="7397651" y="5277180"/>
            <a:ext cx="52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</a:t>
            </a:r>
            <a:endParaRPr lang="en-US" dirty="0"/>
          </a:p>
        </p:txBody>
      </p:sp>
      <p:cxnSp>
        <p:nvCxnSpPr>
          <p:cNvPr id="86" name="Conector de seta reta 85"/>
          <p:cNvCxnSpPr/>
          <p:nvPr/>
        </p:nvCxnSpPr>
        <p:spPr>
          <a:xfrm>
            <a:off x="8013230" y="5475202"/>
            <a:ext cx="360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Fluxograma: Somador 91"/>
          <p:cNvSpPr/>
          <p:nvPr/>
        </p:nvSpPr>
        <p:spPr>
          <a:xfrm>
            <a:off x="8342184" y="5291630"/>
            <a:ext cx="360040" cy="382688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CaixaDeTexto 92"/>
          <p:cNvSpPr txBox="1"/>
          <p:nvPr/>
        </p:nvSpPr>
        <p:spPr>
          <a:xfrm>
            <a:off x="9736605" y="5482974"/>
            <a:ext cx="1757886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D manda flecha para C e </a:t>
            </a:r>
            <a:r>
              <a:rPr lang="pt-BR" dirty="0" err="1" smtClean="0"/>
              <a:t>E</a:t>
            </a:r>
            <a:r>
              <a:rPr lang="pt-BR" dirty="0" smtClean="0"/>
              <a:t>.</a:t>
            </a:r>
            <a:endParaRPr lang="en-US" dirty="0"/>
          </a:p>
        </p:txBody>
      </p:sp>
      <p:cxnSp>
        <p:nvCxnSpPr>
          <p:cNvPr id="97" name="Conector em curva 96"/>
          <p:cNvCxnSpPr>
            <a:stCxn id="93" idx="0"/>
          </p:cNvCxnSpPr>
          <p:nvPr/>
        </p:nvCxnSpPr>
        <p:spPr>
          <a:xfrm rot="16200000" flipV="1">
            <a:off x="10038386" y="4905812"/>
            <a:ext cx="521620" cy="63270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" name="CaixaDeTexto 61"/>
          <p:cNvSpPr txBox="1"/>
          <p:nvPr/>
        </p:nvSpPr>
        <p:spPr>
          <a:xfrm>
            <a:off x="3997523" y="6021215"/>
            <a:ext cx="3191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Uso de ponteiros!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197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205374" y="2276872"/>
            <a:ext cx="3430117" cy="1800200"/>
          </a:xfrm>
        </p:spPr>
        <p:txBody>
          <a:bodyPr rtlCol="0">
            <a:noAutofit/>
          </a:bodyPr>
          <a:lstStyle/>
          <a:p>
            <a:pPr rtl="0"/>
            <a:r>
              <a:rPr lang="pt-BR" sz="3600" b="1" dirty="0" smtClean="0"/>
              <a:t>Tratamento e Implementação de Grafos</a:t>
            </a:r>
            <a:endParaRPr lang="pt-BR" sz="3600" b="1" dirty="0"/>
          </a:p>
        </p:txBody>
      </p:sp>
      <p:sp>
        <p:nvSpPr>
          <p:cNvPr id="2" name="CaixaDeTexto 1"/>
          <p:cNvSpPr txBox="1"/>
          <p:nvPr/>
        </p:nvSpPr>
        <p:spPr>
          <a:xfrm>
            <a:off x="205374" y="4077072"/>
            <a:ext cx="3008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</a:rPr>
              <a:t>Lista de Adjacências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56" name="Espaço Reservado para Conteúdo 5"/>
          <p:cNvSpPr txBox="1">
            <a:spLocks/>
          </p:cNvSpPr>
          <p:nvPr/>
        </p:nvSpPr>
        <p:spPr>
          <a:xfrm>
            <a:off x="333772" y="114663"/>
            <a:ext cx="10657184" cy="3980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Implementação em C/C++ com </a:t>
            </a:r>
            <a:r>
              <a:rPr lang="pt-BR" dirty="0">
                <a:solidFill>
                  <a:schemeClr val="accent2"/>
                </a:solidFill>
              </a:rPr>
              <a:t>L</a:t>
            </a:r>
            <a:r>
              <a:rPr lang="pt-BR" dirty="0" smtClean="0">
                <a:solidFill>
                  <a:schemeClr val="accent2"/>
                </a:solidFill>
              </a:rPr>
              <a:t>ista </a:t>
            </a:r>
            <a:r>
              <a:rPr lang="pt-BR" dirty="0">
                <a:solidFill>
                  <a:schemeClr val="accent2"/>
                </a:solidFill>
              </a:rPr>
              <a:t>L</a:t>
            </a:r>
            <a:r>
              <a:rPr lang="pt-BR" dirty="0" smtClean="0">
                <a:solidFill>
                  <a:schemeClr val="accent2"/>
                </a:solidFill>
              </a:rPr>
              <a:t>igada </a:t>
            </a:r>
            <a:endParaRPr lang="pt-BR" dirty="0">
              <a:solidFill>
                <a:schemeClr val="accent2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6180" y="1268760"/>
            <a:ext cx="2829471" cy="3547396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4222204" y="899428"/>
            <a:ext cx="2124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Declaração do Grafo</a:t>
            </a:r>
            <a:endParaRPr lang="en-US" dirty="0"/>
          </a:p>
        </p:txBody>
      </p:sp>
      <p:sp>
        <p:nvSpPr>
          <p:cNvPr id="9" name="CaixaDeTexto 8"/>
          <p:cNvSpPr txBox="1"/>
          <p:nvPr/>
        </p:nvSpPr>
        <p:spPr>
          <a:xfrm>
            <a:off x="7750596" y="1960576"/>
            <a:ext cx="30963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Demorado para </a:t>
            </a:r>
            <a:r>
              <a:rPr lang="pt-BR" dirty="0" err="1" smtClean="0"/>
              <a:t>codar</a:t>
            </a:r>
            <a:r>
              <a:rPr lang="pt-BR" dirty="0" smtClean="0"/>
              <a:t>, muitos ponteiros, </a:t>
            </a:r>
            <a:r>
              <a:rPr lang="pt-BR" dirty="0" err="1" smtClean="0"/>
              <a:t>mallocs</a:t>
            </a:r>
            <a:r>
              <a:rPr lang="pt-BR" dirty="0" smtClean="0"/>
              <a:t>, criam-se funções para se trabalhar com o grafo.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153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205374" y="2276872"/>
            <a:ext cx="3430117" cy="1800200"/>
          </a:xfrm>
        </p:spPr>
        <p:txBody>
          <a:bodyPr rtlCol="0">
            <a:noAutofit/>
          </a:bodyPr>
          <a:lstStyle/>
          <a:p>
            <a:pPr rtl="0"/>
            <a:r>
              <a:rPr lang="pt-BR" sz="3600" b="1" dirty="0" smtClean="0"/>
              <a:t>Tratamento e Implementação de Grafos</a:t>
            </a:r>
            <a:endParaRPr lang="pt-BR" sz="3600" b="1" dirty="0"/>
          </a:p>
        </p:txBody>
      </p:sp>
      <p:sp>
        <p:nvSpPr>
          <p:cNvPr id="2" name="CaixaDeTexto 1"/>
          <p:cNvSpPr txBox="1"/>
          <p:nvPr/>
        </p:nvSpPr>
        <p:spPr>
          <a:xfrm>
            <a:off x="205374" y="4077072"/>
            <a:ext cx="3008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</a:rPr>
              <a:t>Lista de Adjacências</a:t>
            </a: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6180" y="1268760"/>
            <a:ext cx="2829471" cy="3547396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4222204" y="899428"/>
            <a:ext cx="2124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Declaração do Grafo</a:t>
            </a:r>
            <a:endParaRPr lang="en-US" dirty="0"/>
          </a:p>
        </p:txBody>
      </p:sp>
      <p:grpSp>
        <p:nvGrpSpPr>
          <p:cNvPr id="3" name="Grupo 2"/>
          <p:cNvGrpSpPr/>
          <p:nvPr/>
        </p:nvGrpSpPr>
        <p:grpSpPr>
          <a:xfrm>
            <a:off x="7206340" y="2060848"/>
            <a:ext cx="4129816" cy="1854620"/>
            <a:chOff x="4942284" y="1790404"/>
            <a:chExt cx="5884002" cy="2497346"/>
          </a:xfrm>
        </p:grpSpPr>
        <p:pic>
          <p:nvPicPr>
            <p:cNvPr id="7" name="Picture 8" descr="Uma visão geral do funcionamento de grafos em estruturas de dados ⋆ Big  Data Week São Paulo"/>
            <p:cNvPicPr>
              <a:picLocks noChangeAspect="1" noChangeArrowheads="1"/>
            </p:cNvPicPr>
            <p:nvPr/>
          </p:nvPicPr>
          <p:blipFill rotWithShape="1">
            <a:blip r:embed="rId4" cstate="print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722" r="35805" b="18658"/>
            <a:stretch/>
          </p:blipFill>
          <p:spPr bwMode="auto">
            <a:xfrm>
              <a:off x="4942284" y="1867058"/>
              <a:ext cx="2068023" cy="20162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tângulo 8"/>
            <p:cNvSpPr/>
            <p:nvPr/>
          </p:nvSpPr>
          <p:spPr>
            <a:xfrm>
              <a:off x="7472125" y="1790404"/>
              <a:ext cx="57606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en-US" dirty="0"/>
            </a:p>
          </p:txBody>
        </p:sp>
        <p:cxnSp>
          <p:nvCxnSpPr>
            <p:cNvPr id="10" name="Conector de seta reta 9"/>
            <p:cNvCxnSpPr>
              <a:stCxn id="9" idx="3"/>
              <a:endCxn id="12" idx="1"/>
            </p:cNvCxnSpPr>
            <p:nvPr/>
          </p:nvCxnSpPr>
          <p:spPr>
            <a:xfrm>
              <a:off x="8048189" y="1988426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upo 10"/>
            <p:cNvGrpSpPr/>
            <p:nvPr/>
          </p:nvGrpSpPr>
          <p:grpSpPr>
            <a:xfrm>
              <a:off x="8408229" y="1790404"/>
              <a:ext cx="685569" cy="396044"/>
              <a:chOff x="7750596" y="3176972"/>
              <a:chExt cx="936104" cy="396044"/>
            </a:xfrm>
          </p:grpSpPr>
          <p:sp>
            <p:nvSpPr>
              <p:cNvPr id="12" name="Retângulo 11"/>
              <p:cNvSpPr/>
              <p:nvPr/>
            </p:nvSpPr>
            <p:spPr>
              <a:xfrm>
                <a:off x="7750596" y="3176972"/>
                <a:ext cx="93610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tângulo 12"/>
              <p:cNvSpPr/>
              <p:nvPr/>
            </p:nvSpPr>
            <p:spPr>
              <a:xfrm>
                <a:off x="8470676" y="3176972"/>
                <a:ext cx="21602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CaixaDeTexto 13"/>
            <p:cNvSpPr txBox="1"/>
            <p:nvPr/>
          </p:nvSpPr>
          <p:spPr>
            <a:xfrm>
              <a:off x="8487332" y="1803760"/>
              <a:ext cx="5273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B</a:t>
              </a:r>
              <a:endParaRPr lang="en-US" dirty="0"/>
            </a:p>
          </p:txBody>
        </p:sp>
        <p:cxnSp>
          <p:nvCxnSpPr>
            <p:cNvPr id="15" name="Conector de seta reta 14"/>
            <p:cNvCxnSpPr>
              <a:endCxn id="17" idx="1"/>
            </p:cNvCxnSpPr>
            <p:nvPr/>
          </p:nvCxnSpPr>
          <p:spPr>
            <a:xfrm>
              <a:off x="9102911" y="2001782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upo 15"/>
            <p:cNvGrpSpPr/>
            <p:nvPr/>
          </p:nvGrpSpPr>
          <p:grpSpPr>
            <a:xfrm>
              <a:off x="9462951" y="1803760"/>
              <a:ext cx="685569" cy="396044"/>
              <a:chOff x="7750596" y="3176972"/>
              <a:chExt cx="936104" cy="396044"/>
            </a:xfrm>
          </p:grpSpPr>
          <p:sp>
            <p:nvSpPr>
              <p:cNvPr id="17" name="Retângulo 16"/>
              <p:cNvSpPr/>
              <p:nvPr/>
            </p:nvSpPr>
            <p:spPr>
              <a:xfrm>
                <a:off x="7750596" y="3176972"/>
                <a:ext cx="93610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tângulo 17"/>
              <p:cNvSpPr/>
              <p:nvPr/>
            </p:nvSpPr>
            <p:spPr>
              <a:xfrm>
                <a:off x="8470676" y="3176972"/>
                <a:ext cx="21602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CaixaDeTexto 18"/>
            <p:cNvSpPr txBox="1"/>
            <p:nvPr/>
          </p:nvSpPr>
          <p:spPr>
            <a:xfrm>
              <a:off x="9542054" y="1817116"/>
              <a:ext cx="5273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20" name="Conector de seta reta 19"/>
            <p:cNvCxnSpPr>
              <a:stCxn id="18" idx="3"/>
            </p:cNvCxnSpPr>
            <p:nvPr/>
          </p:nvCxnSpPr>
          <p:spPr>
            <a:xfrm>
              <a:off x="10148520" y="2001782"/>
              <a:ext cx="34794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luxograma: Somador 20"/>
            <p:cNvSpPr/>
            <p:nvPr/>
          </p:nvSpPr>
          <p:spPr>
            <a:xfrm>
              <a:off x="10466246" y="1817845"/>
              <a:ext cx="360040" cy="382688"/>
            </a:xfrm>
            <a:prstGeom prst="flowChartSummingJunct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tângulo 21"/>
            <p:cNvSpPr/>
            <p:nvPr/>
          </p:nvSpPr>
          <p:spPr>
            <a:xfrm>
              <a:off x="7472125" y="2325744"/>
              <a:ext cx="57606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en-US" dirty="0"/>
            </a:p>
          </p:txBody>
        </p:sp>
        <p:cxnSp>
          <p:nvCxnSpPr>
            <p:cNvPr id="23" name="Conector de seta reta 22"/>
            <p:cNvCxnSpPr>
              <a:stCxn id="22" idx="3"/>
              <a:endCxn id="25" idx="1"/>
            </p:cNvCxnSpPr>
            <p:nvPr/>
          </p:nvCxnSpPr>
          <p:spPr>
            <a:xfrm>
              <a:off x="8048189" y="2523766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upo 23"/>
            <p:cNvGrpSpPr/>
            <p:nvPr/>
          </p:nvGrpSpPr>
          <p:grpSpPr>
            <a:xfrm>
              <a:off x="8408229" y="2325744"/>
              <a:ext cx="685569" cy="396044"/>
              <a:chOff x="7750596" y="3176972"/>
              <a:chExt cx="936104" cy="396044"/>
            </a:xfrm>
          </p:grpSpPr>
          <p:sp>
            <p:nvSpPr>
              <p:cNvPr id="25" name="Retângulo 24"/>
              <p:cNvSpPr/>
              <p:nvPr/>
            </p:nvSpPr>
            <p:spPr>
              <a:xfrm>
                <a:off x="7750596" y="3176972"/>
                <a:ext cx="93610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tângulo 25"/>
              <p:cNvSpPr/>
              <p:nvPr/>
            </p:nvSpPr>
            <p:spPr>
              <a:xfrm>
                <a:off x="8470676" y="3176972"/>
                <a:ext cx="21602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CaixaDeTexto 26"/>
            <p:cNvSpPr txBox="1"/>
            <p:nvPr/>
          </p:nvSpPr>
          <p:spPr>
            <a:xfrm>
              <a:off x="8487332" y="2339100"/>
              <a:ext cx="5273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D</a:t>
              </a:r>
              <a:endParaRPr lang="en-US" dirty="0"/>
            </a:p>
          </p:txBody>
        </p:sp>
        <p:cxnSp>
          <p:nvCxnSpPr>
            <p:cNvPr id="28" name="Conector de seta reta 27"/>
            <p:cNvCxnSpPr/>
            <p:nvPr/>
          </p:nvCxnSpPr>
          <p:spPr>
            <a:xfrm>
              <a:off x="9102911" y="2537122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Fluxograma: Somador 28"/>
            <p:cNvSpPr/>
            <p:nvPr/>
          </p:nvSpPr>
          <p:spPr>
            <a:xfrm>
              <a:off x="9447980" y="2352821"/>
              <a:ext cx="360040" cy="382688"/>
            </a:xfrm>
            <a:prstGeom prst="flowChartSummingJunct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tângulo 29"/>
            <p:cNvSpPr/>
            <p:nvPr/>
          </p:nvSpPr>
          <p:spPr>
            <a:xfrm>
              <a:off x="7472125" y="2840164"/>
              <a:ext cx="57606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en-US" dirty="0"/>
            </a:p>
          </p:txBody>
        </p:sp>
        <p:cxnSp>
          <p:nvCxnSpPr>
            <p:cNvPr id="31" name="Conector de seta reta 30"/>
            <p:cNvCxnSpPr>
              <a:stCxn id="30" idx="3"/>
            </p:cNvCxnSpPr>
            <p:nvPr/>
          </p:nvCxnSpPr>
          <p:spPr>
            <a:xfrm>
              <a:off x="8048189" y="3038186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Fluxograma: Somador 31"/>
            <p:cNvSpPr/>
            <p:nvPr/>
          </p:nvSpPr>
          <p:spPr>
            <a:xfrm>
              <a:off x="8408229" y="2840164"/>
              <a:ext cx="360040" cy="382688"/>
            </a:xfrm>
            <a:prstGeom prst="flowChartSummingJunct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tângulo 32"/>
            <p:cNvSpPr/>
            <p:nvPr/>
          </p:nvSpPr>
          <p:spPr>
            <a:xfrm>
              <a:off x="7472125" y="3356001"/>
              <a:ext cx="57606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en-US" dirty="0"/>
            </a:p>
          </p:txBody>
        </p:sp>
        <p:cxnSp>
          <p:nvCxnSpPr>
            <p:cNvPr id="34" name="Conector de seta reta 33"/>
            <p:cNvCxnSpPr>
              <a:stCxn id="33" idx="3"/>
              <a:endCxn id="36" idx="1"/>
            </p:cNvCxnSpPr>
            <p:nvPr/>
          </p:nvCxnSpPr>
          <p:spPr>
            <a:xfrm>
              <a:off x="8048189" y="3554023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Grupo 34"/>
            <p:cNvGrpSpPr/>
            <p:nvPr/>
          </p:nvGrpSpPr>
          <p:grpSpPr>
            <a:xfrm>
              <a:off x="8408229" y="3356001"/>
              <a:ext cx="685569" cy="396044"/>
              <a:chOff x="7750596" y="3176972"/>
              <a:chExt cx="936104" cy="396044"/>
            </a:xfrm>
          </p:grpSpPr>
          <p:sp>
            <p:nvSpPr>
              <p:cNvPr id="36" name="Retângulo 35"/>
              <p:cNvSpPr/>
              <p:nvPr/>
            </p:nvSpPr>
            <p:spPr>
              <a:xfrm>
                <a:off x="7750596" y="3176972"/>
                <a:ext cx="93610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tângulo 36"/>
              <p:cNvSpPr/>
              <p:nvPr/>
            </p:nvSpPr>
            <p:spPr>
              <a:xfrm>
                <a:off x="8470676" y="3176972"/>
                <a:ext cx="21602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" name="CaixaDeTexto 37"/>
            <p:cNvSpPr txBox="1"/>
            <p:nvPr/>
          </p:nvSpPr>
          <p:spPr>
            <a:xfrm>
              <a:off x="8487332" y="3369357"/>
              <a:ext cx="5273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C</a:t>
              </a:r>
              <a:endParaRPr lang="en-US" dirty="0"/>
            </a:p>
          </p:txBody>
        </p:sp>
        <p:cxnSp>
          <p:nvCxnSpPr>
            <p:cNvPr id="39" name="Conector de seta reta 38"/>
            <p:cNvCxnSpPr>
              <a:endCxn id="41" idx="1"/>
            </p:cNvCxnSpPr>
            <p:nvPr/>
          </p:nvCxnSpPr>
          <p:spPr>
            <a:xfrm>
              <a:off x="9102911" y="3567379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" name="Grupo 39"/>
            <p:cNvGrpSpPr/>
            <p:nvPr/>
          </p:nvGrpSpPr>
          <p:grpSpPr>
            <a:xfrm>
              <a:off x="9462951" y="3369357"/>
              <a:ext cx="685569" cy="396044"/>
              <a:chOff x="7750596" y="3176972"/>
              <a:chExt cx="936104" cy="396044"/>
            </a:xfrm>
          </p:grpSpPr>
          <p:sp>
            <p:nvSpPr>
              <p:cNvPr id="41" name="Retângulo 40"/>
              <p:cNvSpPr/>
              <p:nvPr/>
            </p:nvSpPr>
            <p:spPr>
              <a:xfrm>
                <a:off x="7750596" y="3176972"/>
                <a:ext cx="93610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tângulo 41"/>
              <p:cNvSpPr/>
              <p:nvPr/>
            </p:nvSpPr>
            <p:spPr>
              <a:xfrm>
                <a:off x="8470676" y="3176972"/>
                <a:ext cx="21602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3" name="CaixaDeTexto 42"/>
            <p:cNvSpPr txBox="1"/>
            <p:nvPr/>
          </p:nvSpPr>
          <p:spPr>
            <a:xfrm>
              <a:off x="9542054" y="3382713"/>
              <a:ext cx="5273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44" name="Conector de seta reta 43"/>
            <p:cNvCxnSpPr>
              <a:stCxn id="42" idx="3"/>
            </p:cNvCxnSpPr>
            <p:nvPr/>
          </p:nvCxnSpPr>
          <p:spPr>
            <a:xfrm>
              <a:off x="10148520" y="3567379"/>
              <a:ext cx="34794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Fluxograma: Somador 44"/>
            <p:cNvSpPr/>
            <p:nvPr/>
          </p:nvSpPr>
          <p:spPr>
            <a:xfrm>
              <a:off x="10466246" y="3383442"/>
              <a:ext cx="360040" cy="382688"/>
            </a:xfrm>
            <a:prstGeom prst="flowChartSummingJunct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tângulo 45"/>
            <p:cNvSpPr/>
            <p:nvPr/>
          </p:nvSpPr>
          <p:spPr>
            <a:xfrm>
              <a:off x="7472125" y="3877256"/>
              <a:ext cx="57606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47" name="Conector de seta reta 46"/>
            <p:cNvCxnSpPr>
              <a:stCxn id="46" idx="3"/>
              <a:endCxn id="49" idx="1"/>
            </p:cNvCxnSpPr>
            <p:nvPr/>
          </p:nvCxnSpPr>
          <p:spPr>
            <a:xfrm>
              <a:off x="8048189" y="4075278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" name="Grupo 47"/>
            <p:cNvGrpSpPr/>
            <p:nvPr/>
          </p:nvGrpSpPr>
          <p:grpSpPr>
            <a:xfrm>
              <a:off x="8408229" y="3877256"/>
              <a:ext cx="685569" cy="396044"/>
              <a:chOff x="7750596" y="3176972"/>
              <a:chExt cx="936104" cy="396044"/>
            </a:xfrm>
          </p:grpSpPr>
          <p:sp>
            <p:nvSpPr>
              <p:cNvPr id="49" name="Retângulo 48"/>
              <p:cNvSpPr/>
              <p:nvPr/>
            </p:nvSpPr>
            <p:spPr>
              <a:xfrm>
                <a:off x="7750596" y="3176972"/>
                <a:ext cx="93610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tângulo 49"/>
              <p:cNvSpPr/>
              <p:nvPr/>
            </p:nvSpPr>
            <p:spPr>
              <a:xfrm>
                <a:off x="8470676" y="3176972"/>
                <a:ext cx="21602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1" name="CaixaDeTexto 50"/>
            <p:cNvSpPr txBox="1"/>
            <p:nvPr/>
          </p:nvSpPr>
          <p:spPr>
            <a:xfrm>
              <a:off x="8487332" y="3890612"/>
              <a:ext cx="5273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C</a:t>
              </a:r>
              <a:endParaRPr lang="en-US" dirty="0"/>
            </a:p>
          </p:txBody>
        </p:sp>
        <p:cxnSp>
          <p:nvCxnSpPr>
            <p:cNvPr id="52" name="Conector de seta reta 51"/>
            <p:cNvCxnSpPr/>
            <p:nvPr/>
          </p:nvCxnSpPr>
          <p:spPr>
            <a:xfrm>
              <a:off x="9102911" y="4088634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Fluxograma: Somador 52"/>
            <p:cNvSpPr/>
            <p:nvPr/>
          </p:nvSpPr>
          <p:spPr>
            <a:xfrm>
              <a:off x="9431865" y="3905062"/>
              <a:ext cx="360040" cy="382688"/>
            </a:xfrm>
            <a:prstGeom prst="flowChartSummingJunct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5" name="Espaço Reservado para Conteúdo 5"/>
          <p:cNvSpPr txBox="1">
            <a:spLocks/>
          </p:cNvSpPr>
          <p:nvPr/>
        </p:nvSpPr>
        <p:spPr>
          <a:xfrm>
            <a:off x="333772" y="114663"/>
            <a:ext cx="10657184" cy="3980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Implementação em C/C++ com </a:t>
            </a:r>
            <a:r>
              <a:rPr lang="pt-BR" dirty="0">
                <a:solidFill>
                  <a:schemeClr val="accent2"/>
                </a:solidFill>
              </a:rPr>
              <a:t>L</a:t>
            </a:r>
            <a:r>
              <a:rPr lang="pt-BR" dirty="0" smtClean="0">
                <a:solidFill>
                  <a:schemeClr val="accent2"/>
                </a:solidFill>
              </a:rPr>
              <a:t>ista </a:t>
            </a:r>
            <a:r>
              <a:rPr lang="pt-BR" dirty="0">
                <a:solidFill>
                  <a:schemeClr val="accent2"/>
                </a:solidFill>
              </a:rPr>
              <a:t>L</a:t>
            </a:r>
            <a:r>
              <a:rPr lang="pt-BR" dirty="0" smtClean="0">
                <a:solidFill>
                  <a:schemeClr val="accent2"/>
                </a:solidFill>
              </a:rPr>
              <a:t>igada </a:t>
            </a:r>
            <a:endParaRPr lang="pt-B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2668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205374" y="2276872"/>
            <a:ext cx="3430117" cy="1800200"/>
          </a:xfrm>
        </p:spPr>
        <p:txBody>
          <a:bodyPr rtlCol="0">
            <a:noAutofit/>
          </a:bodyPr>
          <a:lstStyle/>
          <a:p>
            <a:pPr rtl="0"/>
            <a:r>
              <a:rPr lang="pt-BR" sz="3600" b="1" dirty="0" smtClean="0"/>
              <a:t>Tratamento e Implementação de Grafos</a:t>
            </a:r>
            <a:endParaRPr lang="pt-BR" sz="3600" b="1" dirty="0"/>
          </a:p>
        </p:txBody>
      </p:sp>
      <p:sp>
        <p:nvSpPr>
          <p:cNvPr id="2" name="CaixaDeTexto 1"/>
          <p:cNvSpPr txBox="1"/>
          <p:nvPr/>
        </p:nvSpPr>
        <p:spPr>
          <a:xfrm>
            <a:off x="205374" y="4077072"/>
            <a:ext cx="3008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</a:rPr>
              <a:t>Lista de Adjacências</a:t>
            </a: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6180" y="1268760"/>
            <a:ext cx="2829471" cy="3547396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4222204" y="899428"/>
            <a:ext cx="2124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Declaração do Grafo</a:t>
            </a:r>
            <a:endParaRPr lang="en-US" dirty="0"/>
          </a:p>
        </p:txBody>
      </p:sp>
      <p:grpSp>
        <p:nvGrpSpPr>
          <p:cNvPr id="3" name="Grupo 2"/>
          <p:cNvGrpSpPr/>
          <p:nvPr/>
        </p:nvGrpSpPr>
        <p:grpSpPr>
          <a:xfrm>
            <a:off x="7206340" y="2060848"/>
            <a:ext cx="4129816" cy="1854620"/>
            <a:chOff x="4942284" y="1790404"/>
            <a:chExt cx="5884002" cy="2497346"/>
          </a:xfrm>
        </p:grpSpPr>
        <p:pic>
          <p:nvPicPr>
            <p:cNvPr id="7" name="Picture 8" descr="Uma visão geral do funcionamento de grafos em estruturas de dados ⋆ Big  Data Week São Paulo"/>
            <p:cNvPicPr>
              <a:picLocks noChangeAspect="1" noChangeArrowheads="1"/>
            </p:cNvPicPr>
            <p:nvPr/>
          </p:nvPicPr>
          <p:blipFill rotWithShape="1">
            <a:blip r:embed="rId4" cstate="print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722" r="35805" b="18658"/>
            <a:stretch/>
          </p:blipFill>
          <p:spPr bwMode="auto">
            <a:xfrm>
              <a:off x="4942284" y="1867058"/>
              <a:ext cx="2068023" cy="20162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tângulo 8"/>
            <p:cNvSpPr/>
            <p:nvPr/>
          </p:nvSpPr>
          <p:spPr>
            <a:xfrm>
              <a:off x="7472125" y="1790404"/>
              <a:ext cx="57606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en-US" dirty="0"/>
            </a:p>
          </p:txBody>
        </p:sp>
        <p:cxnSp>
          <p:nvCxnSpPr>
            <p:cNvPr id="10" name="Conector de seta reta 9"/>
            <p:cNvCxnSpPr>
              <a:stCxn id="9" idx="3"/>
              <a:endCxn id="12" idx="1"/>
            </p:cNvCxnSpPr>
            <p:nvPr/>
          </p:nvCxnSpPr>
          <p:spPr>
            <a:xfrm>
              <a:off x="8048189" y="1988426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upo 10"/>
            <p:cNvGrpSpPr/>
            <p:nvPr/>
          </p:nvGrpSpPr>
          <p:grpSpPr>
            <a:xfrm>
              <a:off x="8408229" y="1790404"/>
              <a:ext cx="685569" cy="396044"/>
              <a:chOff x="7750596" y="3176972"/>
              <a:chExt cx="936104" cy="396044"/>
            </a:xfrm>
          </p:grpSpPr>
          <p:sp>
            <p:nvSpPr>
              <p:cNvPr id="12" name="Retângulo 11"/>
              <p:cNvSpPr/>
              <p:nvPr/>
            </p:nvSpPr>
            <p:spPr>
              <a:xfrm>
                <a:off x="7750596" y="3176972"/>
                <a:ext cx="93610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tângulo 12"/>
              <p:cNvSpPr/>
              <p:nvPr/>
            </p:nvSpPr>
            <p:spPr>
              <a:xfrm>
                <a:off x="8470676" y="3176972"/>
                <a:ext cx="21602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CaixaDeTexto 13"/>
            <p:cNvSpPr txBox="1"/>
            <p:nvPr/>
          </p:nvSpPr>
          <p:spPr>
            <a:xfrm>
              <a:off x="8487332" y="1803760"/>
              <a:ext cx="5273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B</a:t>
              </a:r>
              <a:endParaRPr lang="en-US" dirty="0"/>
            </a:p>
          </p:txBody>
        </p:sp>
        <p:cxnSp>
          <p:nvCxnSpPr>
            <p:cNvPr id="15" name="Conector de seta reta 14"/>
            <p:cNvCxnSpPr>
              <a:endCxn id="17" idx="1"/>
            </p:cNvCxnSpPr>
            <p:nvPr/>
          </p:nvCxnSpPr>
          <p:spPr>
            <a:xfrm>
              <a:off x="9102911" y="2001782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upo 15"/>
            <p:cNvGrpSpPr/>
            <p:nvPr/>
          </p:nvGrpSpPr>
          <p:grpSpPr>
            <a:xfrm>
              <a:off x="9462951" y="1803760"/>
              <a:ext cx="685569" cy="396044"/>
              <a:chOff x="7750596" y="3176972"/>
              <a:chExt cx="936104" cy="396044"/>
            </a:xfrm>
          </p:grpSpPr>
          <p:sp>
            <p:nvSpPr>
              <p:cNvPr id="17" name="Retângulo 16"/>
              <p:cNvSpPr/>
              <p:nvPr/>
            </p:nvSpPr>
            <p:spPr>
              <a:xfrm>
                <a:off x="7750596" y="3176972"/>
                <a:ext cx="93610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tângulo 17"/>
              <p:cNvSpPr/>
              <p:nvPr/>
            </p:nvSpPr>
            <p:spPr>
              <a:xfrm>
                <a:off x="8470676" y="3176972"/>
                <a:ext cx="21602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CaixaDeTexto 18"/>
            <p:cNvSpPr txBox="1"/>
            <p:nvPr/>
          </p:nvSpPr>
          <p:spPr>
            <a:xfrm>
              <a:off x="9542054" y="1817116"/>
              <a:ext cx="5273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20" name="Conector de seta reta 19"/>
            <p:cNvCxnSpPr>
              <a:stCxn id="18" idx="3"/>
            </p:cNvCxnSpPr>
            <p:nvPr/>
          </p:nvCxnSpPr>
          <p:spPr>
            <a:xfrm>
              <a:off x="10148520" y="2001782"/>
              <a:ext cx="34794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luxograma: Somador 20"/>
            <p:cNvSpPr/>
            <p:nvPr/>
          </p:nvSpPr>
          <p:spPr>
            <a:xfrm>
              <a:off x="10466246" y="1817845"/>
              <a:ext cx="360040" cy="382688"/>
            </a:xfrm>
            <a:prstGeom prst="flowChartSummingJunct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tângulo 21"/>
            <p:cNvSpPr/>
            <p:nvPr/>
          </p:nvSpPr>
          <p:spPr>
            <a:xfrm>
              <a:off x="7472125" y="2325744"/>
              <a:ext cx="57606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en-US" dirty="0"/>
            </a:p>
          </p:txBody>
        </p:sp>
        <p:cxnSp>
          <p:nvCxnSpPr>
            <p:cNvPr id="23" name="Conector de seta reta 22"/>
            <p:cNvCxnSpPr>
              <a:stCxn id="22" idx="3"/>
              <a:endCxn id="25" idx="1"/>
            </p:cNvCxnSpPr>
            <p:nvPr/>
          </p:nvCxnSpPr>
          <p:spPr>
            <a:xfrm>
              <a:off x="8048189" y="2523766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upo 23"/>
            <p:cNvGrpSpPr/>
            <p:nvPr/>
          </p:nvGrpSpPr>
          <p:grpSpPr>
            <a:xfrm>
              <a:off x="8408229" y="2325744"/>
              <a:ext cx="685569" cy="396044"/>
              <a:chOff x="7750596" y="3176972"/>
              <a:chExt cx="936104" cy="396044"/>
            </a:xfrm>
          </p:grpSpPr>
          <p:sp>
            <p:nvSpPr>
              <p:cNvPr id="25" name="Retângulo 24"/>
              <p:cNvSpPr/>
              <p:nvPr/>
            </p:nvSpPr>
            <p:spPr>
              <a:xfrm>
                <a:off x="7750596" y="3176972"/>
                <a:ext cx="93610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tângulo 25"/>
              <p:cNvSpPr/>
              <p:nvPr/>
            </p:nvSpPr>
            <p:spPr>
              <a:xfrm>
                <a:off x="8470676" y="3176972"/>
                <a:ext cx="21602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CaixaDeTexto 26"/>
            <p:cNvSpPr txBox="1"/>
            <p:nvPr/>
          </p:nvSpPr>
          <p:spPr>
            <a:xfrm>
              <a:off x="8487332" y="2339100"/>
              <a:ext cx="5273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D</a:t>
              </a:r>
              <a:endParaRPr lang="en-US" dirty="0"/>
            </a:p>
          </p:txBody>
        </p:sp>
        <p:cxnSp>
          <p:nvCxnSpPr>
            <p:cNvPr id="28" name="Conector de seta reta 27"/>
            <p:cNvCxnSpPr/>
            <p:nvPr/>
          </p:nvCxnSpPr>
          <p:spPr>
            <a:xfrm>
              <a:off x="9102911" y="2537122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Fluxograma: Somador 28"/>
            <p:cNvSpPr/>
            <p:nvPr/>
          </p:nvSpPr>
          <p:spPr>
            <a:xfrm>
              <a:off x="9447980" y="2352821"/>
              <a:ext cx="360040" cy="382688"/>
            </a:xfrm>
            <a:prstGeom prst="flowChartSummingJunct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tângulo 29"/>
            <p:cNvSpPr/>
            <p:nvPr/>
          </p:nvSpPr>
          <p:spPr>
            <a:xfrm>
              <a:off x="7472125" y="2840164"/>
              <a:ext cx="57606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en-US" dirty="0"/>
            </a:p>
          </p:txBody>
        </p:sp>
        <p:cxnSp>
          <p:nvCxnSpPr>
            <p:cNvPr id="31" name="Conector de seta reta 30"/>
            <p:cNvCxnSpPr>
              <a:stCxn id="30" idx="3"/>
            </p:cNvCxnSpPr>
            <p:nvPr/>
          </p:nvCxnSpPr>
          <p:spPr>
            <a:xfrm>
              <a:off x="8048189" y="3038186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Fluxograma: Somador 31"/>
            <p:cNvSpPr/>
            <p:nvPr/>
          </p:nvSpPr>
          <p:spPr>
            <a:xfrm>
              <a:off x="8408229" y="2840164"/>
              <a:ext cx="360040" cy="382688"/>
            </a:xfrm>
            <a:prstGeom prst="flowChartSummingJunct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tângulo 32"/>
            <p:cNvSpPr/>
            <p:nvPr/>
          </p:nvSpPr>
          <p:spPr>
            <a:xfrm>
              <a:off x="7472125" y="3356001"/>
              <a:ext cx="57606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en-US" dirty="0"/>
            </a:p>
          </p:txBody>
        </p:sp>
        <p:cxnSp>
          <p:nvCxnSpPr>
            <p:cNvPr id="34" name="Conector de seta reta 33"/>
            <p:cNvCxnSpPr>
              <a:stCxn id="33" idx="3"/>
              <a:endCxn id="36" idx="1"/>
            </p:cNvCxnSpPr>
            <p:nvPr/>
          </p:nvCxnSpPr>
          <p:spPr>
            <a:xfrm>
              <a:off x="8048189" y="3554023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Grupo 34"/>
            <p:cNvGrpSpPr/>
            <p:nvPr/>
          </p:nvGrpSpPr>
          <p:grpSpPr>
            <a:xfrm>
              <a:off x="8408229" y="3356001"/>
              <a:ext cx="685569" cy="396044"/>
              <a:chOff x="7750596" y="3176972"/>
              <a:chExt cx="936104" cy="396044"/>
            </a:xfrm>
          </p:grpSpPr>
          <p:sp>
            <p:nvSpPr>
              <p:cNvPr id="36" name="Retângulo 35"/>
              <p:cNvSpPr/>
              <p:nvPr/>
            </p:nvSpPr>
            <p:spPr>
              <a:xfrm>
                <a:off x="7750596" y="3176972"/>
                <a:ext cx="93610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tângulo 36"/>
              <p:cNvSpPr/>
              <p:nvPr/>
            </p:nvSpPr>
            <p:spPr>
              <a:xfrm>
                <a:off x="8470676" y="3176972"/>
                <a:ext cx="21602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" name="CaixaDeTexto 37"/>
            <p:cNvSpPr txBox="1"/>
            <p:nvPr/>
          </p:nvSpPr>
          <p:spPr>
            <a:xfrm>
              <a:off x="8487332" y="3369357"/>
              <a:ext cx="5273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C</a:t>
              </a:r>
              <a:endParaRPr lang="en-US" dirty="0"/>
            </a:p>
          </p:txBody>
        </p:sp>
        <p:cxnSp>
          <p:nvCxnSpPr>
            <p:cNvPr id="39" name="Conector de seta reta 38"/>
            <p:cNvCxnSpPr>
              <a:endCxn id="41" idx="1"/>
            </p:cNvCxnSpPr>
            <p:nvPr/>
          </p:nvCxnSpPr>
          <p:spPr>
            <a:xfrm>
              <a:off x="9102911" y="3567379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" name="Grupo 39"/>
            <p:cNvGrpSpPr/>
            <p:nvPr/>
          </p:nvGrpSpPr>
          <p:grpSpPr>
            <a:xfrm>
              <a:off x="9462951" y="3369357"/>
              <a:ext cx="685569" cy="396044"/>
              <a:chOff x="7750596" y="3176972"/>
              <a:chExt cx="936104" cy="396044"/>
            </a:xfrm>
          </p:grpSpPr>
          <p:sp>
            <p:nvSpPr>
              <p:cNvPr id="41" name="Retângulo 40"/>
              <p:cNvSpPr/>
              <p:nvPr/>
            </p:nvSpPr>
            <p:spPr>
              <a:xfrm>
                <a:off x="7750596" y="3176972"/>
                <a:ext cx="93610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tângulo 41"/>
              <p:cNvSpPr/>
              <p:nvPr/>
            </p:nvSpPr>
            <p:spPr>
              <a:xfrm>
                <a:off x="8470676" y="3176972"/>
                <a:ext cx="21602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3" name="CaixaDeTexto 42"/>
            <p:cNvSpPr txBox="1"/>
            <p:nvPr/>
          </p:nvSpPr>
          <p:spPr>
            <a:xfrm>
              <a:off x="9542054" y="3382713"/>
              <a:ext cx="5273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44" name="Conector de seta reta 43"/>
            <p:cNvCxnSpPr>
              <a:stCxn id="42" idx="3"/>
            </p:cNvCxnSpPr>
            <p:nvPr/>
          </p:nvCxnSpPr>
          <p:spPr>
            <a:xfrm>
              <a:off x="10148520" y="3567379"/>
              <a:ext cx="34794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Fluxograma: Somador 44"/>
            <p:cNvSpPr/>
            <p:nvPr/>
          </p:nvSpPr>
          <p:spPr>
            <a:xfrm>
              <a:off x="10466246" y="3383442"/>
              <a:ext cx="360040" cy="382688"/>
            </a:xfrm>
            <a:prstGeom prst="flowChartSummingJunct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tângulo 45"/>
            <p:cNvSpPr/>
            <p:nvPr/>
          </p:nvSpPr>
          <p:spPr>
            <a:xfrm>
              <a:off x="7472125" y="3877256"/>
              <a:ext cx="57606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47" name="Conector de seta reta 46"/>
            <p:cNvCxnSpPr>
              <a:stCxn id="46" idx="3"/>
              <a:endCxn id="49" idx="1"/>
            </p:cNvCxnSpPr>
            <p:nvPr/>
          </p:nvCxnSpPr>
          <p:spPr>
            <a:xfrm>
              <a:off x="8048189" y="4075278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" name="Grupo 47"/>
            <p:cNvGrpSpPr/>
            <p:nvPr/>
          </p:nvGrpSpPr>
          <p:grpSpPr>
            <a:xfrm>
              <a:off x="8408229" y="3877256"/>
              <a:ext cx="685569" cy="396044"/>
              <a:chOff x="7750596" y="3176972"/>
              <a:chExt cx="936104" cy="396044"/>
            </a:xfrm>
          </p:grpSpPr>
          <p:sp>
            <p:nvSpPr>
              <p:cNvPr id="49" name="Retângulo 48"/>
              <p:cNvSpPr/>
              <p:nvPr/>
            </p:nvSpPr>
            <p:spPr>
              <a:xfrm>
                <a:off x="7750596" y="3176972"/>
                <a:ext cx="93610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tângulo 49"/>
              <p:cNvSpPr/>
              <p:nvPr/>
            </p:nvSpPr>
            <p:spPr>
              <a:xfrm>
                <a:off x="8470676" y="3176972"/>
                <a:ext cx="21602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1" name="CaixaDeTexto 50"/>
            <p:cNvSpPr txBox="1"/>
            <p:nvPr/>
          </p:nvSpPr>
          <p:spPr>
            <a:xfrm>
              <a:off x="8487332" y="3890612"/>
              <a:ext cx="5273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C</a:t>
              </a:r>
              <a:endParaRPr lang="en-US" dirty="0"/>
            </a:p>
          </p:txBody>
        </p:sp>
        <p:cxnSp>
          <p:nvCxnSpPr>
            <p:cNvPr id="52" name="Conector de seta reta 51"/>
            <p:cNvCxnSpPr/>
            <p:nvPr/>
          </p:nvCxnSpPr>
          <p:spPr>
            <a:xfrm>
              <a:off x="9102911" y="4088634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Fluxograma: Somador 52"/>
            <p:cNvSpPr/>
            <p:nvPr/>
          </p:nvSpPr>
          <p:spPr>
            <a:xfrm>
              <a:off x="9431865" y="3905062"/>
              <a:ext cx="360040" cy="382688"/>
            </a:xfrm>
            <a:prstGeom prst="flowChartSummingJunct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Retângulo 5"/>
          <p:cNvSpPr/>
          <p:nvPr/>
        </p:nvSpPr>
        <p:spPr>
          <a:xfrm>
            <a:off x="8887104" y="1918455"/>
            <a:ext cx="583296" cy="2088232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tângulo 54"/>
          <p:cNvSpPr/>
          <p:nvPr/>
        </p:nvSpPr>
        <p:spPr>
          <a:xfrm>
            <a:off x="3983347" y="3620539"/>
            <a:ext cx="2852304" cy="1195617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Espaço Reservado para Conteúdo 5"/>
          <p:cNvSpPr txBox="1">
            <a:spLocks/>
          </p:cNvSpPr>
          <p:nvPr/>
        </p:nvSpPr>
        <p:spPr>
          <a:xfrm>
            <a:off x="333772" y="114663"/>
            <a:ext cx="10657184" cy="3980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Implementação em C/C++ com </a:t>
            </a:r>
            <a:r>
              <a:rPr lang="pt-BR" dirty="0">
                <a:solidFill>
                  <a:schemeClr val="accent2"/>
                </a:solidFill>
              </a:rPr>
              <a:t>L</a:t>
            </a:r>
            <a:r>
              <a:rPr lang="pt-BR" dirty="0" smtClean="0">
                <a:solidFill>
                  <a:schemeClr val="accent2"/>
                </a:solidFill>
              </a:rPr>
              <a:t>ista </a:t>
            </a:r>
            <a:r>
              <a:rPr lang="pt-BR" dirty="0">
                <a:solidFill>
                  <a:schemeClr val="accent2"/>
                </a:solidFill>
              </a:rPr>
              <a:t>L</a:t>
            </a:r>
            <a:r>
              <a:rPr lang="pt-BR" dirty="0" smtClean="0">
                <a:solidFill>
                  <a:schemeClr val="accent2"/>
                </a:solidFill>
              </a:rPr>
              <a:t>igada </a:t>
            </a:r>
            <a:endParaRPr lang="pt-B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900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205374" y="2276872"/>
            <a:ext cx="3430117" cy="1800200"/>
          </a:xfrm>
        </p:spPr>
        <p:txBody>
          <a:bodyPr rtlCol="0">
            <a:noAutofit/>
          </a:bodyPr>
          <a:lstStyle/>
          <a:p>
            <a:pPr rtl="0"/>
            <a:r>
              <a:rPr lang="pt-BR" sz="3600" b="1" dirty="0" smtClean="0"/>
              <a:t>Tratamento e Implementação de Grafos</a:t>
            </a:r>
            <a:endParaRPr lang="pt-BR" sz="3600" b="1" dirty="0"/>
          </a:p>
        </p:txBody>
      </p:sp>
      <p:sp>
        <p:nvSpPr>
          <p:cNvPr id="2" name="CaixaDeTexto 1"/>
          <p:cNvSpPr txBox="1"/>
          <p:nvPr/>
        </p:nvSpPr>
        <p:spPr>
          <a:xfrm>
            <a:off x="205374" y="4077072"/>
            <a:ext cx="3008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</a:rPr>
              <a:t>Lista de Adjacências</a:t>
            </a: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6180" y="1268760"/>
            <a:ext cx="2829471" cy="3547396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4222204" y="899428"/>
            <a:ext cx="2124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Declaração do Grafo</a:t>
            </a:r>
            <a:endParaRPr lang="en-US" dirty="0"/>
          </a:p>
        </p:txBody>
      </p:sp>
      <p:grpSp>
        <p:nvGrpSpPr>
          <p:cNvPr id="3" name="Grupo 2"/>
          <p:cNvGrpSpPr/>
          <p:nvPr/>
        </p:nvGrpSpPr>
        <p:grpSpPr>
          <a:xfrm>
            <a:off x="7206340" y="2060848"/>
            <a:ext cx="4129816" cy="1854620"/>
            <a:chOff x="4942284" y="1790404"/>
            <a:chExt cx="5884002" cy="2497346"/>
          </a:xfrm>
        </p:grpSpPr>
        <p:pic>
          <p:nvPicPr>
            <p:cNvPr id="7" name="Picture 8" descr="Uma visão geral do funcionamento de grafos em estruturas de dados ⋆ Big  Data Week São Paulo"/>
            <p:cNvPicPr>
              <a:picLocks noChangeAspect="1" noChangeArrowheads="1"/>
            </p:cNvPicPr>
            <p:nvPr/>
          </p:nvPicPr>
          <p:blipFill rotWithShape="1">
            <a:blip r:embed="rId4" cstate="print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722" r="35805" b="18658"/>
            <a:stretch/>
          </p:blipFill>
          <p:spPr bwMode="auto">
            <a:xfrm>
              <a:off x="4942284" y="1867058"/>
              <a:ext cx="2068023" cy="20162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tângulo 8"/>
            <p:cNvSpPr/>
            <p:nvPr/>
          </p:nvSpPr>
          <p:spPr>
            <a:xfrm>
              <a:off x="7472125" y="1790404"/>
              <a:ext cx="57606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en-US" dirty="0"/>
            </a:p>
          </p:txBody>
        </p:sp>
        <p:cxnSp>
          <p:nvCxnSpPr>
            <p:cNvPr id="10" name="Conector de seta reta 9"/>
            <p:cNvCxnSpPr>
              <a:stCxn id="9" idx="3"/>
              <a:endCxn id="12" idx="1"/>
            </p:cNvCxnSpPr>
            <p:nvPr/>
          </p:nvCxnSpPr>
          <p:spPr>
            <a:xfrm>
              <a:off x="8048189" y="1988426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upo 10"/>
            <p:cNvGrpSpPr/>
            <p:nvPr/>
          </p:nvGrpSpPr>
          <p:grpSpPr>
            <a:xfrm>
              <a:off x="8408229" y="1790404"/>
              <a:ext cx="685569" cy="396044"/>
              <a:chOff x="7750596" y="3176972"/>
              <a:chExt cx="936104" cy="396044"/>
            </a:xfrm>
          </p:grpSpPr>
          <p:sp>
            <p:nvSpPr>
              <p:cNvPr id="12" name="Retângulo 11"/>
              <p:cNvSpPr/>
              <p:nvPr/>
            </p:nvSpPr>
            <p:spPr>
              <a:xfrm>
                <a:off x="7750596" y="3176972"/>
                <a:ext cx="93610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tângulo 12"/>
              <p:cNvSpPr/>
              <p:nvPr/>
            </p:nvSpPr>
            <p:spPr>
              <a:xfrm>
                <a:off x="8470676" y="3176972"/>
                <a:ext cx="21602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CaixaDeTexto 13"/>
            <p:cNvSpPr txBox="1"/>
            <p:nvPr/>
          </p:nvSpPr>
          <p:spPr>
            <a:xfrm>
              <a:off x="8487332" y="1803760"/>
              <a:ext cx="5273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B</a:t>
              </a:r>
              <a:endParaRPr lang="en-US" dirty="0"/>
            </a:p>
          </p:txBody>
        </p:sp>
        <p:cxnSp>
          <p:nvCxnSpPr>
            <p:cNvPr id="15" name="Conector de seta reta 14"/>
            <p:cNvCxnSpPr>
              <a:endCxn id="17" idx="1"/>
            </p:cNvCxnSpPr>
            <p:nvPr/>
          </p:nvCxnSpPr>
          <p:spPr>
            <a:xfrm>
              <a:off x="9102911" y="2001782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upo 15"/>
            <p:cNvGrpSpPr/>
            <p:nvPr/>
          </p:nvGrpSpPr>
          <p:grpSpPr>
            <a:xfrm>
              <a:off x="9462951" y="1803760"/>
              <a:ext cx="685569" cy="396044"/>
              <a:chOff x="7750596" y="3176972"/>
              <a:chExt cx="936104" cy="396044"/>
            </a:xfrm>
          </p:grpSpPr>
          <p:sp>
            <p:nvSpPr>
              <p:cNvPr id="17" name="Retângulo 16"/>
              <p:cNvSpPr/>
              <p:nvPr/>
            </p:nvSpPr>
            <p:spPr>
              <a:xfrm>
                <a:off x="7750596" y="3176972"/>
                <a:ext cx="93610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tângulo 17"/>
              <p:cNvSpPr/>
              <p:nvPr/>
            </p:nvSpPr>
            <p:spPr>
              <a:xfrm>
                <a:off x="8470676" y="3176972"/>
                <a:ext cx="21602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CaixaDeTexto 18"/>
            <p:cNvSpPr txBox="1"/>
            <p:nvPr/>
          </p:nvSpPr>
          <p:spPr>
            <a:xfrm>
              <a:off x="9542054" y="1817116"/>
              <a:ext cx="5273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20" name="Conector de seta reta 19"/>
            <p:cNvCxnSpPr>
              <a:stCxn id="18" idx="3"/>
            </p:cNvCxnSpPr>
            <p:nvPr/>
          </p:nvCxnSpPr>
          <p:spPr>
            <a:xfrm>
              <a:off x="10148520" y="2001782"/>
              <a:ext cx="34794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luxograma: Somador 20"/>
            <p:cNvSpPr/>
            <p:nvPr/>
          </p:nvSpPr>
          <p:spPr>
            <a:xfrm>
              <a:off x="10466246" y="1817845"/>
              <a:ext cx="360040" cy="382688"/>
            </a:xfrm>
            <a:prstGeom prst="flowChartSummingJunct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tângulo 21"/>
            <p:cNvSpPr/>
            <p:nvPr/>
          </p:nvSpPr>
          <p:spPr>
            <a:xfrm>
              <a:off x="7472125" y="2325744"/>
              <a:ext cx="57606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en-US" dirty="0"/>
            </a:p>
          </p:txBody>
        </p:sp>
        <p:cxnSp>
          <p:nvCxnSpPr>
            <p:cNvPr id="23" name="Conector de seta reta 22"/>
            <p:cNvCxnSpPr>
              <a:stCxn id="22" idx="3"/>
              <a:endCxn id="25" idx="1"/>
            </p:cNvCxnSpPr>
            <p:nvPr/>
          </p:nvCxnSpPr>
          <p:spPr>
            <a:xfrm>
              <a:off x="8048189" y="2523766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upo 23"/>
            <p:cNvGrpSpPr/>
            <p:nvPr/>
          </p:nvGrpSpPr>
          <p:grpSpPr>
            <a:xfrm>
              <a:off x="8408229" y="2325744"/>
              <a:ext cx="685569" cy="396044"/>
              <a:chOff x="7750596" y="3176972"/>
              <a:chExt cx="936104" cy="396044"/>
            </a:xfrm>
          </p:grpSpPr>
          <p:sp>
            <p:nvSpPr>
              <p:cNvPr id="25" name="Retângulo 24"/>
              <p:cNvSpPr/>
              <p:nvPr/>
            </p:nvSpPr>
            <p:spPr>
              <a:xfrm>
                <a:off x="7750596" y="3176972"/>
                <a:ext cx="93610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tângulo 25"/>
              <p:cNvSpPr/>
              <p:nvPr/>
            </p:nvSpPr>
            <p:spPr>
              <a:xfrm>
                <a:off x="8470676" y="3176972"/>
                <a:ext cx="21602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CaixaDeTexto 26"/>
            <p:cNvSpPr txBox="1"/>
            <p:nvPr/>
          </p:nvSpPr>
          <p:spPr>
            <a:xfrm>
              <a:off x="8487332" y="2339100"/>
              <a:ext cx="5273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D</a:t>
              </a:r>
              <a:endParaRPr lang="en-US" dirty="0"/>
            </a:p>
          </p:txBody>
        </p:sp>
        <p:cxnSp>
          <p:nvCxnSpPr>
            <p:cNvPr id="28" name="Conector de seta reta 27"/>
            <p:cNvCxnSpPr/>
            <p:nvPr/>
          </p:nvCxnSpPr>
          <p:spPr>
            <a:xfrm>
              <a:off x="9102911" y="2537122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Fluxograma: Somador 28"/>
            <p:cNvSpPr/>
            <p:nvPr/>
          </p:nvSpPr>
          <p:spPr>
            <a:xfrm>
              <a:off x="9447980" y="2352821"/>
              <a:ext cx="360040" cy="382688"/>
            </a:xfrm>
            <a:prstGeom prst="flowChartSummingJunct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tângulo 29"/>
            <p:cNvSpPr/>
            <p:nvPr/>
          </p:nvSpPr>
          <p:spPr>
            <a:xfrm>
              <a:off x="7472125" y="2840164"/>
              <a:ext cx="57606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en-US" dirty="0"/>
            </a:p>
          </p:txBody>
        </p:sp>
        <p:cxnSp>
          <p:nvCxnSpPr>
            <p:cNvPr id="31" name="Conector de seta reta 30"/>
            <p:cNvCxnSpPr>
              <a:stCxn id="30" idx="3"/>
            </p:cNvCxnSpPr>
            <p:nvPr/>
          </p:nvCxnSpPr>
          <p:spPr>
            <a:xfrm>
              <a:off x="8048189" y="3038186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Fluxograma: Somador 31"/>
            <p:cNvSpPr/>
            <p:nvPr/>
          </p:nvSpPr>
          <p:spPr>
            <a:xfrm>
              <a:off x="8408229" y="2840164"/>
              <a:ext cx="360040" cy="382688"/>
            </a:xfrm>
            <a:prstGeom prst="flowChartSummingJunct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tângulo 32"/>
            <p:cNvSpPr/>
            <p:nvPr/>
          </p:nvSpPr>
          <p:spPr>
            <a:xfrm>
              <a:off x="7472125" y="3356001"/>
              <a:ext cx="57606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en-US" dirty="0"/>
            </a:p>
          </p:txBody>
        </p:sp>
        <p:cxnSp>
          <p:nvCxnSpPr>
            <p:cNvPr id="34" name="Conector de seta reta 33"/>
            <p:cNvCxnSpPr>
              <a:stCxn id="33" idx="3"/>
              <a:endCxn id="36" idx="1"/>
            </p:cNvCxnSpPr>
            <p:nvPr/>
          </p:nvCxnSpPr>
          <p:spPr>
            <a:xfrm>
              <a:off x="8048189" y="3554023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Grupo 34"/>
            <p:cNvGrpSpPr/>
            <p:nvPr/>
          </p:nvGrpSpPr>
          <p:grpSpPr>
            <a:xfrm>
              <a:off x="8408229" y="3356001"/>
              <a:ext cx="685569" cy="396044"/>
              <a:chOff x="7750596" y="3176972"/>
              <a:chExt cx="936104" cy="396044"/>
            </a:xfrm>
          </p:grpSpPr>
          <p:sp>
            <p:nvSpPr>
              <p:cNvPr id="36" name="Retângulo 35"/>
              <p:cNvSpPr/>
              <p:nvPr/>
            </p:nvSpPr>
            <p:spPr>
              <a:xfrm>
                <a:off x="7750596" y="3176972"/>
                <a:ext cx="93610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tângulo 36"/>
              <p:cNvSpPr/>
              <p:nvPr/>
            </p:nvSpPr>
            <p:spPr>
              <a:xfrm>
                <a:off x="8470676" y="3176972"/>
                <a:ext cx="21602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" name="CaixaDeTexto 37"/>
            <p:cNvSpPr txBox="1"/>
            <p:nvPr/>
          </p:nvSpPr>
          <p:spPr>
            <a:xfrm>
              <a:off x="8487332" y="3369357"/>
              <a:ext cx="5273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C</a:t>
              </a:r>
              <a:endParaRPr lang="en-US" dirty="0"/>
            </a:p>
          </p:txBody>
        </p:sp>
        <p:cxnSp>
          <p:nvCxnSpPr>
            <p:cNvPr id="39" name="Conector de seta reta 38"/>
            <p:cNvCxnSpPr>
              <a:endCxn id="41" idx="1"/>
            </p:cNvCxnSpPr>
            <p:nvPr/>
          </p:nvCxnSpPr>
          <p:spPr>
            <a:xfrm>
              <a:off x="9102911" y="3567379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" name="Grupo 39"/>
            <p:cNvGrpSpPr/>
            <p:nvPr/>
          </p:nvGrpSpPr>
          <p:grpSpPr>
            <a:xfrm>
              <a:off x="9462951" y="3369357"/>
              <a:ext cx="685569" cy="396044"/>
              <a:chOff x="7750596" y="3176972"/>
              <a:chExt cx="936104" cy="396044"/>
            </a:xfrm>
          </p:grpSpPr>
          <p:sp>
            <p:nvSpPr>
              <p:cNvPr id="41" name="Retângulo 40"/>
              <p:cNvSpPr/>
              <p:nvPr/>
            </p:nvSpPr>
            <p:spPr>
              <a:xfrm>
                <a:off x="7750596" y="3176972"/>
                <a:ext cx="93610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tângulo 41"/>
              <p:cNvSpPr/>
              <p:nvPr/>
            </p:nvSpPr>
            <p:spPr>
              <a:xfrm>
                <a:off x="8470676" y="3176972"/>
                <a:ext cx="21602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3" name="CaixaDeTexto 42"/>
            <p:cNvSpPr txBox="1"/>
            <p:nvPr/>
          </p:nvSpPr>
          <p:spPr>
            <a:xfrm>
              <a:off x="9542054" y="3382713"/>
              <a:ext cx="5273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44" name="Conector de seta reta 43"/>
            <p:cNvCxnSpPr>
              <a:stCxn id="42" idx="3"/>
            </p:cNvCxnSpPr>
            <p:nvPr/>
          </p:nvCxnSpPr>
          <p:spPr>
            <a:xfrm>
              <a:off x="10148520" y="3567379"/>
              <a:ext cx="34794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Fluxograma: Somador 44"/>
            <p:cNvSpPr/>
            <p:nvPr/>
          </p:nvSpPr>
          <p:spPr>
            <a:xfrm>
              <a:off x="10466246" y="3383442"/>
              <a:ext cx="360040" cy="382688"/>
            </a:xfrm>
            <a:prstGeom prst="flowChartSummingJunct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tângulo 45"/>
            <p:cNvSpPr/>
            <p:nvPr/>
          </p:nvSpPr>
          <p:spPr>
            <a:xfrm>
              <a:off x="7472125" y="3877256"/>
              <a:ext cx="57606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47" name="Conector de seta reta 46"/>
            <p:cNvCxnSpPr>
              <a:stCxn id="46" idx="3"/>
              <a:endCxn id="49" idx="1"/>
            </p:cNvCxnSpPr>
            <p:nvPr/>
          </p:nvCxnSpPr>
          <p:spPr>
            <a:xfrm>
              <a:off x="8048189" y="4075278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" name="Grupo 47"/>
            <p:cNvGrpSpPr/>
            <p:nvPr/>
          </p:nvGrpSpPr>
          <p:grpSpPr>
            <a:xfrm>
              <a:off x="8408229" y="3877256"/>
              <a:ext cx="685569" cy="396044"/>
              <a:chOff x="7750596" y="3176972"/>
              <a:chExt cx="936104" cy="396044"/>
            </a:xfrm>
          </p:grpSpPr>
          <p:sp>
            <p:nvSpPr>
              <p:cNvPr id="49" name="Retângulo 48"/>
              <p:cNvSpPr/>
              <p:nvPr/>
            </p:nvSpPr>
            <p:spPr>
              <a:xfrm>
                <a:off x="7750596" y="3176972"/>
                <a:ext cx="93610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tângulo 49"/>
              <p:cNvSpPr/>
              <p:nvPr/>
            </p:nvSpPr>
            <p:spPr>
              <a:xfrm>
                <a:off x="8470676" y="3176972"/>
                <a:ext cx="21602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1" name="CaixaDeTexto 50"/>
            <p:cNvSpPr txBox="1"/>
            <p:nvPr/>
          </p:nvSpPr>
          <p:spPr>
            <a:xfrm>
              <a:off x="8487332" y="3890612"/>
              <a:ext cx="5273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C</a:t>
              </a:r>
              <a:endParaRPr lang="en-US" dirty="0"/>
            </a:p>
          </p:txBody>
        </p:sp>
        <p:cxnSp>
          <p:nvCxnSpPr>
            <p:cNvPr id="52" name="Conector de seta reta 51"/>
            <p:cNvCxnSpPr/>
            <p:nvPr/>
          </p:nvCxnSpPr>
          <p:spPr>
            <a:xfrm>
              <a:off x="9102911" y="4088634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Fluxograma: Somador 52"/>
            <p:cNvSpPr/>
            <p:nvPr/>
          </p:nvSpPr>
          <p:spPr>
            <a:xfrm>
              <a:off x="9431865" y="3905062"/>
              <a:ext cx="360040" cy="382688"/>
            </a:xfrm>
            <a:prstGeom prst="flowChartSummingJunct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Retângulo 5"/>
          <p:cNvSpPr/>
          <p:nvPr/>
        </p:nvSpPr>
        <p:spPr>
          <a:xfrm>
            <a:off x="8887103" y="1982346"/>
            <a:ext cx="1324683" cy="470990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tângulo 54"/>
          <p:cNvSpPr/>
          <p:nvPr/>
        </p:nvSpPr>
        <p:spPr>
          <a:xfrm>
            <a:off x="4005631" y="2625708"/>
            <a:ext cx="2830020" cy="901845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Espaço Reservado para Conteúdo 5"/>
          <p:cNvSpPr txBox="1">
            <a:spLocks/>
          </p:cNvSpPr>
          <p:nvPr/>
        </p:nvSpPr>
        <p:spPr>
          <a:xfrm>
            <a:off x="333772" y="114663"/>
            <a:ext cx="10657184" cy="3980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Implementação em C/C++ com </a:t>
            </a:r>
            <a:r>
              <a:rPr lang="pt-BR" dirty="0">
                <a:solidFill>
                  <a:schemeClr val="accent2"/>
                </a:solidFill>
              </a:rPr>
              <a:t>L</a:t>
            </a:r>
            <a:r>
              <a:rPr lang="pt-BR" dirty="0" smtClean="0">
                <a:solidFill>
                  <a:schemeClr val="accent2"/>
                </a:solidFill>
              </a:rPr>
              <a:t>ista </a:t>
            </a:r>
            <a:r>
              <a:rPr lang="pt-BR" dirty="0">
                <a:solidFill>
                  <a:schemeClr val="accent2"/>
                </a:solidFill>
              </a:rPr>
              <a:t>L</a:t>
            </a:r>
            <a:r>
              <a:rPr lang="pt-BR" dirty="0" smtClean="0">
                <a:solidFill>
                  <a:schemeClr val="accent2"/>
                </a:solidFill>
              </a:rPr>
              <a:t>igada </a:t>
            </a:r>
            <a:endParaRPr lang="pt-B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606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205374" y="2276872"/>
            <a:ext cx="3430117" cy="1800200"/>
          </a:xfrm>
        </p:spPr>
        <p:txBody>
          <a:bodyPr rtlCol="0">
            <a:noAutofit/>
          </a:bodyPr>
          <a:lstStyle/>
          <a:p>
            <a:pPr rtl="0"/>
            <a:r>
              <a:rPr lang="pt-BR" sz="3600" b="1" dirty="0" smtClean="0"/>
              <a:t>Tratamento e Implementação de Grafos</a:t>
            </a:r>
            <a:endParaRPr lang="pt-BR" sz="3600" b="1" dirty="0"/>
          </a:p>
        </p:txBody>
      </p:sp>
      <p:sp>
        <p:nvSpPr>
          <p:cNvPr id="2" name="CaixaDeTexto 1"/>
          <p:cNvSpPr txBox="1"/>
          <p:nvPr/>
        </p:nvSpPr>
        <p:spPr>
          <a:xfrm>
            <a:off x="205374" y="4077072"/>
            <a:ext cx="3008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</a:rPr>
              <a:t>Lista de Adjacências</a:t>
            </a: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6180" y="1268760"/>
            <a:ext cx="2829471" cy="3547396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4222204" y="899428"/>
            <a:ext cx="2124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Declaração do Grafo</a:t>
            </a:r>
            <a:endParaRPr lang="en-US" dirty="0"/>
          </a:p>
        </p:txBody>
      </p:sp>
      <p:grpSp>
        <p:nvGrpSpPr>
          <p:cNvPr id="3" name="Grupo 2"/>
          <p:cNvGrpSpPr/>
          <p:nvPr/>
        </p:nvGrpSpPr>
        <p:grpSpPr>
          <a:xfrm>
            <a:off x="7206340" y="2060848"/>
            <a:ext cx="4129816" cy="1854620"/>
            <a:chOff x="4942284" y="1790404"/>
            <a:chExt cx="5884002" cy="2497346"/>
          </a:xfrm>
        </p:grpSpPr>
        <p:pic>
          <p:nvPicPr>
            <p:cNvPr id="7" name="Picture 8" descr="Uma visão geral do funcionamento de grafos em estruturas de dados ⋆ Big  Data Week São Paulo"/>
            <p:cNvPicPr>
              <a:picLocks noChangeAspect="1" noChangeArrowheads="1"/>
            </p:cNvPicPr>
            <p:nvPr/>
          </p:nvPicPr>
          <p:blipFill rotWithShape="1">
            <a:blip r:embed="rId4" cstate="print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722" r="35805" b="18658"/>
            <a:stretch/>
          </p:blipFill>
          <p:spPr bwMode="auto">
            <a:xfrm>
              <a:off x="4942284" y="1867058"/>
              <a:ext cx="2068023" cy="20162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tângulo 8"/>
            <p:cNvSpPr/>
            <p:nvPr/>
          </p:nvSpPr>
          <p:spPr>
            <a:xfrm>
              <a:off x="7472125" y="1790404"/>
              <a:ext cx="57606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</a:t>
              </a:r>
              <a:endParaRPr lang="en-US" dirty="0"/>
            </a:p>
          </p:txBody>
        </p:sp>
        <p:cxnSp>
          <p:nvCxnSpPr>
            <p:cNvPr id="10" name="Conector de seta reta 9"/>
            <p:cNvCxnSpPr>
              <a:stCxn id="9" idx="3"/>
              <a:endCxn id="12" idx="1"/>
            </p:cNvCxnSpPr>
            <p:nvPr/>
          </p:nvCxnSpPr>
          <p:spPr>
            <a:xfrm>
              <a:off x="8048189" y="1988426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upo 10"/>
            <p:cNvGrpSpPr/>
            <p:nvPr/>
          </p:nvGrpSpPr>
          <p:grpSpPr>
            <a:xfrm>
              <a:off x="8408229" y="1790404"/>
              <a:ext cx="685569" cy="396044"/>
              <a:chOff x="7750596" y="3176972"/>
              <a:chExt cx="936104" cy="396044"/>
            </a:xfrm>
          </p:grpSpPr>
          <p:sp>
            <p:nvSpPr>
              <p:cNvPr id="12" name="Retângulo 11"/>
              <p:cNvSpPr/>
              <p:nvPr/>
            </p:nvSpPr>
            <p:spPr>
              <a:xfrm>
                <a:off x="7750596" y="3176972"/>
                <a:ext cx="93610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tângulo 12"/>
              <p:cNvSpPr/>
              <p:nvPr/>
            </p:nvSpPr>
            <p:spPr>
              <a:xfrm>
                <a:off x="8470676" y="3176972"/>
                <a:ext cx="21602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CaixaDeTexto 13"/>
            <p:cNvSpPr txBox="1"/>
            <p:nvPr/>
          </p:nvSpPr>
          <p:spPr>
            <a:xfrm>
              <a:off x="8487332" y="1803760"/>
              <a:ext cx="5273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B</a:t>
              </a:r>
              <a:endParaRPr lang="en-US" dirty="0"/>
            </a:p>
          </p:txBody>
        </p:sp>
        <p:cxnSp>
          <p:nvCxnSpPr>
            <p:cNvPr id="15" name="Conector de seta reta 14"/>
            <p:cNvCxnSpPr>
              <a:endCxn id="17" idx="1"/>
            </p:cNvCxnSpPr>
            <p:nvPr/>
          </p:nvCxnSpPr>
          <p:spPr>
            <a:xfrm>
              <a:off x="9102911" y="2001782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upo 15"/>
            <p:cNvGrpSpPr/>
            <p:nvPr/>
          </p:nvGrpSpPr>
          <p:grpSpPr>
            <a:xfrm>
              <a:off x="9462951" y="1803760"/>
              <a:ext cx="685569" cy="396044"/>
              <a:chOff x="7750596" y="3176972"/>
              <a:chExt cx="936104" cy="396044"/>
            </a:xfrm>
          </p:grpSpPr>
          <p:sp>
            <p:nvSpPr>
              <p:cNvPr id="17" name="Retângulo 16"/>
              <p:cNvSpPr/>
              <p:nvPr/>
            </p:nvSpPr>
            <p:spPr>
              <a:xfrm>
                <a:off x="7750596" y="3176972"/>
                <a:ext cx="93610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tângulo 17"/>
              <p:cNvSpPr/>
              <p:nvPr/>
            </p:nvSpPr>
            <p:spPr>
              <a:xfrm>
                <a:off x="8470676" y="3176972"/>
                <a:ext cx="21602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CaixaDeTexto 18"/>
            <p:cNvSpPr txBox="1"/>
            <p:nvPr/>
          </p:nvSpPr>
          <p:spPr>
            <a:xfrm>
              <a:off x="9542054" y="1817116"/>
              <a:ext cx="5273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20" name="Conector de seta reta 19"/>
            <p:cNvCxnSpPr>
              <a:stCxn id="18" idx="3"/>
            </p:cNvCxnSpPr>
            <p:nvPr/>
          </p:nvCxnSpPr>
          <p:spPr>
            <a:xfrm>
              <a:off x="10148520" y="2001782"/>
              <a:ext cx="34794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luxograma: Somador 20"/>
            <p:cNvSpPr/>
            <p:nvPr/>
          </p:nvSpPr>
          <p:spPr>
            <a:xfrm>
              <a:off x="10466246" y="1817845"/>
              <a:ext cx="360040" cy="382688"/>
            </a:xfrm>
            <a:prstGeom prst="flowChartSummingJunct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tângulo 21"/>
            <p:cNvSpPr/>
            <p:nvPr/>
          </p:nvSpPr>
          <p:spPr>
            <a:xfrm>
              <a:off x="7472125" y="2325744"/>
              <a:ext cx="57606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</a:t>
              </a:r>
              <a:endParaRPr lang="en-US" dirty="0"/>
            </a:p>
          </p:txBody>
        </p:sp>
        <p:cxnSp>
          <p:nvCxnSpPr>
            <p:cNvPr id="23" name="Conector de seta reta 22"/>
            <p:cNvCxnSpPr>
              <a:stCxn id="22" idx="3"/>
              <a:endCxn id="25" idx="1"/>
            </p:cNvCxnSpPr>
            <p:nvPr/>
          </p:nvCxnSpPr>
          <p:spPr>
            <a:xfrm>
              <a:off x="8048189" y="2523766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upo 23"/>
            <p:cNvGrpSpPr/>
            <p:nvPr/>
          </p:nvGrpSpPr>
          <p:grpSpPr>
            <a:xfrm>
              <a:off x="8408229" y="2325744"/>
              <a:ext cx="685569" cy="396044"/>
              <a:chOff x="7750596" y="3176972"/>
              <a:chExt cx="936104" cy="396044"/>
            </a:xfrm>
          </p:grpSpPr>
          <p:sp>
            <p:nvSpPr>
              <p:cNvPr id="25" name="Retângulo 24"/>
              <p:cNvSpPr/>
              <p:nvPr/>
            </p:nvSpPr>
            <p:spPr>
              <a:xfrm>
                <a:off x="7750596" y="3176972"/>
                <a:ext cx="93610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tângulo 25"/>
              <p:cNvSpPr/>
              <p:nvPr/>
            </p:nvSpPr>
            <p:spPr>
              <a:xfrm>
                <a:off x="8470676" y="3176972"/>
                <a:ext cx="21602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CaixaDeTexto 26"/>
            <p:cNvSpPr txBox="1"/>
            <p:nvPr/>
          </p:nvSpPr>
          <p:spPr>
            <a:xfrm>
              <a:off x="8487332" y="2339100"/>
              <a:ext cx="5273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D</a:t>
              </a:r>
              <a:endParaRPr lang="en-US" dirty="0"/>
            </a:p>
          </p:txBody>
        </p:sp>
        <p:cxnSp>
          <p:nvCxnSpPr>
            <p:cNvPr id="28" name="Conector de seta reta 27"/>
            <p:cNvCxnSpPr/>
            <p:nvPr/>
          </p:nvCxnSpPr>
          <p:spPr>
            <a:xfrm>
              <a:off x="9102911" y="2537122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Fluxograma: Somador 28"/>
            <p:cNvSpPr/>
            <p:nvPr/>
          </p:nvSpPr>
          <p:spPr>
            <a:xfrm>
              <a:off x="9447980" y="2352821"/>
              <a:ext cx="360040" cy="382688"/>
            </a:xfrm>
            <a:prstGeom prst="flowChartSummingJunct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tângulo 29"/>
            <p:cNvSpPr/>
            <p:nvPr/>
          </p:nvSpPr>
          <p:spPr>
            <a:xfrm>
              <a:off x="7472125" y="2840164"/>
              <a:ext cx="57606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C</a:t>
              </a:r>
              <a:endParaRPr lang="en-US" dirty="0"/>
            </a:p>
          </p:txBody>
        </p:sp>
        <p:cxnSp>
          <p:nvCxnSpPr>
            <p:cNvPr id="31" name="Conector de seta reta 30"/>
            <p:cNvCxnSpPr>
              <a:stCxn id="30" idx="3"/>
            </p:cNvCxnSpPr>
            <p:nvPr/>
          </p:nvCxnSpPr>
          <p:spPr>
            <a:xfrm>
              <a:off x="8048189" y="3038186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Fluxograma: Somador 31"/>
            <p:cNvSpPr/>
            <p:nvPr/>
          </p:nvSpPr>
          <p:spPr>
            <a:xfrm>
              <a:off x="8408229" y="2840164"/>
              <a:ext cx="360040" cy="382688"/>
            </a:xfrm>
            <a:prstGeom prst="flowChartSummingJunct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tângulo 32"/>
            <p:cNvSpPr/>
            <p:nvPr/>
          </p:nvSpPr>
          <p:spPr>
            <a:xfrm>
              <a:off x="7472125" y="3356001"/>
              <a:ext cx="57606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</a:t>
              </a:r>
              <a:endParaRPr lang="en-US" dirty="0"/>
            </a:p>
          </p:txBody>
        </p:sp>
        <p:cxnSp>
          <p:nvCxnSpPr>
            <p:cNvPr id="34" name="Conector de seta reta 33"/>
            <p:cNvCxnSpPr>
              <a:stCxn id="33" idx="3"/>
              <a:endCxn id="36" idx="1"/>
            </p:cNvCxnSpPr>
            <p:nvPr/>
          </p:nvCxnSpPr>
          <p:spPr>
            <a:xfrm>
              <a:off x="8048189" y="3554023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Grupo 34"/>
            <p:cNvGrpSpPr/>
            <p:nvPr/>
          </p:nvGrpSpPr>
          <p:grpSpPr>
            <a:xfrm>
              <a:off x="8408229" y="3356001"/>
              <a:ext cx="685569" cy="396044"/>
              <a:chOff x="7750596" y="3176972"/>
              <a:chExt cx="936104" cy="396044"/>
            </a:xfrm>
          </p:grpSpPr>
          <p:sp>
            <p:nvSpPr>
              <p:cNvPr id="36" name="Retângulo 35"/>
              <p:cNvSpPr/>
              <p:nvPr/>
            </p:nvSpPr>
            <p:spPr>
              <a:xfrm>
                <a:off x="7750596" y="3176972"/>
                <a:ext cx="93610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tângulo 36"/>
              <p:cNvSpPr/>
              <p:nvPr/>
            </p:nvSpPr>
            <p:spPr>
              <a:xfrm>
                <a:off x="8470676" y="3176972"/>
                <a:ext cx="21602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" name="CaixaDeTexto 37"/>
            <p:cNvSpPr txBox="1"/>
            <p:nvPr/>
          </p:nvSpPr>
          <p:spPr>
            <a:xfrm>
              <a:off x="8487332" y="3369357"/>
              <a:ext cx="5273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C</a:t>
              </a:r>
              <a:endParaRPr lang="en-US" dirty="0"/>
            </a:p>
          </p:txBody>
        </p:sp>
        <p:cxnSp>
          <p:nvCxnSpPr>
            <p:cNvPr id="39" name="Conector de seta reta 38"/>
            <p:cNvCxnSpPr>
              <a:endCxn id="41" idx="1"/>
            </p:cNvCxnSpPr>
            <p:nvPr/>
          </p:nvCxnSpPr>
          <p:spPr>
            <a:xfrm>
              <a:off x="9102911" y="3567379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" name="Grupo 39"/>
            <p:cNvGrpSpPr/>
            <p:nvPr/>
          </p:nvGrpSpPr>
          <p:grpSpPr>
            <a:xfrm>
              <a:off x="9462951" y="3369357"/>
              <a:ext cx="685569" cy="396044"/>
              <a:chOff x="7750596" y="3176972"/>
              <a:chExt cx="936104" cy="396044"/>
            </a:xfrm>
          </p:grpSpPr>
          <p:sp>
            <p:nvSpPr>
              <p:cNvPr id="41" name="Retângulo 40"/>
              <p:cNvSpPr/>
              <p:nvPr/>
            </p:nvSpPr>
            <p:spPr>
              <a:xfrm>
                <a:off x="7750596" y="3176972"/>
                <a:ext cx="93610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tângulo 41"/>
              <p:cNvSpPr/>
              <p:nvPr/>
            </p:nvSpPr>
            <p:spPr>
              <a:xfrm>
                <a:off x="8470676" y="3176972"/>
                <a:ext cx="21602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3" name="CaixaDeTexto 42"/>
            <p:cNvSpPr txBox="1"/>
            <p:nvPr/>
          </p:nvSpPr>
          <p:spPr>
            <a:xfrm>
              <a:off x="9542054" y="3382713"/>
              <a:ext cx="5273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44" name="Conector de seta reta 43"/>
            <p:cNvCxnSpPr>
              <a:stCxn id="42" idx="3"/>
            </p:cNvCxnSpPr>
            <p:nvPr/>
          </p:nvCxnSpPr>
          <p:spPr>
            <a:xfrm>
              <a:off x="10148520" y="3567379"/>
              <a:ext cx="34794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Fluxograma: Somador 44"/>
            <p:cNvSpPr/>
            <p:nvPr/>
          </p:nvSpPr>
          <p:spPr>
            <a:xfrm>
              <a:off x="10466246" y="3383442"/>
              <a:ext cx="360040" cy="382688"/>
            </a:xfrm>
            <a:prstGeom prst="flowChartSummingJunct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tângulo 45"/>
            <p:cNvSpPr/>
            <p:nvPr/>
          </p:nvSpPr>
          <p:spPr>
            <a:xfrm>
              <a:off x="7472125" y="3877256"/>
              <a:ext cx="57606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E</a:t>
              </a:r>
              <a:endParaRPr lang="en-US" dirty="0"/>
            </a:p>
          </p:txBody>
        </p:sp>
        <p:cxnSp>
          <p:nvCxnSpPr>
            <p:cNvPr id="47" name="Conector de seta reta 46"/>
            <p:cNvCxnSpPr>
              <a:stCxn id="46" idx="3"/>
              <a:endCxn id="49" idx="1"/>
            </p:cNvCxnSpPr>
            <p:nvPr/>
          </p:nvCxnSpPr>
          <p:spPr>
            <a:xfrm>
              <a:off x="8048189" y="4075278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" name="Grupo 47"/>
            <p:cNvGrpSpPr/>
            <p:nvPr/>
          </p:nvGrpSpPr>
          <p:grpSpPr>
            <a:xfrm>
              <a:off x="8408229" y="3877256"/>
              <a:ext cx="685569" cy="396044"/>
              <a:chOff x="7750596" y="3176972"/>
              <a:chExt cx="936104" cy="396044"/>
            </a:xfrm>
          </p:grpSpPr>
          <p:sp>
            <p:nvSpPr>
              <p:cNvPr id="49" name="Retângulo 48"/>
              <p:cNvSpPr/>
              <p:nvPr/>
            </p:nvSpPr>
            <p:spPr>
              <a:xfrm>
                <a:off x="7750596" y="3176972"/>
                <a:ext cx="93610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tângulo 49"/>
              <p:cNvSpPr/>
              <p:nvPr/>
            </p:nvSpPr>
            <p:spPr>
              <a:xfrm>
                <a:off x="8470676" y="3176972"/>
                <a:ext cx="21602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1" name="CaixaDeTexto 50"/>
            <p:cNvSpPr txBox="1"/>
            <p:nvPr/>
          </p:nvSpPr>
          <p:spPr>
            <a:xfrm>
              <a:off x="8487332" y="3890612"/>
              <a:ext cx="5273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C</a:t>
              </a:r>
              <a:endParaRPr lang="en-US" dirty="0"/>
            </a:p>
          </p:txBody>
        </p:sp>
        <p:cxnSp>
          <p:nvCxnSpPr>
            <p:cNvPr id="52" name="Conector de seta reta 51"/>
            <p:cNvCxnSpPr/>
            <p:nvPr/>
          </p:nvCxnSpPr>
          <p:spPr>
            <a:xfrm>
              <a:off x="9102911" y="4088634"/>
              <a:ext cx="3600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Fluxograma: Somador 52"/>
            <p:cNvSpPr/>
            <p:nvPr/>
          </p:nvSpPr>
          <p:spPr>
            <a:xfrm>
              <a:off x="9431865" y="3905062"/>
              <a:ext cx="360040" cy="382688"/>
            </a:xfrm>
            <a:prstGeom prst="flowChartSummingJunct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Retângulo 5"/>
          <p:cNvSpPr/>
          <p:nvPr/>
        </p:nvSpPr>
        <p:spPr>
          <a:xfrm>
            <a:off x="9550796" y="1982346"/>
            <a:ext cx="660990" cy="470990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tângulo 54"/>
          <p:cNvSpPr/>
          <p:nvPr/>
        </p:nvSpPr>
        <p:spPr>
          <a:xfrm>
            <a:off x="4005631" y="1268760"/>
            <a:ext cx="2830020" cy="1346628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Espaço Reservado para Conteúdo 5"/>
          <p:cNvSpPr txBox="1">
            <a:spLocks/>
          </p:cNvSpPr>
          <p:nvPr/>
        </p:nvSpPr>
        <p:spPr>
          <a:xfrm>
            <a:off x="333772" y="114663"/>
            <a:ext cx="10657184" cy="3980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Implementação em C/C++ com </a:t>
            </a:r>
            <a:r>
              <a:rPr lang="pt-BR" dirty="0">
                <a:solidFill>
                  <a:schemeClr val="accent2"/>
                </a:solidFill>
              </a:rPr>
              <a:t>L</a:t>
            </a:r>
            <a:r>
              <a:rPr lang="pt-BR" dirty="0" smtClean="0">
                <a:solidFill>
                  <a:schemeClr val="accent2"/>
                </a:solidFill>
              </a:rPr>
              <a:t>ista </a:t>
            </a:r>
            <a:r>
              <a:rPr lang="pt-BR" dirty="0">
                <a:solidFill>
                  <a:schemeClr val="accent2"/>
                </a:solidFill>
              </a:rPr>
              <a:t>L</a:t>
            </a:r>
            <a:r>
              <a:rPr lang="pt-BR" dirty="0" smtClean="0">
                <a:solidFill>
                  <a:schemeClr val="accent2"/>
                </a:solidFill>
              </a:rPr>
              <a:t>igada </a:t>
            </a:r>
            <a:endParaRPr lang="pt-B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931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205374" y="2276872"/>
            <a:ext cx="3430117" cy="1800200"/>
          </a:xfrm>
        </p:spPr>
        <p:txBody>
          <a:bodyPr rtlCol="0">
            <a:noAutofit/>
          </a:bodyPr>
          <a:lstStyle/>
          <a:p>
            <a:pPr rtl="0"/>
            <a:r>
              <a:rPr lang="pt-BR" sz="3600" b="1" dirty="0" smtClean="0"/>
              <a:t>Tratamento e Implementação de Grafos</a:t>
            </a:r>
            <a:endParaRPr lang="pt-BR" sz="3600" b="1" dirty="0"/>
          </a:p>
        </p:txBody>
      </p:sp>
      <p:sp>
        <p:nvSpPr>
          <p:cNvPr id="2" name="CaixaDeTexto 1"/>
          <p:cNvSpPr txBox="1"/>
          <p:nvPr/>
        </p:nvSpPr>
        <p:spPr>
          <a:xfrm>
            <a:off x="205374" y="4077072"/>
            <a:ext cx="3008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</a:rPr>
              <a:t>Lista de Adjacências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4222204" y="899428"/>
            <a:ext cx="5229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Função para criar o Grafo e inicia-lo com sem arestas</a:t>
            </a:r>
            <a:endParaRPr lang="en-US" dirty="0"/>
          </a:p>
        </p:txBody>
      </p:sp>
      <p:pic>
        <p:nvPicPr>
          <p:cNvPr id="11" name="Picture 8" descr="Uma visão geral do funcionamento de grafos em estruturas de dados ⋆ Big  Data Week São Paulo"/>
          <p:cNvPicPr>
            <a:picLocks noChangeAspect="1" noChangeArrowheads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22" r="35805" b="18658"/>
          <a:stretch/>
        </p:blipFill>
        <p:spPr bwMode="auto">
          <a:xfrm>
            <a:off x="3635490" y="3866398"/>
            <a:ext cx="2205567" cy="2034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tângulo 11"/>
          <p:cNvSpPr/>
          <p:nvPr/>
        </p:nvSpPr>
        <p:spPr>
          <a:xfrm>
            <a:off x="6333590" y="3789040"/>
            <a:ext cx="614378" cy="399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</a:t>
            </a:r>
            <a:endParaRPr lang="en-US" dirty="0"/>
          </a:p>
        </p:txBody>
      </p:sp>
      <p:cxnSp>
        <p:nvCxnSpPr>
          <p:cNvPr id="13" name="Conector de seta reta 12"/>
          <p:cNvCxnSpPr>
            <a:stCxn id="12" idx="3"/>
          </p:cNvCxnSpPr>
          <p:nvPr/>
        </p:nvCxnSpPr>
        <p:spPr>
          <a:xfrm>
            <a:off x="6947968" y="3988881"/>
            <a:ext cx="383977" cy="1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uxograma: Somador 19"/>
          <p:cNvSpPr/>
          <p:nvPr/>
        </p:nvSpPr>
        <p:spPr>
          <a:xfrm>
            <a:off x="7370353" y="3802519"/>
            <a:ext cx="383986" cy="386202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tângulo 20"/>
          <p:cNvSpPr/>
          <p:nvPr/>
        </p:nvSpPr>
        <p:spPr>
          <a:xfrm>
            <a:off x="6333590" y="4329296"/>
            <a:ext cx="614378" cy="399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B</a:t>
            </a:r>
            <a:endParaRPr lang="en-US" dirty="0"/>
          </a:p>
        </p:txBody>
      </p:sp>
      <p:cxnSp>
        <p:nvCxnSpPr>
          <p:cNvPr id="22" name="Conector de seta reta 21"/>
          <p:cNvCxnSpPr>
            <a:stCxn id="21" idx="3"/>
          </p:cNvCxnSpPr>
          <p:nvPr/>
        </p:nvCxnSpPr>
        <p:spPr>
          <a:xfrm>
            <a:off x="6947968" y="4529137"/>
            <a:ext cx="383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ângulo 26"/>
          <p:cNvSpPr/>
          <p:nvPr/>
        </p:nvSpPr>
        <p:spPr>
          <a:xfrm>
            <a:off x="6333590" y="4848440"/>
            <a:ext cx="614378" cy="399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</a:t>
            </a:r>
            <a:endParaRPr lang="en-US" dirty="0"/>
          </a:p>
        </p:txBody>
      </p:sp>
      <p:cxnSp>
        <p:nvCxnSpPr>
          <p:cNvPr id="28" name="Conector de seta reta 27"/>
          <p:cNvCxnSpPr>
            <a:stCxn id="27" idx="3"/>
          </p:cNvCxnSpPr>
          <p:nvPr/>
        </p:nvCxnSpPr>
        <p:spPr>
          <a:xfrm>
            <a:off x="6947968" y="5048281"/>
            <a:ext cx="383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tângulo 29"/>
          <p:cNvSpPr/>
          <p:nvPr/>
        </p:nvSpPr>
        <p:spPr>
          <a:xfrm>
            <a:off x="6333590" y="5369014"/>
            <a:ext cx="614378" cy="399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D</a:t>
            </a:r>
            <a:endParaRPr lang="en-US" dirty="0"/>
          </a:p>
        </p:txBody>
      </p:sp>
      <p:cxnSp>
        <p:nvCxnSpPr>
          <p:cNvPr id="31" name="Conector de seta reta 30"/>
          <p:cNvCxnSpPr>
            <a:stCxn id="30" idx="3"/>
          </p:cNvCxnSpPr>
          <p:nvPr/>
        </p:nvCxnSpPr>
        <p:spPr>
          <a:xfrm>
            <a:off x="6947968" y="5568855"/>
            <a:ext cx="383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luxograma: Somador 37"/>
          <p:cNvSpPr/>
          <p:nvPr/>
        </p:nvSpPr>
        <p:spPr>
          <a:xfrm>
            <a:off x="7331945" y="5382493"/>
            <a:ext cx="383986" cy="386202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tângulo 38"/>
          <p:cNvSpPr/>
          <p:nvPr/>
        </p:nvSpPr>
        <p:spPr>
          <a:xfrm>
            <a:off x="6333590" y="5895056"/>
            <a:ext cx="614378" cy="399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E</a:t>
            </a:r>
            <a:endParaRPr lang="en-US" dirty="0"/>
          </a:p>
        </p:txBody>
      </p:sp>
      <p:cxnSp>
        <p:nvCxnSpPr>
          <p:cNvPr id="40" name="Conector de seta reta 39"/>
          <p:cNvCxnSpPr>
            <a:stCxn id="39" idx="3"/>
          </p:cNvCxnSpPr>
          <p:nvPr/>
        </p:nvCxnSpPr>
        <p:spPr>
          <a:xfrm>
            <a:off x="6947968" y="6094897"/>
            <a:ext cx="383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Fluxograma: Somador 57"/>
          <p:cNvSpPr/>
          <p:nvPr/>
        </p:nvSpPr>
        <p:spPr>
          <a:xfrm>
            <a:off x="7333431" y="5909805"/>
            <a:ext cx="383986" cy="386202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luxograma: Somador 58"/>
          <p:cNvSpPr/>
          <p:nvPr/>
        </p:nvSpPr>
        <p:spPr>
          <a:xfrm>
            <a:off x="7331945" y="4876293"/>
            <a:ext cx="383986" cy="386202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uxograma: Somador 59"/>
          <p:cNvSpPr/>
          <p:nvPr/>
        </p:nvSpPr>
        <p:spPr>
          <a:xfrm>
            <a:off x="7342366" y="4346624"/>
            <a:ext cx="383986" cy="386202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Espaço Reservado para Conteúdo 5"/>
          <p:cNvSpPr txBox="1">
            <a:spLocks/>
          </p:cNvSpPr>
          <p:nvPr/>
        </p:nvSpPr>
        <p:spPr>
          <a:xfrm>
            <a:off x="333772" y="114663"/>
            <a:ext cx="10657184" cy="3980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Implementação em C/C++ com </a:t>
            </a:r>
            <a:r>
              <a:rPr lang="pt-BR" dirty="0">
                <a:solidFill>
                  <a:schemeClr val="accent2"/>
                </a:solidFill>
              </a:rPr>
              <a:t>L</a:t>
            </a:r>
            <a:r>
              <a:rPr lang="pt-BR" dirty="0" smtClean="0">
                <a:solidFill>
                  <a:schemeClr val="accent2"/>
                </a:solidFill>
              </a:rPr>
              <a:t>ista </a:t>
            </a:r>
            <a:r>
              <a:rPr lang="pt-BR" dirty="0">
                <a:solidFill>
                  <a:schemeClr val="accent2"/>
                </a:solidFill>
              </a:rPr>
              <a:t>L</a:t>
            </a:r>
            <a:r>
              <a:rPr lang="pt-BR" dirty="0" smtClean="0">
                <a:solidFill>
                  <a:schemeClr val="accent2"/>
                </a:solidFill>
              </a:rPr>
              <a:t>igada </a:t>
            </a:r>
            <a:endParaRPr lang="pt-BR" dirty="0">
              <a:solidFill>
                <a:schemeClr val="accent2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2781" y="1388223"/>
            <a:ext cx="5670373" cy="1978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726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205374" y="2276872"/>
            <a:ext cx="3430117" cy="1800200"/>
          </a:xfrm>
        </p:spPr>
        <p:txBody>
          <a:bodyPr rtlCol="0">
            <a:noAutofit/>
          </a:bodyPr>
          <a:lstStyle/>
          <a:p>
            <a:pPr rtl="0"/>
            <a:r>
              <a:rPr lang="pt-BR" sz="3600" b="1" dirty="0" smtClean="0"/>
              <a:t>Tratamento e Implementação de Grafos</a:t>
            </a:r>
            <a:endParaRPr lang="pt-BR" sz="3600" b="1" dirty="0"/>
          </a:p>
        </p:txBody>
      </p:sp>
      <p:sp>
        <p:nvSpPr>
          <p:cNvPr id="2" name="CaixaDeTexto 1"/>
          <p:cNvSpPr txBox="1"/>
          <p:nvPr/>
        </p:nvSpPr>
        <p:spPr>
          <a:xfrm>
            <a:off x="205374" y="4077072"/>
            <a:ext cx="3008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</a:rPr>
              <a:t>Lista de Adjacências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4222204" y="899428"/>
            <a:ext cx="20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Inserção de Arestas</a:t>
            </a:r>
            <a:endParaRPr lang="en-US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24" y="1340768"/>
            <a:ext cx="7992888" cy="2196627"/>
          </a:xfrm>
          <a:prstGeom prst="rect">
            <a:avLst/>
          </a:prstGeom>
        </p:spPr>
      </p:pic>
      <p:pic>
        <p:nvPicPr>
          <p:cNvPr id="11" name="Picture 8" descr="Uma visão geral do funcionamento de grafos em estruturas de dados ⋆ Big  Data Week São Paulo"/>
          <p:cNvPicPr>
            <a:picLocks noChangeAspect="1" noChangeArrowheads="1"/>
          </p:cNvPicPr>
          <p:nvPr/>
        </p:nvPicPr>
        <p:blipFill rotWithShape="1"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22" r="35805" b="18658"/>
          <a:stretch/>
        </p:blipFill>
        <p:spPr bwMode="auto">
          <a:xfrm>
            <a:off x="3635490" y="3866398"/>
            <a:ext cx="2205567" cy="2034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tângulo 11"/>
          <p:cNvSpPr/>
          <p:nvPr/>
        </p:nvSpPr>
        <p:spPr>
          <a:xfrm>
            <a:off x="6333590" y="3789040"/>
            <a:ext cx="614378" cy="399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</a:t>
            </a:r>
            <a:endParaRPr lang="en-US" dirty="0"/>
          </a:p>
        </p:txBody>
      </p:sp>
      <p:cxnSp>
        <p:nvCxnSpPr>
          <p:cNvPr id="13" name="Conector de seta reta 12"/>
          <p:cNvCxnSpPr>
            <a:stCxn id="12" idx="3"/>
          </p:cNvCxnSpPr>
          <p:nvPr/>
        </p:nvCxnSpPr>
        <p:spPr>
          <a:xfrm>
            <a:off x="6947968" y="3988881"/>
            <a:ext cx="383977" cy="1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/>
          <p:nvPr/>
        </p:nvCxnSpPr>
        <p:spPr>
          <a:xfrm>
            <a:off x="8072839" y="4002359"/>
            <a:ext cx="383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uxograma: Somador 19"/>
          <p:cNvSpPr/>
          <p:nvPr/>
        </p:nvSpPr>
        <p:spPr>
          <a:xfrm>
            <a:off x="8477549" y="3815190"/>
            <a:ext cx="383986" cy="386202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tângulo 20"/>
          <p:cNvSpPr/>
          <p:nvPr/>
        </p:nvSpPr>
        <p:spPr>
          <a:xfrm>
            <a:off x="6333590" y="4329296"/>
            <a:ext cx="614378" cy="399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B</a:t>
            </a:r>
            <a:endParaRPr lang="en-US" dirty="0"/>
          </a:p>
        </p:txBody>
      </p:sp>
      <p:cxnSp>
        <p:nvCxnSpPr>
          <p:cNvPr id="22" name="Conector de seta reta 21"/>
          <p:cNvCxnSpPr>
            <a:stCxn id="21" idx="3"/>
          </p:cNvCxnSpPr>
          <p:nvPr/>
        </p:nvCxnSpPr>
        <p:spPr>
          <a:xfrm>
            <a:off x="6947968" y="4529137"/>
            <a:ext cx="383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ângulo 26"/>
          <p:cNvSpPr/>
          <p:nvPr/>
        </p:nvSpPr>
        <p:spPr>
          <a:xfrm>
            <a:off x="6333590" y="4848440"/>
            <a:ext cx="614378" cy="399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</a:t>
            </a:r>
            <a:endParaRPr lang="en-US" dirty="0"/>
          </a:p>
        </p:txBody>
      </p:sp>
      <p:cxnSp>
        <p:nvCxnSpPr>
          <p:cNvPr id="28" name="Conector de seta reta 27"/>
          <p:cNvCxnSpPr>
            <a:stCxn id="27" idx="3"/>
          </p:cNvCxnSpPr>
          <p:nvPr/>
        </p:nvCxnSpPr>
        <p:spPr>
          <a:xfrm>
            <a:off x="6947968" y="5048281"/>
            <a:ext cx="383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tângulo 29"/>
          <p:cNvSpPr/>
          <p:nvPr/>
        </p:nvSpPr>
        <p:spPr>
          <a:xfrm>
            <a:off x="6333590" y="5369014"/>
            <a:ext cx="614378" cy="399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D</a:t>
            </a:r>
            <a:endParaRPr lang="en-US" dirty="0"/>
          </a:p>
        </p:txBody>
      </p:sp>
      <p:cxnSp>
        <p:nvCxnSpPr>
          <p:cNvPr id="31" name="Conector de seta reta 30"/>
          <p:cNvCxnSpPr>
            <a:stCxn id="30" idx="3"/>
          </p:cNvCxnSpPr>
          <p:nvPr/>
        </p:nvCxnSpPr>
        <p:spPr>
          <a:xfrm>
            <a:off x="6947968" y="5568855"/>
            <a:ext cx="383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luxograma: Somador 37"/>
          <p:cNvSpPr/>
          <p:nvPr/>
        </p:nvSpPr>
        <p:spPr>
          <a:xfrm>
            <a:off x="7331945" y="5382493"/>
            <a:ext cx="383986" cy="386202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tângulo 38"/>
          <p:cNvSpPr/>
          <p:nvPr/>
        </p:nvSpPr>
        <p:spPr>
          <a:xfrm>
            <a:off x="6333590" y="5895056"/>
            <a:ext cx="614378" cy="399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E</a:t>
            </a:r>
            <a:endParaRPr lang="en-US" dirty="0"/>
          </a:p>
        </p:txBody>
      </p:sp>
      <p:cxnSp>
        <p:nvCxnSpPr>
          <p:cNvPr id="40" name="Conector de seta reta 39"/>
          <p:cNvCxnSpPr>
            <a:stCxn id="39" idx="3"/>
          </p:cNvCxnSpPr>
          <p:nvPr/>
        </p:nvCxnSpPr>
        <p:spPr>
          <a:xfrm>
            <a:off x="6947968" y="6094897"/>
            <a:ext cx="383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Fluxograma: Somador 57"/>
          <p:cNvSpPr/>
          <p:nvPr/>
        </p:nvSpPr>
        <p:spPr>
          <a:xfrm>
            <a:off x="7333431" y="5909805"/>
            <a:ext cx="383986" cy="386202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luxograma: Somador 58"/>
          <p:cNvSpPr/>
          <p:nvPr/>
        </p:nvSpPr>
        <p:spPr>
          <a:xfrm>
            <a:off x="7331945" y="4876293"/>
            <a:ext cx="383986" cy="386202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uxograma: Somador 59"/>
          <p:cNvSpPr/>
          <p:nvPr/>
        </p:nvSpPr>
        <p:spPr>
          <a:xfrm>
            <a:off x="7342366" y="4346624"/>
            <a:ext cx="383986" cy="386202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upo 31"/>
          <p:cNvGrpSpPr/>
          <p:nvPr/>
        </p:nvGrpSpPr>
        <p:grpSpPr>
          <a:xfrm>
            <a:off x="7331945" y="3789040"/>
            <a:ext cx="731165" cy="399681"/>
            <a:chOff x="7750596" y="3176972"/>
            <a:chExt cx="936104" cy="396044"/>
          </a:xfrm>
        </p:grpSpPr>
        <p:sp>
          <p:nvSpPr>
            <p:cNvPr id="33" name="Retângulo 32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tângulo 33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CaixaDeTexto 34"/>
          <p:cNvSpPr txBox="1"/>
          <p:nvPr/>
        </p:nvSpPr>
        <p:spPr>
          <a:xfrm>
            <a:off x="7416318" y="3802519"/>
            <a:ext cx="562436" cy="372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B</a:t>
            </a:r>
            <a:endParaRPr lang="en-US" dirty="0"/>
          </a:p>
        </p:txBody>
      </p:sp>
      <p:sp>
        <p:nvSpPr>
          <p:cNvPr id="41" name="Espaço Reservado para Conteúdo 5"/>
          <p:cNvSpPr txBox="1">
            <a:spLocks/>
          </p:cNvSpPr>
          <p:nvPr/>
        </p:nvSpPr>
        <p:spPr>
          <a:xfrm>
            <a:off x="333772" y="114663"/>
            <a:ext cx="10657184" cy="3980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Implementação em C/C++ com </a:t>
            </a:r>
            <a:r>
              <a:rPr lang="pt-BR" dirty="0">
                <a:solidFill>
                  <a:schemeClr val="accent2"/>
                </a:solidFill>
              </a:rPr>
              <a:t>L</a:t>
            </a:r>
            <a:r>
              <a:rPr lang="pt-BR" dirty="0" smtClean="0">
                <a:solidFill>
                  <a:schemeClr val="accent2"/>
                </a:solidFill>
              </a:rPr>
              <a:t>ista </a:t>
            </a:r>
            <a:r>
              <a:rPr lang="pt-BR" dirty="0">
                <a:solidFill>
                  <a:schemeClr val="accent2"/>
                </a:solidFill>
              </a:rPr>
              <a:t>L</a:t>
            </a:r>
            <a:r>
              <a:rPr lang="pt-BR" dirty="0" smtClean="0">
                <a:solidFill>
                  <a:schemeClr val="accent2"/>
                </a:solidFill>
              </a:rPr>
              <a:t>igada </a:t>
            </a:r>
            <a:endParaRPr lang="pt-B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1727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205374" y="2276872"/>
            <a:ext cx="3430117" cy="1800200"/>
          </a:xfrm>
        </p:spPr>
        <p:txBody>
          <a:bodyPr rtlCol="0">
            <a:noAutofit/>
          </a:bodyPr>
          <a:lstStyle/>
          <a:p>
            <a:pPr rtl="0"/>
            <a:r>
              <a:rPr lang="pt-BR" sz="3600" b="1" dirty="0" smtClean="0"/>
              <a:t>Tratamento e Implementação de Grafos</a:t>
            </a:r>
            <a:endParaRPr lang="pt-BR" sz="3600" b="1" dirty="0"/>
          </a:p>
        </p:txBody>
      </p:sp>
      <p:sp>
        <p:nvSpPr>
          <p:cNvPr id="2" name="CaixaDeTexto 1"/>
          <p:cNvSpPr txBox="1"/>
          <p:nvPr/>
        </p:nvSpPr>
        <p:spPr>
          <a:xfrm>
            <a:off x="205374" y="4077072"/>
            <a:ext cx="3008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</a:rPr>
              <a:t>Lista de Adjacências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4222204" y="899428"/>
            <a:ext cx="20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Inserção de Arestas</a:t>
            </a:r>
            <a:endParaRPr lang="en-US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24" y="1340768"/>
            <a:ext cx="7992888" cy="2196627"/>
          </a:xfrm>
          <a:prstGeom prst="rect">
            <a:avLst/>
          </a:prstGeom>
        </p:spPr>
      </p:pic>
      <p:pic>
        <p:nvPicPr>
          <p:cNvPr id="11" name="Picture 8" descr="Uma visão geral do funcionamento de grafos em estruturas de dados ⋆ Big  Data Week São Paulo"/>
          <p:cNvPicPr>
            <a:picLocks noChangeAspect="1" noChangeArrowheads="1"/>
          </p:cNvPicPr>
          <p:nvPr/>
        </p:nvPicPr>
        <p:blipFill rotWithShape="1"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22" r="35805" b="18658"/>
          <a:stretch/>
        </p:blipFill>
        <p:spPr bwMode="auto">
          <a:xfrm>
            <a:off x="3635490" y="3866398"/>
            <a:ext cx="2205567" cy="2034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tângulo 11"/>
          <p:cNvSpPr/>
          <p:nvPr/>
        </p:nvSpPr>
        <p:spPr>
          <a:xfrm>
            <a:off x="6333590" y="3789040"/>
            <a:ext cx="614378" cy="399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</a:t>
            </a:r>
            <a:endParaRPr lang="en-US" dirty="0"/>
          </a:p>
        </p:txBody>
      </p:sp>
      <p:cxnSp>
        <p:nvCxnSpPr>
          <p:cNvPr id="13" name="Conector de seta reta 12"/>
          <p:cNvCxnSpPr>
            <a:stCxn id="12" idx="3"/>
          </p:cNvCxnSpPr>
          <p:nvPr/>
        </p:nvCxnSpPr>
        <p:spPr>
          <a:xfrm>
            <a:off x="6947968" y="3988881"/>
            <a:ext cx="383977" cy="1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/>
          <p:nvPr/>
        </p:nvCxnSpPr>
        <p:spPr>
          <a:xfrm>
            <a:off x="8072839" y="4002359"/>
            <a:ext cx="383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uxograma: Somador 19"/>
          <p:cNvSpPr/>
          <p:nvPr/>
        </p:nvSpPr>
        <p:spPr>
          <a:xfrm>
            <a:off x="8477549" y="3815190"/>
            <a:ext cx="383986" cy="386202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tângulo 20"/>
          <p:cNvSpPr/>
          <p:nvPr/>
        </p:nvSpPr>
        <p:spPr>
          <a:xfrm>
            <a:off x="6333590" y="4329296"/>
            <a:ext cx="614378" cy="399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B</a:t>
            </a:r>
            <a:endParaRPr lang="en-US" dirty="0"/>
          </a:p>
        </p:txBody>
      </p:sp>
      <p:cxnSp>
        <p:nvCxnSpPr>
          <p:cNvPr id="22" name="Conector de seta reta 21"/>
          <p:cNvCxnSpPr>
            <a:stCxn id="21" idx="3"/>
          </p:cNvCxnSpPr>
          <p:nvPr/>
        </p:nvCxnSpPr>
        <p:spPr>
          <a:xfrm>
            <a:off x="6947968" y="4529137"/>
            <a:ext cx="383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ângulo 26"/>
          <p:cNvSpPr/>
          <p:nvPr/>
        </p:nvSpPr>
        <p:spPr>
          <a:xfrm>
            <a:off x="6333590" y="4848440"/>
            <a:ext cx="614378" cy="399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</a:t>
            </a:r>
            <a:endParaRPr lang="en-US" dirty="0"/>
          </a:p>
        </p:txBody>
      </p:sp>
      <p:cxnSp>
        <p:nvCxnSpPr>
          <p:cNvPr id="28" name="Conector de seta reta 27"/>
          <p:cNvCxnSpPr>
            <a:stCxn id="27" idx="3"/>
          </p:cNvCxnSpPr>
          <p:nvPr/>
        </p:nvCxnSpPr>
        <p:spPr>
          <a:xfrm>
            <a:off x="6947968" y="5048281"/>
            <a:ext cx="383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tângulo 29"/>
          <p:cNvSpPr/>
          <p:nvPr/>
        </p:nvSpPr>
        <p:spPr>
          <a:xfrm>
            <a:off x="6333590" y="5369014"/>
            <a:ext cx="614378" cy="399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D</a:t>
            </a:r>
            <a:endParaRPr lang="en-US" dirty="0"/>
          </a:p>
        </p:txBody>
      </p:sp>
      <p:cxnSp>
        <p:nvCxnSpPr>
          <p:cNvPr id="31" name="Conector de seta reta 30"/>
          <p:cNvCxnSpPr>
            <a:stCxn id="30" idx="3"/>
          </p:cNvCxnSpPr>
          <p:nvPr/>
        </p:nvCxnSpPr>
        <p:spPr>
          <a:xfrm>
            <a:off x="6947968" y="5568855"/>
            <a:ext cx="383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luxograma: Somador 37"/>
          <p:cNvSpPr/>
          <p:nvPr/>
        </p:nvSpPr>
        <p:spPr>
          <a:xfrm>
            <a:off x="7331945" y="5382493"/>
            <a:ext cx="383986" cy="386202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tângulo 38"/>
          <p:cNvSpPr/>
          <p:nvPr/>
        </p:nvSpPr>
        <p:spPr>
          <a:xfrm>
            <a:off x="6333590" y="5895056"/>
            <a:ext cx="614378" cy="399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E</a:t>
            </a:r>
            <a:endParaRPr lang="en-US" dirty="0"/>
          </a:p>
        </p:txBody>
      </p:sp>
      <p:cxnSp>
        <p:nvCxnSpPr>
          <p:cNvPr id="40" name="Conector de seta reta 39"/>
          <p:cNvCxnSpPr>
            <a:stCxn id="39" idx="3"/>
          </p:cNvCxnSpPr>
          <p:nvPr/>
        </p:nvCxnSpPr>
        <p:spPr>
          <a:xfrm>
            <a:off x="6947968" y="6094897"/>
            <a:ext cx="383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Fluxograma: Somador 57"/>
          <p:cNvSpPr/>
          <p:nvPr/>
        </p:nvSpPr>
        <p:spPr>
          <a:xfrm>
            <a:off x="7333431" y="5909805"/>
            <a:ext cx="383986" cy="386202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luxograma: Somador 58"/>
          <p:cNvSpPr/>
          <p:nvPr/>
        </p:nvSpPr>
        <p:spPr>
          <a:xfrm>
            <a:off x="7331945" y="4876293"/>
            <a:ext cx="383986" cy="386202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uxograma: Somador 59"/>
          <p:cNvSpPr/>
          <p:nvPr/>
        </p:nvSpPr>
        <p:spPr>
          <a:xfrm>
            <a:off x="7342366" y="4346624"/>
            <a:ext cx="383986" cy="386202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upo 31"/>
          <p:cNvGrpSpPr/>
          <p:nvPr/>
        </p:nvGrpSpPr>
        <p:grpSpPr>
          <a:xfrm>
            <a:off x="7331945" y="3789040"/>
            <a:ext cx="731165" cy="399681"/>
            <a:chOff x="7750596" y="3176972"/>
            <a:chExt cx="936104" cy="396044"/>
          </a:xfrm>
        </p:grpSpPr>
        <p:sp>
          <p:nvSpPr>
            <p:cNvPr id="33" name="Retângulo 32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tângulo 33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CaixaDeTexto 34"/>
          <p:cNvSpPr txBox="1"/>
          <p:nvPr/>
        </p:nvSpPr>
        <p:spPr>
          <a:xfrm>
            <a:off x="7416318" y="3802519"/>
            <a:ext cx="562436" cy="372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B</a:t>
            </a:r>
            <a:endParaRPr lang="en-US" dirty="0"/>
          </a:p>
        </p:txBody>
      </p:sp>
      <p:grpSp>
        <p:nvGrpSpPr>
          <p:cNvPr id="17" name="Grupo 16"/>
          <p:cNvGrpSpPr/>
          <p:nvPr/>
        </p:nvGrpSpPr>
        <p:grpSpPr>
          <a:xfrm>
            <a:off x="9956161" y="3494710"/>
            <a:ext cx="1576534" cy="1031740"/>
            <a:chOff x="9956161" y="3494710"/>
            <a:chExt cx="1576534" cy="1031740"/>
          </a:xfrm>
        </p:grpSpPr>
        <p:grpSp>
          <p:nvGrpSpPr>
            <p:cNvPr id="14" name="Grupo 13"/>
            <p:cNvGrpSpPr/>
            <p:nvPr/>
          </p:nvGrpSpPr>
          <p:grpSpPr>
            <a:xfrm>
              <a:off x="10041798" y="4111520"/>
              <a:ext cx="731165" cy="399681"/>
              <a:chOff x="7750596" y="3176972"/>
              <a:chExt cx="936104" cy="396044"/>
            </a:xfrm>
          </p:grpSpPr>
          <p:sp>
            <p:nvSpPr>
              <p:cNvPr id="55" name="Retângulo 54"/>
              <p:cNvSpPr/>
              <p:nvPr/>
            </p:nvSpPr>
            <p:spPr>
              <a:xfrm>
                <a:off x="7750596" y="3176972"/>
                <a:ext cx="93610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tângulo 56"/>
              <p:cNvSpPr/>
              <p:nvPr/>
            </p:nvSpPr>
            <p:spPr>
              <a:xfrm>
                <a:off x="8470676" y="3176972"/>
                <a:ext cx="21602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CaixaDeTexto 14"/>
            <p:cNvSpPr txBox="1"/>
            <p:nvPr/>
          </p:nvSpPr>
          <p:spPr>
            <a:xfrm>
              <a:off x="10126171" y="4124999"/>
              <a:ext cx="562436" cy="3727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B</a:t>
              </a:r>
              <a:endParaRPr lang="en-US" dirty="0"/>
            </a:p>
          </p:txBody>
        </p:sp>
        <p:sp>
          <p:nvSpPr>
            <p:cNvPr id="4" name="CaixaDeTexto 3"/>
            <p:cNvSpPr txBox="1"/>
            <p:nvPr/>
          </p:nvSpPr>
          <p:spPr>
            <a:xfrm>
              <a:off x="9956161" y="3494710"/>
              <a:ext cx="732446" cy="3693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pt-BR" dirty="0" smtClean="0"/>
                <a:t>temp</a:t>
              </a:r>
              <a:endParaRPr lang="en-US" dirty="0"/>
            </a:p>
          </p:txBody>
        </p:sp>
        <p:cxnSp>
          <p:nvCxnSpPr>
            <p:cNvPr id="36" name="Conector de seta reta 35"/>
            <p:cNvCxnSpPr/>
            <p:nvPr/>
          </p:nvCxnSpPr>
          <p:spPr>
            <a:xfrm>
              <a:off x="10754994" y="4294601"/>
              <a:ext cx="3839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Fluxograma: Somador 36"/>
            <p:cNvSpPr/>
            <p:nvPr/>
          </p:nvSpPr>
          <p:spPr>
            <a:xfrm>
              <a:off x="11148709" y="4140248"/>
              <a:ext cx="383986" cy="386202"/>
            </a:xfrm>
            <a:prstGeom prst="flowChartSummingJunct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Conector de seta reta 8"/>
            <p:cNvCxnSpPr>
              <a:stCxn id="4" idx="2"/>
              <a:endCxn id="15" idx="0"/>
            </p:cNvCxnSpPr>
            <p:nvPr/>
          </p:nvCxnSpPr>
          <p:spPr>
            <a:xfrm>
              <a:off x="10322384" y="3864042"/>
              <a:ext cx="85005" cy="2609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Espaço Reservado para Conteúdo 5"/>
          <p:cNvSpPr txBox="1">
            <a:spLocks/>
          </p:cNvSpPr>
          <p:nvPr/>
        </p:nvSpPr>
        <p:spPr>
          <a:xfrm>
            <a:off x="333772" y="114663"/>
            <a:ext cx="10657184" cy="3980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Implementação em C/C++ com </a:t>
            </a:r>
            <a:r>
              <a:rPr lang="pt-BR" dirty="0">
                <a:solidFill>
                  <a:schemeClr val="accent2"/>
                </a:solidFill>
              </a:rPr>
              <a:t>L</a:t>
            </a:r>
            <a:r>
              <a:rPr lang="pt-BR" dirty="0" smtClean="0">
                <a:solidFill>
                  <a:schemeClr val="accent2"/>
                </a:solidFill>
              </a:rPr>
              <a:t>ista </a:t>
            </a:r>
            <a:r>
              <a:rPr lang="pt-BR" dirty="0">
                <a:solidFill>
                  <a:schemeClr val="accent2"/>
                </a:solidFill>
              </a:rPr>
              <a:t>L</a:t>
            </a:r>
            <a:r>
              <a:rPr lang="pt-BR" dirty="0" smtClean="0">
                <a:solidFill>
                  <a:schemeClr val="accent2"/>
                </a:solidFill>
              </a:rPr>
              <a:t>igada </a:t>
            </a:r>
            <a:endParaRPr lang="pt-B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039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205374" y="2276872"/>
            <a:ext cx="3430117" cy="1800200"/>
          </a:xfrm>
        </p:spPr>
        <p:txBody>
          <a:bodyPr rtlCol="0">
            <a:noAutofit/>
          </a:bodyPr>
          <a:lstStyle/>
          <a:p>
            <a:pPr rtl="0"/>
            <a:r>
              <a:rPr lang="pt-BR" sz="3600" b="1" dirty="0" smtClean="0"/>
              <a:t>Tratamento e Implementação de Grafos</a:t>
            </a:r>
            <a:endParaRPr lang="pt-BR" sz="3600" b="1" dirty="0"/>
          </a:p>
        </p:txBody>
      </p:sp>
      <p:sp>
        <p:nvSpPr>
          <p:cNvPr id="2" name="CaixaDeTexto 1"/>
          <p:cNvSpPr txBox="1"/>
          <p:nvPr/>
        </p:nvSpPr>
        <p:spPr>
          <a:xfrm>
            <a:off x="205374" y="4077072"/>
            <a:ext cx="3008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</a:rPr>
              <a:t>Lista de Adjacências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4222204" y="899428"/>
            <a:ext cx="20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Inserção de Arestas</a:t>
            </a:r>
            <a:endParaRPr lang="en-US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24" y="1340768"/>
            <a:ext cx="7992888" cy="2196627"/>
          </a:xfrm>
          <a:prstGeom prst="rect">
            <a:avLst/>
          </a:prstGeom>
        </p:spPr>
      </p:pic>
      <p:pic>
        <p:nvPicPr>
          <p:cNvPr id="11" name="Picture 8" descr="Uma visão geral do funcionamento de grafos em estruturas de dados ⋆ Big  Data Week São Paulo"/>
          <p:cNvPicPr>
            <a:picLocks noChangeAspect="1" noChangeArrowheads="1"/>
          </p:cNvPicPr>
          <p:nvPr/>
        </p:nvPicPr>
        <p:blipFill rotWithShape="1"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22" r="35805" b="18658"/>
          <a:stretch/>
        </p:blipFill>
        <p:spPr bwMode="auto">
          <a:xfrm>
            <a:off x="3635490" y="3866398"/>
            <a:ext cx="2205567" cy="2034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tângulo 11"/>
          <p:cNvSpPr/>
          <p:nvPr/>
        </p:nvSpPr>
        <p:spPr>
          <a:xfrm>
            <a:off x="6333590" y="3789040"/>
            <a:ext cx="614378" cy="399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</a:t>
            </a:r>
            <a:endParaRPr lang="en-US" dirty="0"/>
          </a:p>
        </p:txBody>
      </p:sp>
      <p:cxnSp>
        <p:nvCxnSpPr>
          <p:cNvPr id="13" name="Conector de seta reta 12"/>
          <p:cNvCxnSpPr>
            <a:stCxn id="12" idx="3"/>
          </p:cNvCxnSpPr>
          <p:nvPr/>
        </p:nvCxnSpPr>
        <p:spPr>
          <a:xfrm>
            <a:off x="6947968" y="3988881"/>
            <a:ext cx="383977" cy="1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6333590" y="4329296"/>
            <a:ext cx="614378" cy="399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B</a:t>
            </a:r>
            <a:endParaRPr lang="en-US" dirty="0"/>
          </a:p>
        </p:txBody>
      </p:sp>
      <p:cxnSp>
        <p:nvCxnSpPr>
          <p:cNvPr id="22" name="Conector de seta reta 21"/>
          <p:cNvCxnSpPr>
            <a:stCxn id="21" idx="3"/>
          </p:cNvCxnSpPr>
          <p:nvPr/>
        </p:nvCxnSpPr>
        <p:spPr>
          <a:xfrm>
            <a:off x="6947968" y="4529137"/>
            <a:ext cx="383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ângulo 26"/>
          <p:cNvSpPr/>
          <p:nvPr/>
        </p:nvSpPr>
        <p:spPr>
          <a:xfrm>
            <a:off x="6333590" y="4848440"/>
            <a:ext cx="614378" cy="399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</a:t>
            </a:r>
            <a:endParaRPr lang="en-US" dirty="0"/>
          </a:p>
        </p:txBody>
      </p:sp>
      <p:cxnSp>
        <p:nvCxnSpPr>
          <p:cNvPr id="28" name="Conector de seta reta 27"/>
          <p:cNvCxnSpPr>
            <a:stCxn id="27" idx="3"/>
          </p:cNvCxnSpPr>
          <p:nvPr/>
        </p:nvCxnSpPr>
        <p:spPr>
          <a:xfrm>
            <a:off x="6947968" y="5048281"/>
            <a:ext cx="383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tângulo 29"/>
          <p:cNvSpPr/>
          <p:nvPr/>
        </p:nvSpPr>
        <p:spPr>
          <a:xfrm>
            <a:off x="6333590" y="5369014"/>
            <a:ext cx="614378" cy="399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D</a:t>
            </a:r>
            <a:endParaRPr lang="en-US" dirty="0"/>
          </a:p>
        </p:txBody>
      </p:sp>
      <p:cxnSp>
        <p:nvCxnSpPr>
          <p:cNvPr id="31" name="Conector de seta reta 30"/>
          <p:cNvCxnSpPr>
            <a:stCxn id="30" idx="3"/>
          </p:cNvCxnSpPr>
          <p:nvPr/>
        </p:nvCxnSpPr>
        <p:spPr>
          <a:xfrm>
            <a:off x="6947968" y="5568855"/>
            <a:ext cx="383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luxograma: Somador 37"/>
          <p:cNvSpPr/>
          <p:nvPr/>
        </p:nvSpPr>
        <p:spPr>
          <a:xfrm>
            <a:off x="7331945" y="5382493"/>
            <a:ext cx="383986" cy="386202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tângulo 38"/>
          <p:cNvSpPr/>
          <p:nvPr/>
        </p:nvSpPr>
        <p:spPr>
          <a:xfrm>
            <a:off x="6333590" y="5895056"/>
            <a:ext cx="614378" cy="399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E</a:t>
            </a:r>
            <a:endParaRPr lang="en-US" dirty="0"/>
          </a:p>
        </p:txBody>
      </p:sp>
      <p:cxnSp>
        <p:nvCxnSpPr>
          <p:cNvPr id="40" name="Conector de seta reta 39"/>
          <p:cNvCxnSpPr>
            <a:stCxn id="39" idx="3"/>
          </p:cNvCxnSpPr>
          <p:nvPr/>
        </p:nvCxnSpPr>
        <p:spPr>
          <a:xfrm>
            <a:off x="6947968" y="6094897"/>
            <a:ext cx="383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Fluxograma: Somador 57"/>
          <p:cNvSpPr/>
          <p:nvPr/>
        </p:nvSpPr>
        <p:spPr>
          <a:xfrm>
            <a:off x="7333431" y="5909805"/>
            <a:ext cx="383986" cy="386202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luxograma: Somador 58"/>
          <p:cNvSpPr/>
          <p:nvPr/>
        </p:nvSpPr>
        <p:spPr>
          <a:xfrm>
            <a:off x="7331945" y="4876293"/>
            <a:ext cx="383986" cy="386202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uxograma: Somador 59"/>
          <p:cNvSpPr/>
          <p:nvPr/>
        </p:nvSpPr>
        <p:spPr>
          <a:xfrm>
            <a:off x="7342366" y="4346624"/>
            <a:ext cx="383986" cy="386202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upo 31"/>
          <p:cNvGrpSpPr/>
          <p:nvPr/>
        </p:nvGrpSpPr>
        <p:grpSpPr>
          <a:xfrm>
            <a:off x="7331945" y="3789040"/>
            <a:ext cx="731165" cy="399681"/>
            <a:chOff x="7750596" y="3176972"/>
            <a:chExt cx="936104" cy="396044"/>
          </a:xfrm>
        </p:grpSpPr>
        <p:sp>
          <p:nvSpPr>
            <p:cNvPr id="33" name="Retângulo 32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tângulo 33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upo 16"/>
          <p:cNvGrpSpPr/>
          <p:nvPr/>
        </p:nvGrpSpPr>
        <p:grpSpPr>
          <a:xfrm>
            <a:off x="9956161" y="3494710"/>
            <a:ext cx="1576534" cy="1031740"/>
            <a:chOff x="9956161" y="3494710"/>
            <a:chExt cx="1576534" cy="1031740"/>
          </a:xfrm>
        </p:grpSpPr>
        <p:grpSp>
          <p:nvGrpSpPr>
            <p:cNvPr id="14" name="Grupo 13"/>
            <p:cNvGrpSpPr/>
            <p:nvPr/>
          </p:nvGrpSpPr>
          <p:grpSpPr>
            <a:xfrm>
              <a:off x="10041798" y="4111520"/>
              <a:ext cx="731165" cy="399681"/>
              <a:chOff x="7750596" y="3176972"/>
              <a:chExt cx="936104" cy="396044"/>
            </a:xfrm>
          </p:grpSpPr>
          <p:sp>
            <p:nvSpPr>
              <p:cNvPr id="55" name="Retângulo 54"/>
              <p:cNvSpPr/>
              <p:nvPr/>
            </p:nvSpPr>
            <p:spPr>
              <a:xfrm>
                <a:off x="7750596" y="3176972"/>
                <a:ext cx="93610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tângulo 56"/>
              <p:cNvSpPr/>
              <p:nvPr/>
            </p:nvSpPr>
            <p:spPr>
              <a:xfrm>
                <a:off x="8470676" y="3176972"/>
                <a:ext cx="21602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CaixaDeTexto 14"/>
            <p:cNvSpPr txBox="1"/>
            <p:nvPr/>
          </p:nvSpPr>
          <p:spPr>
            <a:xfrm>
              <a:off x="10126171" y="4124999"/>
              <a:ext cx="562436" cy="3727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B</a:t>
              </a:r>
              <a:endParaRPr lang="en-US" dirty="0"/>
            </a:p>
          </p:txBody>
        </p:sp>
        <p:sp>
          <p:nvSpPr>
            <p:cNvPr id="4" name="CaixaDeTexto 3"/>
            <p:cNvSpPr txBox="1"/>
            <p:nvPr/>
          </p:nvSpPr>
          <p:spPr>
            <a:xfrm>
              <a:off x="9956161" y="3494710"/>
              <a:ext cx="732446" cy="3693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pt-BR" dirty="0" smtClean="0"/>
                <a:t>temp</a:t>
              </a:r>
              <a:endParaRPr lang="en-US" dirty="0"/>
            </a:p>
          </p:txBody>
        </p:sp>
        <p:cxnSp>
          <p:nvCxnSpPr>
            <p:cNvPr id="36" name="Conector de seta reta 35"/>
            <p:cNvCxnSpPr/>
            <p:nvPr/>
          </p:nvCxnSpPr>
          <p:spPr>
            <a:xfrm>
              <a:off x="10754994" y="4294601"/>
              <a:ext cx="3839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Fluxograma: Somador 36"/>
            <p:cNvSpPr/>
            <p:nvPr/>
          </p:nvSpPr>
          <p:spPr>
            <a:xfrm>
              <a:off x="11148709" y="4140248"/>
              <a:ext cx="383986" cy="386202"/>
            </a:xfrm>
            <a:prstGeom prst="flowChartSummingJunct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Conector de seta reta 8"/>
            <p:cNvCxnSpPr>
              <a:stCxn id="4" idx="2"/>
              <a:endCxn id="15" idx="0"/>
            </p:cNvCxnSpPr>
            <p:nvPr/>
          </p:nvCxnSpPr>
          <p:spPr>
            <a:xfrm>
              <a:off x="10322384" y="3864042"/>
              <a:ext cx="85005" cy="2609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Espaço Reservado para Conteúdo 5"/>
          <p:cNvSpPr txBox="1">
            <a:spLocks/>
          </p:cNvSpPr>
          <p:nvPr/>
        </p:nvSpPr>
        <p:spPr>
          <a:xfrm>
            <a:off x="333772" y="114663"/>
            <a:ext cx="10657184" cy="3980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Implementação em C/C++ com </a:t>
            </a:r>
            <a:r>
              <a:rPr lang="pt-BR" dirty="0">
                <a:solidFill>
                  <a:schemeClr val="accent2"/>
                </a:solidFill>
              </a:rPr>
              <a:t>L</a:t>
            </a:r>
            <a:r>
              <a:rPr lang="pt-BR" dirty="0" smtClean="0">
                <a:solidFill>
                  <a:schemeClr val="accent2"/>
                </a:solidFill>
              </a:rPr>
              <a:t>ista </a:t>
            </a:r>
            <a:r>
              <a:rPr lang="pt-BR" dirty="0">
                <a:solidFill>
                  <a:schemeClr val="accent2"/>
                </a:solidFill>
              </a:rPr>
              <a:t>L</a:t>
            </a:r>
            <a:r>
              <a:rPr lang="pt-BR" dirty="0" smtClean="0">
                <a:solidFill>
                  <a:schemeClr val="accent2"/>
                </a:solidFill>
              </a:rPr>
              <a:t>igada </a:t>
            </a:r>
            <a:endParaRPr lang="pt-B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8680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205374" y="2276872"/>
            <a:ext cx="3430117" cy="1800200"/>
          </a:xfrm>
        </p:spPr>
        <p:txBody>
          <a:bodyPr rtlCol="0">
            <a:noAutofit/>
          </a:bodyPr>
          <a:lstStyle/>
          <a:p>
            <a:pPr rtl="0"/>
            <a:r>
              <a:rPr lang="pt-BR" sz="3600" b="1" dirty="0" smtClean="0"/>
              <a:t>Tratamento e Implementação de Grafos</a:t>
            </a:r>
            <a:endParaRPr lang="pt-BR" sz="3600" b="1" dirty="0"/>
          </a:p>
        </p:txBody>
      </p:sp>
      <p:sp>
        <p:nvSpPr>
          <p:cNvPr id="2" name="CaixaDeTexto 1"/>
          <p:cNvSpPr txBox="1"/>
          <p:nvPr/>
        </p:nvSpPr>
        <p:spPr>
          <a:xfrm>
            <a:off x="205374" y="4077072"/>
            <a:ext cx="3008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</a:rPr>
              <a:t>Lista de Adjacências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4222204" y="899428"/>
            <a:ext cx="20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Inserção de Arestas</a:t>
            </a:r>
            <a:endParaRPr lang="en-US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24" y="1340768"/>
            <a:ext cx="7992888" cy="2196627"/>
          </a:xfrm>
          <a:prstGeom prst="rect">
            <a:avLst/>
          </a:prstGeom>
        </p:spPr>
      </p:pic>
      <p:pic>
        <p:nvPicPr>
          <p:cNvPr id="11" name="Picture 8" descr="Uma visão geral do funcionamento de grafos em estruturas de dados ⋆ Big  Data Week São Paulo"/>
          <p:cNvPicPr>
            <a:picLocks noChangeAspect="1" noChangeArrowheads="1"/>
          </p:cNvPicPr>
          <p:nvPr/>
        </p:nvPicPr>
        <p:blipFill rotWithShape="1"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22" r="35805" b="18658"/>
          <a:stretch/>
        </p:blipFill>
        <p:spPr bwMode="auto">
          <a:xfrm>
            <a:off x="3635490" y="3866398"/>
            <a:ext cx="2205567" cy="2034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tângulo 11"/>
          <p:cNvSpPr/>
          <p:nvPr/>
        </p:nvSpPr>
        <p:spPr>
          <a:xfrm>
            <a:off x="6333590" y="3789040"/>
            <a:ext cx="614378" cy="399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</a:t>
            </a:r>
            <a:endParaRPr lang="en-US" dirty="0"/>
          </a:p>
        </p:txBody>
      </p:sp>
      <p:cxnSp>
        <p:nvCxnSpPr>
          <p:cNvPr id="13" name="Conector de seta reta 12"/>
          <p:cNvCxnSpPr>
            <a:stCxn id="12" idx="3"/>
          </p:cNvCxnSpPr>
          <p:nvPr/>
        </p:nvCxnSpPr>
        <p:spPr>
          <a:xfrm>
            <a:off x="6947968" y="3988881"/>
            <a:ext cx="383977" cy="1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6333590" y="4329296"/>
            <a:ext cx="614378" cy="399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B</a:t>
            </a:r>
            <a:endParaRPr lang="en-US" dirty="0"/>
          </a:p>
        </p:txBody>
      </p:sp>
      <p:cxnSp>
        <p:nvCxnSpPr>
          <p:cNvPr id="22" name="Conector de seta reta 21"/>
          <p:cNvCxnSpPr>
            <a:stCxn id="21" idx="3"/>
          </p:cNvCxnSpPr>
          <p:nvPr/>
        </p:nvCxnSpPr>
        <p:spPr>
          <a:xfrm>
            <a:off x="6947968" y="4529137"/>
            <a:ext cx="383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ângulo 26"/>
          <p:cNvSpPr/>
          <p:nvPr/>
        </p:nvSpPr>
        <p:spPr>
          <a:xfrm>
            <a:off x="6333590" y="4848440"/>
            <a:ext cx="614378" cy="399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</a:t>
            </a:r>
            <a:endParaRPr lang="en-US" dirty="0"/>
          </a:p>
        </p:txBody>
      </p:sp>
      <p:cxnSp>
        <p:nvCxnSpPr>
          <p:cNvPr id="28" name="Conector de seta reta 27"/>
          <p:cNvCxnSpPr>
            <a:stCxn id="27" idx="3"/>
          </p:cNvCxnSpPr>
          <p:nvPr/>
        </p:nvCxnSpPr>
        <p:spPr>
          <a:xfrm>
            <a:off x="6947968" y="5048281"/>
            <a:ext cx="383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tângulo 29"/>
          <p:cNvSpPr/>
          <p:nvPr/>
        </p:nvSpPr>
        <p:spPr>
          <a:xfrm>
            <a:off x="6333590" y="5369014"/>
            <a:ext cx="614378" cy="399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D</a:t>
            </a:r>
            <a:endParaRPr lang="en-US" dirty="0"/>
          </a:p>
        </p:txBody>
      </p:sp>
      <p:cxnSp>
        <p:nvCxnSpPr>
          <p:cNvPr id="31" name="Conector de seta reta 30"/>
          <p:cNvCxnSpPr>
            <a:stCxn id="30" idx="3"/>
          </p:cNvCxnSpPr>
          <p:nvPr/>
        </p:nvCxnSpPr>
        <p:spPr>
          <a:xfrm>
            <a:off x="6947968" y="5568855"/>
            <a:ext cx="383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luxograma: Somador 37"/>
          <p:cNvSpPr/>
          <p:nvPr/>
        </p:nvSpPr>
        <p:spPr>
          <a:xfrm>
            <a:off x="7331945" y="5382493"/>
            <a:ext cx="383986" cy="386202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tângulo 38"/>
          <p:cNvSpPr/>
          <p:nvPr/>
        </p:nvSpPr>
        <p:spPr>
          <a:xfrm>
            <a:off x="6333590" y="5895056"/>
            <a:ext cx="614378" cy="399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E</a:t>
            </a:r>
            <a:endParaRPr lang="en-US" dirty="0"/>
          </a:p>
        </p:txBody>
      </p:sp>
      <p:cxnSp>
        <p:nvCxnSpPr>
          <p:cNvPr id="40" name="Conector de seta reta 39"/>
          <p:cNvCxnSpPr>
            <a:stCxn id="39" idx="3"/>
          </p:cNvCxnSpPr>
          <p:nvPr/>
        </p:nvCxnSpPr>
        <p:spPr>
          <a:xfrm>
            <a:off x="6947968" y="6094897"/>
            <a:ext cx="383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Fluxograma: Somador 57"/>
          <p:cNvSpPr/>
          <p:nvPr/>
        </p:nvSpPr>
        <p:spPr>
          <a:xfrm>
            <a:off x="7333431" y="5909805"/>
            <a:ext cx="383986" cy="386202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luxograma: Somador 58"/>
          <p:cNvSpPr/>
          <p:nvPr/>
        </p:nvSpPr>
        <p:spPr>
          <a:xfrm>
            <a:off x="7331945" y="4876293"/>
            <a:ext cx="383986" cy="386202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uxograma: Somador 59"/>
          <p:cNvSpPr/>
          <p:nvPr/>
        </p:nvSpPr>
        <p:spPr>
          <a:xfrm>
            <a:off x="7342366" y="4346624"/>
            <a:ext cx="383986" cy="386202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upo 31"/>
          <p:cNvGrpSpPr/>
          <p:nvPr/>
        </p:nvGrpSpPr>
        <p:grpSpPr>
          <a:xfrm>
            <a:off x="7331945" y="3789040"/>
            <a:ext cx="731165" cy="399681"/>
            <a:chOff x="7750596" y="3176972"/>
            <a:chExt cx="936104" cy="396044"/>
          </a:xfrm>
        </p:grpSpPr>
        <p:sp>
          <p:nvSpPr>
            <p:cNvPr id="33" name="Retângulo 32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tângulo 33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CaixaDeTexto 34"/>
          <p:cNvSpPr txBox="1"/>
          <p:nvPr/>
        </p:nvSpPr>
        <p:spPr>
          <a:xfrm>
            <a:off x="7416318" y="3802519"/>
            <a:ext cx="562436" cy="372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E</a:t>
            </a:r>
            <a:endParaRPr lang="en-US" dirty="0"/>
          </a:p>
        </p:txBody>
      </p:sp>
      <p:grpSp>
        <p:nvGrpSpPr>
          <p:cNvPr id="17" name="Grupo 16"/>
          <p:cNvGrpSpPr/>
          <p:nvPr/>
        </p:nvGrpSpPr>
        <p:grpSpPr>
          <a:xfrm>
            <a:off x="9956161" y="3494710"/>
            <a:ext cx="1576534" cy="1031740"/>
            <a:chOff x="9956161" y="3494710"/>
            <a:chExt cx="1576534" cy="1031740"/>
          </a:xfrm>
        </p:grpSpPr>
        <p:grpSp>
          <p:nvGrpSpPr>
            <p:cNvPr id="14" name="Grupo 13"/>
            <p:cNvGrpSpPr/>
            <p:nvPr/>
          </p:nvGrpSpPr>
          <p:grpSpPr>
            <a:xfrm>
              <a:off x="10041798" y="4111520"/>
              <a:ext cx="731165" cy="399681"/>
              <a:chOff x="7750596" y="3176972"/>
              <a:chExt cx="936104" cy="396044"/>
            </a:xfrm>
          </p:grpSpPr>
          <p:sp>
            <p:nvSpPr>
              <p:cNvPr id="55" name="Retângulo 54"/>
              <p:cNvSpPr/>
              <p:nvPr/>
            </p:nvSpPr>
            <p:spPr>
              <a:xfrm>
                <a:off x="7750596" y="3176972"/>
                <a:ext cx="93610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tângulo 56"/>
              <p:cNvSpPr/>
              <p:nvPr/>
            </p:nvSpPr>
            <p:spPr>
              <a:xfrm>
                <a:off x="8470676" y="3176972"/>
                <a:ext cx="21602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CaixaDeTexto 14"/>
            <p:cNvSpPr txBox="1"/>
            <p:nvPr/>
          </p:nvSpPr>
          <p:spPr>
            <a:xfrm>
              <a:off x="10126171" y="4124999"/>
              <a:ext cx="562436" cy="3727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B</a:t>
              </a:r>
              <a:endParaRPr lang="en-US" dirty="0"/>
            </a:p>
          </p:txBody>
        </p:sp>
        <p:sp>
          <p:nvSpPr>
            <p:cNvPr id="4" name="CaixaDeTexto 3"/>
            <p:cNvSpPr txBox="1"/>
            <p:nvPr/>
          </p:nvSpPr>
          <p:spPr>
            <a:xfrm>
              <a:off x="9956161" y="3494710"/>
              <a:ext cx="732446" cy="3693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pt-BR" dirty="0" smtClean="0"/>
                <a:t>temp</a:t>
              </a:r>
              <a:endParaRPr lang="en-US" dirty="0"/>
            </a:p>
          </p:txBody>
        </p:sp>
        <p:cxnSp>
          <p:nvCxnSpPr>
            <p:cNvPr id="36" name="Conector de seta reta 35"/>
            <p:cNvCxnSpPr/>
            <p:nvPr/>
          </p:nvCxnSpPr>
          <p:spPr>
            <a:xfrm>
              <a:off x="10754994" y="4294601"/>
              <a:ext cx="3839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Fluxograma: Somador 36"/>
            <p:cNvSpPr/>
            <p:nvPr/>
          </p:nvSpPr>
          <p:spPr>
            <a:xfrm>
              <a:off x="11148709" y="4140248"/>
              <a:ext cx="383986" cy="386202"/>
            </a:xfrm>
            <a:prstGeom prst="flowChartSummingJunct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Conector de seta reta 8"/>
            <p:cNvCxnSpPr>
              <a:stCxn id="4" idx="2"/>
              <a:endCxn id="15" idx="0"/>
            </p:cNvCxnSpPr>
            <p:nvPr/>
          </p:nvCxnSpPr>
          <p:spPr>
            <a:xfrm>
              <a:off x="10322384" y="3864042"/>
              <a:ext cx="85005" cy="2609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Espaço Reservado para Conteúdo 5"/>
          <p:cNvSpPr txBox="1">
            <a:spLocks/>
          </p:cNvSpPr>
          <p:nvPr/>
        </p:nvSpPr>
        <p:spPr>
          <a:xfrm>
            <a:off x="333772" y="114663"/>
            <a:ext cx="10657184" cy="3980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Implementação em C/C++ com </a:t>
            </a:r>
            <a:r>
              <a:rPr lang="pt-BR" dirty="0">
                <a:solidFill>
                  <a:schemeClr val="accent2"/>
                </a:solidFill>
              </a:rPr>
              <a:t>L</a:t>
            </a:r>
            <a:r>
              <a:rPr lang="pt-BR" dirty="0" smtClean="0">
                <a:solidFill>
                  <a:schemeClr val="accent2"/>
                </a:solidFill>
              </a:rPr>
              <a:t>ista </a:t>
            </a:r>
            <a:r>
              <a:rPr lang="pt-BR" dirty="0">
                <a:solidFill>
                  <a:schemeClr val="accent2"/>
                </a:solidFill>
              </a:rPr>
              <a:t>L</a:t>
            </a:r>
            <a:r>
              <a:rPr lang="pt-BR" dirty="0" smtClean="0">
                <a:solidFill>
                  <a:schemeClr val="accent2"/>
                </a:solidFill>
              </a:rPr>
              <a:t>igada </a:t>
            </a:r>
            <a:endParaRPr lang="pt-B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8927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205374" y="2276872"/>
            <a:ext cx="3430117" cy="1800200"/>
          </a:xfrm>
        </p:spPr>
        <p:txBody>
          <a:bodyPr rtlCol="0">
            <a:noAutofit/>
          </a:bodyPr>
          <a:lstStyle/>
          <a:p>
            <a:pPr rtl="0"/>
            <a:r>
              <a:rPr lang="pt-BR" sz="3600" b="1" dirty="0" smtClean="0"/>
              <a:t>Tratamento e Implementação de Grafos</a:t>
            </a:r>
            <a:endParaRPr lang="pt-BR" sz="3600" b="1" dirty="0"/>
          </a:p>
        </p:txBody>
      </p:sp>
      <p:sp>
        <p:nvSpPr>
          <p:cNvPr id="2" name="CaixaDeTexto 1"/>
          <p:cNvSpPr txBox="1"/>
          <p:nvPr/>
        </p:nvSpPr>
        <p:spPr>
          <a:xfrm>
            <a:off x="205374" y="4077072"/>
            <a:ext cx="3008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</a:rPr>
              <a:t>Lista de Adjacências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4222204" y="899428"/>
            <a:ext cx="20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Inserção de Arestas</a:t>
            </a:r>
            <a:endParaRPr lang="en-US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24" y="1340768"/>
            <a:ext cx="7992888" cy="2196627"/>
          </a:xfrm>
          <a:prstGeom prst="rect">
            <a:avLst/>
          </a:prstGeom>
        </p:spPr>
      </p:pic>
      <p:pic>
        <p:nvPicPr>
          <p:cNvPr id="11" name="Picture 8" descr="Uma visão geral do funcionamento de grafos em estruturas de dados ⋆ Big  Data Week São Paulo"/>
          <p:cNvPicPr>
            <a:picLocks noChangeAspect="1" noChangeArrowheads="1"/>
          </p:cNvPicPr>
          <p:nvPr/>
        </p:nvPicPr>
        <p:blipFill rotWithShape="1"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22" r="35805" b="18658"/>
          <a:stretch/>
        </p:blipFill>
        <p:spPr bwMode="auto">
          <a:xfrm>
            <a:off x="3635490" y="3866398"/>
            <a:ext cx="2205567" cy="2034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tângulo 11"/>
          <p:cNvSpPr/>
          <p:nvPr/>
        </p:nvSpPr>
        <p:spPr>
          <a:xfrm>
            <a:off x="6333590" y="3789040"/>
            <a:ext cx="614378" cy="399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</a:t>
            </a:r>
            <a:endParaRPr lang="en-US" dirty="0"/>
          </a:p>
        </p:txBody>
      </p:sp>
      <p:cxnSp>
        <p:nvCxnSpPr>
          <p:cNvPr id="13" name="Conector de seta reta 12"/>
          <p:cNvCxnSpPr>
            <a:stCxn id="12" idx="3"/>
          </p:cNvCxnSpPr>
          <p:nvPr/>
        </p:nvCxnSpPr>
        <p:spPr>
          <a:xfrm>
            <a:off x="6947968" y="3988881"/>
            <a:ext cx="383977" cy="1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6333590" y="4329296"/>
            <a:ext cx="614378" cy="399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B</a:t>
            </a:r>
            <a:endParaRPr lang="en-US" dirty="0"/>
          </a:p>
        </p:txBody>
      </p:sp>
      <p:cxnSp>
        <p:nvCxnSpPr>
          <p:cNvPr id="22" name="Conector de seta reta 21"/>
          <p:cNvCxnSpPr>
            <a:stCxn id="21" idx="3"/>
          </p:cNvCxnSpPr>
          <p:nvPr/>
        </p:nvCxnSpPr>
        <p:spPr>
          <a:xfrm>
            <a:off x="6947968" y="4529137"/>
            <a:ext cx="383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ângulo 26"/>
          <p:cNvSpPr/>
          <p:nvPr/>
        </p:nvSpPr>
        <p:spPr>
          <a:xfrm>
            <a:off x="6333590" y="4848440"/>
            <a:ext cx="614378" cy="399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</a:t>
            </a:r>
            <a:endParaRPr lang="en-US" dirty="0"/>
          </a:p>
        </p:txBody>
      </p:sp>
      <p:cxnSp>
        <p:nvCxnSpPr>
          <p:cNvPr id="28" name="Conector de seta reta 27"/>
          <p:cNvCxnSpPr>
            <a:stCxn id="27" idx="3"/>
          </p:cNvCxnSpPr>
          <p:nvPr/>
        </p:nvCxnSpPr>
        <p:spPr>
          <a:xfrm>
            <a:off x="6947968" y="5048281"/>
            <a:ext cx="383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tângulo 29"/>
          <p:cNvSpPr/>
          <p:nvPr/>
        </p:nvSpPr>
        <p:spPr>
          <a:xfrm>
            <a:off x="6333590" y="5369014"/>
            <a:ext cx="614378" cy="399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D</a:t>
            </a:r>
            <a:endParaRPr lang="en-US" dirty="0"/>
          </a:p>
        </p:txBody>
      </p:sp>
      <p:cxnSp>
        <p:nvCxnSpPr>
          <p:cNvPr id="31" name="Conector de seta reta 30"/>
          <p:cNvCxnSpPr>
            <a:stCxn id="30" idx="3"/>
          </p:cNvCxnSpPr>
          <p:nvPr/>
        </p:nvCxnSpPr>
        <p:spPr>
          <a:xfrm>
            <a:off x="6947968" y="5568855"/>
            <a:ext cx="383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luxograma: Somador 37"/>
          <p:cNvSpPr/>
          <p:nvPr/>
        </p:nvSpPr>
        <p:spPr>
          <a:xfrm>
            <a:off x="7331945" y="5382493"/>
            <a:ext cx="383986" cy="386202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tângulo 38"/>
          <p:cNvSpPr/>
          <p:nvPr/>
        </p:nvSpPr>
        <p:spPr>
          <a:xfrm>
            <a:off x="6333590" y="5895056"/>
            <a:ext cx="614378" cy="399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E</a:t>
            </a:r>
            <a:endParaRPr lang="en-US" dirty="0"/>
          </a:p>
        </p:txBody>
      </p:sp>
      <p:cxnSp>
        <p:nvCxnSpPr>
          <p:cNvPr id="40" name="Conector de seta reta 39"/>
          <p:cNvCxnSpPr>
            <a:stCxn id="39" idx="3"/>
          </p:cNvCxnSpPr>
          <p:nvPr/>
        </p:nvCxnSpPr>
        <p:spPr>
          <a:xfrm>
            <a:off x="6947968" y="6094897"/>
            <a:ext cx="383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Fluxograma: Somador 57"/>
          <p:cNvSpPr/>
          <p:nvPr/>
        </p:nvSpPr>
        <p:spPr>
          <a:xfrm>
            <a:off x="7333431" y="5909805"/>
            <a:ext cx="383986" cy="386202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luxograma: Somador 58"/>
          <p:cNvSpPr/>
          <p:nvPr/>
        </p:nvSpPr>
        <p:spPr>
          <a:xfrm>
            <a:off x="7331945" y="4876293"/>
            <a:ext cx="383986" cy="386202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uxograma: Somador 59"/>
          <p:cNvSpPr/>
          <p:nvPr/>
        </p:nvSpPr>
        <p:spPr>
          <a:xfrm>
            <a:off x="7342366" y="4346624"/>
            <a:ext cx="383986" cy="386202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upo 31"/>
          <p:cNvGrpSpPr/>
          <p:nvPr/>
        </p:nvGrpSpPr>
        <p:grpSpPr>
          <a:xfrm>
            <a:off x="7331945" y="3789040"/>
            <a:ext cx="731165" cy="399681"/>
            <a:chOff x="7750596" y="3176972"/>
            <a:chExt cx="936104" cy="396044"/>
          </a:xfrm>
        </p:grpSpPr>
        <p:sp>
          <p:nvSpPr>
            <p:cNvPr id="33" name="Retângulo 32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tângulo 33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CaixaDeTexto 34"/>
          <p:cNvSpPr txBox="1"/>
          <p:nvPr/>
        </p:nvSpPr>
        <p:spPr>
          <a:xfrm>
            <a:off x="7416318" y="3802519"/>
            <a:ext cx="562436" cy="372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E</a:t>
            </a:r>
            <a:endParaRPr lang="en-US" dirty="0"/>
          </a:p>
        </p:txBody>
      </p:sp>
      <p:grpSp>
        <p:nvGrpSpPr>
          <p:cNvPr id="17" name="Grupo 16"/>
          <p:cNvGrpSpPr/>
          <p:nvPr/>
        </p:nvGrpSpPr>
        <p:grpSpPr>
          <a:xfrm>
            <a:off x="9956161" y="3494710"/>
            <a:ext cx="1576534" cy="1031740"/>
            <a:chOff x="9956161" y="3494710"/>
            <a:chExt cx="1576534" cy="1031740"/>
          </a:xfrm>
        </p:grpSpPr>
        <p:grpSp>
          <p:nvGrpSpPr>
            <p:cNvPr id="14" name="Grupo 13"/>
            <p:cNvGrpSpPr/>
            <p:nvPr/>
          </p:nvGrpSpPr>
          <p:grpSpPr>
            <a:xfrm>
              <a:off x="10041798" y="4111520"/>
              <a:ext cx="731165" cy="399681"/>
              <a:chOff x="7750596" y="3176972"/>
              <a:chExt cx="936104" cy="396044"/>
            </a:xfrm>
          </p:grpSpPr>
          <p:sp>
            <p:nvSpPr>
              <p:cNvPr id="55" name="Retângulo 54"/>
              <p:cNvSpPr/>
              <p:nvPr/>
            </p:nvSpPr>
            <p:spPr>
              <a:xfrm>
                <a:off x="7750596" y="3176972"/>
                <a:ext cx="93610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tângulo 56"/>
              <p:cNvSpPr/>
              <p:nvPr/>
            </p:nvSpPr>
            <p:spPr>
              <a:xfrm>
                <a:off x="8470676" y="3176972"/>
                <a:ext cx="21602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CaixaDeTexto 14"/>
            <p:cNvSpPr txBox="1"/>
            <p:nvPr/>
          </p:nvSpPr>
          <p:spPr>
            <a:xfrm>
              <a:off x="10126171" y="4124999"/>
              <a:ext cx="562436" cy="3727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B</a:t>
              </a:r>
              <a:endParaRPr lang="en-US" dirty="0"/>
            </a:p>
          </p:txBody>
        </p:sp>
        <p:sp>
          <p:nvSpPr>
            <p:cNvPr id="4" name="CaixaDeTexto 3"/>
            <p:cNvSpPr txBox="1"/>
            <p:nvPr/>
          </p:nvSpPr>
          <p:spPr>
            <a:xfrm>
              <a:off x="9956161" y="3494710"/>
              <a:ext cx="732446" cy="3693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pt-BR" dirty="0" smtClean="0"/>
                <a:t>temp</a:t>
              </a:r>
              <a:endParaRPr lang="en-US" dirty="0"/>
            </a:p>
          </p:txBody>
        </p:sp>
        <p:cxnSp>
          <p:nvCxnSpPr>
            <p:cNvPr id="36" name="Conector de seta reta 35"/>
            <p:cNvCxnSpPr/>
            <p:nvPr/>
          </p:nvCxnSpPr>
          <p:spPr>
            <a:xfrm>
              <a:off x="10754994" y="4294601"/>
              <a:ext cx="3839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Fluxograma: Somador 36"/>
            <p:cNvSpPr/>
            <p:nvPr/>
          </p:nvSpPr>
          <p:spPr>
            <a:xfrm>
              <a:off x="11148709" y="4140248"/>
              <a:ext cx="383986" cy="386202"/>
            </a:xfrm>
            <a:prstGeom prst="flowChartSummingJunct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Conector de seta reta 8"/>
            <p:cNvCxnSpPr>
              <a:stCxn id="4" idx="2"/>
              <a:endCxn id="15" idx="0"/>
            </p:cNvCxnSpPr>
            <p:nvPr/>
          </p:nvCxnSpPr>
          <p:spPr>
            <a:xfrm>
              <a:off x="10322384" y="3864042"/>
              <a:ext cx="85005" cy="2609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CaixaDeTexto 40"/>
          <p:cNvSpPr txBox="1"/>
          <p:nvPr/>
        </p:nvSpPr>
        <p:spPr>
          <a:xfrm>
            <a:off x="8425402" y="3802519"/>
            <a:ext cx="73244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temp</a:t>
            </a:r>
            <a:endParaRPr lang="en-US" dirty="0"/>
          </a:p>
        </p:txBody>
      </p:sp>
      <p:cxnSp>
        <p:nvCxnSpPr>
          <p:cNvPr id="42" name="Conector de seta reta 41"/>
          <p:cNvCxnSpPr/>
          <p:nvPr/>
        </p:nvCxnSpPr>
        <p:spPr>
          <a:xfrm>
            <a:off x="8041425" y="3987423"/>
            <a:ext cx="383977" cy="1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Espaço Reservado para Conteúdo 5"/>
          <p:cNvSpPr txBox="1">
            <a:spLocks/>
          </p:cNvSpPr>
          <p:nvPr/>
        </p:nvSpPr>
        <p:spPr>
          <a:xfrm>
            <a:off x="333772" y="114663"/>
            <a:ext cx="10657184" cy="3980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Implementação em C/C++ com </a:t>
            </a:r>
            <a:r>
              <a:rPr lang="pt-BR" dirty="0">
                <a:solidFill>
                  <a:schemeClr val="accent2"/>
                </a:solidFill>
              </a:rPr>
              <a:t>L</a:t>
            </a:r>
            <a:r>
              <a:rPr lang="pt-BR" dirty="0" smtClean="0">
                <a:solidFill>
                  <a:schemeClr val="accent2"/>
                </a:solidFill>
              </a:rPr>
              <a:t>ista </a:t>
            </a:r>
            <a:r>
              <a:rPr lang="pt-BR" dirty="0">
                <a:solidFill>
                  <a:schemeClr val="accent2"/>
                </a:solidFill>
              </a:rPr>
              <a:t>L</a:t>
            </a:r>
            <a:r>
              <a:rPr lang="pt-BR" dirty="0" smtClean="0">
                <a:solidFill>
                  <a:schemeClr val="accent2"/>
                </a:solidFill>
              </a:rPr>
              <a:t>igada </a:t>
            </a:r>
            <a:endParaRPr lang="pt-B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1903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205374" y="2276872"/>
            <a:ext cx="3430117" cy="1800200"/>
          </a:xfrm>
        </p:spPr>
        <p:txBody>
          <a:bodyPr rtlCol="0">
            <a:noAutofit/>
          </a:bodyPr>
          <a:lstStyle/>
          <a:p>
            <a:pPr rtl="0"/>
            <a:r>
              <a:rPr lang="pt-BR" sz="3600" b="1" dirty="0" smtClean="0"/>
              <a:t>Tratamento e Implementação de Grafos</a:t>
            </a:r>
            <a:endParaRPr lang="pt-BR" sz="3600" b="1" dirty="0"/>
          </a:p>
        </p:txBody>
      </p:sp>
      <p:sp>
        <p:nvSpPr>
          <p:cNvPr id="2" name="CaixaDeTexto 1"/>
          <p:cNvSpPr txBox="1"/>
          <p:nvPr/>
        </p:nvSpPr>
        <p:spPr>
          <a:xfrm>
            <a:off x="205374" y="4077072"/>
            <a:ext cx="3008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</a:rPr>
              <a:t>Lista de Adjacências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4222204" y="899428"/>
            <a:ext cx="20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Inserção de Arestas</a:t>
            </a:r>
            <a:endParaRPr lang="en-US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24" y="1340768"/>
            <a:ext cx="7992888" cy="2196627"/>
          </a:xfrm>
          <a:prstGeom prst="rect">
            <a:avLst/>
          </a:prstGeom>
        </p:spPr>
      </p:pic>
      <p:pic>
        <p:nvPicPr>
          <p:cNvPr id="11" name="Picture 8" descr="Uma visão geral do funcionamento de grafos em estruturas de dados ⋆ Big  Data Week São Paulo"/>
          <p:cNvPicPr>
            <a:picLocks noChangeAspect="1" noChangeArrowheads="1"/>
          </p:cNvPicPr>
          <p:nvPr/>
        </p:nvPicPr>
        <p:blipFill rotWithShape="1"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22" r="35805" b="18658"/>
          <a:stretch/>
        </p:blipFill>
        <p:spPr bwMode="auto">
          <a:xfrm>
            <a:off x="3635490" y="3866398"/>
            <a:ext cx="2205567" cy="2034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tângulo 11"/>
          <p:cNvSpPr/>
          <p:nvPr/>
        </p:nvSpPr>
        <p:spPr>
          <a:xfrm>
            <a:off x="6333590" y="3789040"/>
            <a:ext cx="614378" cy="399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</a:t>
            </a:r>
            <a:endParaRPr lang="en-US" dirty="0"/>
          </a:p>
        </p:txBody>
      </p:sp>
      <p:cxnSp>
        <p:nvCxnSpPr>
          <p:cNvPr id="13" name="Conector de seta reta 12"/>
          <p:cNvCxnSpPr>
            <a:stCxn id="12" idx="3"/>
          </p:cNvCxnSpPr>
          <p:nvPr/>
        </p:nvCxnSpPr>
        <p:spPr>
          <a:xfrm>
            <a:off x="6947968" y="3988881"/>
            <a:ext cx="383977" cy="1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6333590" y="4329296"/>
            <a:ext cx="614378" cy="399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B</a:t>
            </a:r>
            <a:endParaRPr lang="en-US" dirty="0"/>
          </a:p>
        </p:txBody>
      </p:sp>
      <p:cxnSp>
        <p:nvCxnSpPr>
          <p:cNvPr id="22" name="Conector de seta reta 21"/>
          <p:cNvCxnSpPr>
            <a:stCxn id="21" idx="3"/>
          </p:cNvCxnSpPr>
          <p:nvPr/>
        </p:nvCxnSpPr>
        <p:spPr>
          <a:xfrm>
            <a:off x="6947968" y="4529137"/>
            <a:ext cx="383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ângulo 26"/>
          <p:cNvSpPr/>
          <p:nvPr/>
        </p:nvSpPr>
        <p:spPr>
          <a:xfrm>
            <a:off x="6333590" y="4848440"/>
            <a:ext cx="614378" cy="399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</a:t>
            </a:r>
            <a:endParaRPr lang="en-US" dirty="0"/>
          </a:p>
        </p:txBody>
      </p:sp>
      <p:cxnSp>
        <p:nvCxnSpPr>
          <p:cNvPr id="28" name="Conector de seta reta 27"/>
          <p:cNvCxnSpPr>
            <a:stCxn id="27" idx="3"/>
          </p:cNvCxnSpPr>
          <p:nvPr/>
        </p:nvCxnSpPr>
        <p:spPr>
          <a:xfrm>
            <a:off x="6947968" y="5048281"/>
            <a:ext cx="383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tângulo 29"/>
          <p:cNvSpPr/>
          <p:nvPr/>
        </p:nvSpPr>
        <p:spPr>
          <a:xfrm>
            <a:off x="6333590" y="5369014"/>
            <a:ext cx="614378" cy="399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D</a:t>
            </a:r>
            <a:endParaRPr lang="en-US" dirty="0"/>
          </a:p>
        </p:txBody>
      </p:sp>
      <p:cxnSp>
        <p:nvCxnSpPr>
          <p:cNvPr id="31" name="Conector de seta reta 30"/>
          <p:cNvCxnSpPr>
            <a:stCxn id="30" idx="3"/>
          </p:cNvCxnSpPr>
          <p:nvPr/>
        </p:nvCxnSpPr>
        <p:spPr>
          <a:xfrm>
            <a:off x="6947968" y="5568855"/>
            <a:ext cx="383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luxograma: Somador 37"/>
          <p:cNvSpPr/>
          <p:nvPr/>
        </p:nvSpPr>
        <p:spPr>
          <a:xfrm>
            <a:off x="7331945" y="5382493"/>
            <a:ext cx="383986" cy="386202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tângulo 38"/>
          <p:cNvSpPr/>
          <p:nvPr/>
        </p:nvSpPr>
        <p:spPr>
          <a:xfrm>
            <a:off x="6333590" y="5895056"/>
            <a:ext cx="614378" cy="3996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E</a:t>
            </a:r>
            <a:endParaRPr lang="en-US" dirty="0"/>
          </a:p>
        </p:txBody>
      </p:sp>
      <p:cxnSp>
        <p:nvCxnSpPr>
          <p:cNvPr id="40" name="Conector de seta reta 39"/>
          <p:cNvCxnSpPr>
            <a:stCxn id="39" idx="3"/>
          </p:cNvCxnSpPr>
          <p:nvPr/>
        </p:nvCxnSpPr>
        <p:spPr>
          <a:xfrm>
            <a:off x="6947968" y="6094897"/>
            <a:ext cx="383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Fluxograma: Somador 57"/>
          <p:cNvSpPr/>
          <p:nvPr/>
        </p:nvSpPr>
        <p:spPr>
          <a:xfrm>
            <a:off x="7333431" y="5909805"/>
            <a:ext cx="383986" cy="386202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luxograma: Somador 58"/>
          <p:cNvSpPr/>
          <p:nvPr/>
        </p:nvSpPr>
        <p:spPr>
          <a:xfrm>
            <a:off x="7331945" y="4876293"/>
            <a:ext cx="383986" cy="386202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uxograma: Somador 59"/>
          <p:cNvSpPr/>
          <p:nvPr/>
        </p:nvSpPr>
        <p:spPr>
          <a:xfrm>
            <a:off x="7342366" y="4346624"/>
            <a:ext cx="383986" cy="386202"/>
          </a:xfrm>
          <a:prstGeom prst="flowChartSummingJunc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upo 31"/>
          <p:cNvGrpSpPr/>
          <p:nvPr/>
        </p:nvGrpSpPr>
        <p:grpSpPr>
          <a:xfrm>
            <a:off x="7331945" y="3789040"/>
            <a:ext cx="731165" cy="399681"/>
            <a:chOff x="7750596" y="3176972"/>
            <a:chExt cx="936104" cy="396044"/>
          </a:xfrm>
        </p:grpSpPr>
        <p:sp>
          <p:nvSpPr>
            <p:cNvPr id="33" name="Retângulo 32"/>
            <p:cNvSpPr/>
            <p:nvPr/>
          </p:nvSpPr>
          <p:spPr>
            <a:xfrm>
              <a:off x="7750596" y="3176972"/>
              <a:ext cx="93610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tângulo 33"/>
            <p:cNvSpPr/>
            <p:nvPr/>
          </p:nvSpPr>
          <p:spPr>
            <a:xfrm>
              <a:off x="8470676" y="3176972"/>
              <a:ext cx="216024" cy="39604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CaixaDeTexto 34"/>
          <p:cNvSpPr txBox="1"/>
          <p:nvPr/>
        </p:nvSpPr>
        <p:spPr>
          <a:xfrm>
            <a:off x="7416318" y="3802519"/>
            <a:ext cx="562436" cy="372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E</a:t>
            </a:r>
            <a:endParaRPr lang="en-US" dirty="0"/>
          </a:p>
        </p:txBody>
      </p:sp>
      <p:grpSp>
        <p:nvGrpSpPr>
          <p:cNvPr id="17" name="Grupo 16"/>
          <p:cNvGrpSpPr/>
          <p:nvPr/>
        </p:nvGrpSpPr>
        <p:grpSpPr>
          <a:xfrm>
            <a:off x="8425402" y="3760313"/>
            <a:ext cx="1490897" cy="414930"/>
            <a:chOff x="10041798" y="4111520"/>
            <a:chExt cx="1490897" cy="414930"/>
          </a:xfrm>
        </p:grpSpPr>
        <p:grpSp>
          <p:nvGrpSpPr>
            <p:cNvPr id="14" name="Grupo 13"/>
            <p:cNvGrpSpPr/>
            <p:nvPr/>
          </p:nvGrpSpPr>
          <p:grpSpPr>
            <a:xfrm>
              <a:off x="10041798" y="4111520"/>
              <a:ext cx="731165" cy="399681"/>
              <a:chOff x="7750596" y="3176972"/>
              <a:chExt cx="936104" cy="396044"/>
            </a:xfrm>
          </p:grpSpPr>
          <p:sp>
            <p:nvSpPr>
              <p:cNvPr id="55" name="Retângulo 54"/>
              <p:cNvSpPr/>
              <p:nvPr/>
            </p:nvSpPr>
            <p:spPr>
              <a:xfrm>
                <a:off x="7750596" y="3176972"/>
                <a:ext cx="93610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tângulo 56"/>
              <p:cNvSpPr/>
              <p:nvPr/>
            </p:nvSpPr>
            <p:spPr>
              <a:xfrm>
                <a:off x="8470676" y="3176972"/>
                <a:ext cx="216024" cy="39604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CaixaDeTexto 14"/>
            <p:cNvSpPr txBox="1"/>
            <p:nvPr/>
          </p:nvSpPr>
          <p:spPr>
            <a:xfrm>
              <a:off x="10126171" y="4124999"/>
              <a:ext cx="562436" cy="3727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B</a:t>
              </a:r>
              <a:endParaRPr lang="en-US" dirty="0"/>
            </a:p>
          </p:txBody>
        </p:sp>
        <p:cxnSp>
          <p:nvCxnSpPr>
            <p:cNvPr id="36" name="Conector de seta reta 35"/>
            <p:cNvCxnSpPr/>
            <p:nvPr/>
          </p:nvCxnSpPr>
          <p:spPr>
            <a:xfrm>
              <a:off x="10754994" y="4294601"/>
              <a:ext cx="38398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Fluxograma: Somador 36"/>
            <p:cNvSpPr/>
            <p:nvPr/>
          </p:nvSpPr>
          <p:spPr>
            <a:xfrm>
              <a:off x="11148709" y="4140248"/>
              <a:ext cx="383986" cy="386202"/>
            </a:xfrm>
            <a:prstGeom prst="flowChartSummingJunct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2" name="Conector de seta reta 41"/>
          <p:cNvCxnSpPr/>
          <p:nvPr/>
        </p:nvCxnSpPr>
        <p:spPr>
          <a:xfrm>
            <a:off x="8041425" y="3987423"/>
            <a:ext cx="383977" cy="1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Espaço Reservado para Conteúdo 5"/>
          <p:cNvSpPr txBox="1">
            <a:spLocks/>
          </p:cNvSpPr>
          <p:nvPr/>
        </p:nvSpPr>
        <p:spPr>
          <a:xfrm>
            <a:off x="333772" y="114663"/>
            <a:ext cx="10657184" cy="3980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Implementação em C/C++ com </a:t>
            </a:r>
            <a:r>
              <a:rPr lang="pt-BR" dirty="0">
                <a:solidFill>
                  <a:schemeClr val="accent2"/>
                </a:solidFill>
              </a:rPr>
              <a:t>L</a:t>
            </a:r>
            <a:r>
              <a:rPr lang="pt-BR" dirty="0" smtClean="0">
                <a:solidFill>
                  <a:schemeClr val="accent2"/>
                </a:solidFill>
              </a:rPr>
              <a:t>ista </a:t>
            </a:r>
            <a:r>
              <a:rPr lang="pt-BR" dirty="0">
                <a:solidFill>
                  <a:schemeClr val="accent2"/>
                </a:solidFill>
              </a:rPr>
              <a:t>L</a:t>
            </a:r>
            <a:r>
              <a:rPr lang="pt-BR" dirty="0" smtClean="0">
                <a:solidFill>
                  <a:schemeClr val="accent2"/>
                </a:solidFill>
              </a:rPr>
              <a:t>igada </a:t>
            </a:r>
            <a:endParaRPr lang="pt-B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399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205374" y="2276872"/>
            <a:ext cx="3430117" cy="1800200"/>
          </a:xfrm>
        </p:spPr>
        <p:txBody>
          <a:bodyPr rtlCol="0">
            <a:noAutofit/>
          </a:bodyPr>
          <a:lstStyle/>
          <a:p>
            <a:pPr rtl="0"/>
            <a:r>
              <a:rPr lang="pt-BR" sz="3600" b="1" dirty="0" smtClean="0"/>
              <a:t>Tratamento e Implementação de Grafos</a:t>
            </a:r>
            <a:endParaRPr lang="pt-BR" sz="3600" b="1" dirty="0"/>
          </a:p>
        </p:txBody>
      </p:sp>
      <p:sp>
        <p:nvSpPr>
          <p:cNvPr id="2" name="CaixaDeTexto 1"/>
          <p:cNvSpPr txBox="1"/>
          <p:nvPr/>
        </p:nvSpPr>
        <p:spPr>
          <a:xfrm>
            <a:off x="205374" y="4077072"/>
            <a:ext cx="3008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</a:rPr>
              <a:t>Lista de Adjacências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56" name="Espaço Reservado para Conteúdo 5"/>
          <p:cNvSpPr txBox="1">
            <a:spLocks/>
          </p:cNvSpPr>
          <p:nvPr/>
        </p:nvSpPr>
        <p:spPr>
          <a:xfrm>
            <a:off x="333772" y="114663"/>
            <a:ext cx="10657184" cy="3980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Implementação em C++, formas mais rápidas  implementar </a:t>
            </a:r>
            <a:endParaRPr lang="pt-BR" dirty="0">
              <a:solidFill>
                <a:schemeClr val="accent2"/>
              </a:solidFill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/>
          <a:srcRect b="62857"/>
          <a:stretch/>
        </p:blipFill>
        <p:spPr>
          <a:xfrm>
            <a:off x="4006180" y="1484784"/>
            <a:ext cx="6207001" cy="720080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 rotWithShape="1">
          <a:blip r:embed="rId3"/>
          <a:srcRect t="44571"/>
          <a:stretch/>
        </p:blipFill>
        <p:spPr>
          <a:xfrm>
            <a:off x="4006180" y="3371830"/>
            <a:ext cx="6207001" cy="1074574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4000060" y="1025442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Grafos não ponderados</a:t>
            </a:r>
            <a:endParaRPr lang="en-US" dirty="0"/>
          </a:p>
        </p:txBody>
      </p:sp>
      <p:sp>
        <p:nvSpPr>
          <p:cNvPr id="4" name="CaixaDeTexto 3"/>
          <p:cNvSpPr txBox="1"/>
          <p:nvPr/>
        </p:nvSpPr>
        <p:spPr>
          <a:xfrm>
            <a:off x="4006180" y="2852936"/>
            <a:ext cx="302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Grafos ponderados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560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05374" y="2276872"/>
            <a:ext cx="3430117" cy="1800200"/>
          </a:xfrm>
        </p:spPr>
        <p:txBody>
          <a:bodyPr rtlCol="0">
            <a:noAutofit/>
          </a:bodyPr>
          <a:lstStyle/>
          <a:p>
            <a:pPr rtl="0"/>
            <a:r>
              <a:rPr lang="pt-BR" sz="3600" b="1" dirty="0" smtClean="0"/>
              <a:t>Caminhamento em Grafos</a:t>
            </a:r>
            <a:endParaRPr lang="pt-BR" sz="3600" b="1" dirty="0"/>
          </a:p>
        </p:txBody>
      </p:sp>
      <p:grpSp>
        <p:nvGrpSpPr>
          <p:cNvPr id="5" name="Grupo 4"/>
          <p:cNvGrpSpPr/>
          <p:nvPr/>
        </p:nvGrpSpPr>
        <p:grpSpPr>
          <a:xfrm>
            <a:off x="3646140" y="2276872"/>
            <a:ext cx="7992888" cy="2376264"/>
            <a:chOff x="3609071" y="2564904"/>
            <a:chExt cx="7992888" cy="2376264"/>
          </a:xfrm>
        </p:grpSpPr>
        <p:sp>
          <p:nvSpPr>
            <p:cNvPr id="4" name="Retângulo 3"/>
            <p:cNvSpPr/>
            <p:nvPr/>
          </p:nvSpPr>
          <p:spPr>
            <a:xfrm>
              <a:off x="3609071" y="2564904"/>
              <a:ext cx="7992888" cy="23762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CaixaDeTexto 2"/>
            <p:cNvSpPr txBox="1"/>
            <p:nvPr/>
          </p:nvSpPr>
          <p:spPr>
            <a:xfrm>
              <a:off x="5445275" y="3164775"/>
              <a:ext cx="432048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 smtClean="0"/>
                <a:t>Busca em Profundidade</a:t>
              </a:r>
            </a:p>
            <a:p>
              <a:pPr algn="ctr"/>
              <a:endParaRPr lang="pt-BR" sz="2400" dirty="0" smtClean="0"/>
            </a:p>
            <a:p>
              <a:pPr algn="ctr"/>
              <a:r>
                <a:rPr lang="pt-BR" sz="2400" dirty="0" smtClean="0"/>
                <a:t>Busca em Largura</a:t>
              </a:r>
              <a:endParaRPr lang="en-US" sz="2400" dirty="0"/>
            </a:p>
          </p:txBody>
        </p:sp>
      </p:grpSp>
      <p:sp>
        <p:nvSpPr>
          <p:cNvPr id="6" name="CaixaDeTexto 5"/>
          <p:cNvSpPr txBox="1"/>
          <p:nvPr/>
        </p:nvSpPr>
        <p:spPr>
          <a:xfrm>
            <a:off x="3934172" y="4941168"/>
            <a:ext cx="7704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São maneiras de se percorrer um grafo.</a:t>
            </a:r>
          </a:p>
          <a:p>
            <a:r>
              <a:rPr lang="pt-BR" dirty="0" smtClean="0"/>
              <a:t>Escolher qual das duas maneiras dependerá do problema que se quer resolver.</a:t>
            </a:r>
          </a:p>
        </p:txBody>
      </p:sp>
    </p:spTree>
    <p:extLst>
      <p:ext uri="{BB962C8B-B14F-4D97-AF65-F5344CB8AC3E}">
        <p14:creationId xmlns:p14="http://schemas.microsoft.com/office/powerpoint/2010/main" val="3717520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924944"/>
            <a:ext cx="3430117" cy="951008"/>
          </a:xfrm>
        </p:spPr>
        <p:txBody>
          <a:bodyPr rtlCol="0">
            <a:noAutofit/>
          </a:bodyPr>
          <a:lstStyle/>
          <a:p>
            <a:pPr rtl="0"/>
            <a:r>
              <a:rPr lang="pt-BR" sz="4000" dirty="0" smtClean="0"/>
              <a:t>Caminhamento em Grafos</a:t>
            </a:r>
            <a:endParaRPr lang="pt-BR" sz="4000" dirty="0"/>
          </a:p>
        </p:txBody>
      </p:sp>
      <p:sp>
        <p:nvSpPr>
          <p:cNvPr id="4" name="Espaço Reservado para Conteúdo 5"/>
          <p:cNvSpPr txBox="1">
            <a:spLocks/>
          </p:cNvSpPr>
          <p:nvPr/>
        </p:nvSpPr>
        <p:spPr>
          <a:xfrm>
            <a:off x="3866905" y="868680"/>
            <a:ext cx="7313295" cy="51206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solidFill>
                  <a:schemeClr val="tx1"/>
                </a:solidFill>
              </a:rPr>
              <a:t>Esse </a:t>
            </a:r>
            <a:r>
              <a:rPr lang="pt-BR" dirty="0" smtClean="0">
                <a:solidFill>
                  <a:schemeClr val="tx1"/>
                </a:solidFill>
              </a:rPr>
              <a:t>método </a:t>
            </a:r>
            <a:r>
              <a:rPr lang="pt-BR" dirty="0">
                <a:solidFill>
                  <a:schemeClr val="tx1"/>
                </a:solidFill>
              </a:rPr>
              <a:t>leva esse nome pois a prioridade na </a:t>
            </a:r>
            <a:r>
              <a:rPr lang="pt-BR" dirty="0" smtClean="0">
                <a:solidFill>
                  <a:schemeClr val="tx1"/>
                </a:solidFill>
              </a:rPr>
              <a:t>travessia do </a:t>
            </a:r>
            <a:r>
              <a:rPr lang="pt-BR" dirty="0">
                <a:solidFill>
                  <a:schemeClr val="tx1"/>
                </a:solidFill>
              </a:rPr>
              <a:t>grafo e "adentrarmos nele" ao </a:t>
            </a:r>
            <a:r>
              <a:rPr lang="pt-BR" dirty="0" smtClean="0">
                <a:solidFill>
                  <a:schemeClr val="tx1"/>
                </a:solidFill>
              </a:rPr>
              <a:t>máximo.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05374" y="4077072"/>
            <a:ext cx="3008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</a:rPr>
              <a:t>Busca em Profundidade (DFS)</a:t>
            </a:r>
            <a:endParaRPr lang="en-U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0516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924944"/>
            <a:ext cx="3430117" cy="951008"/>
          </a:xfrm>
        </p:spPr>
        <p:txBody>
          <a:bodyPr rtlCol="0">
            <a:noAutofit/>
          </a:bodyPr>
          <a:lstStyle/>
          <a:p>
            <a:pPr rtl="0"/>
            <a:r>
              <a:rPr lang="pt-BR" sz="4000" dirty="0" smtClean="0"/>
              <a:t>Caminhamento em Grafos</a:t>
            </a:r>
            <a:endParaRPr lang="pt-BR" sz="4000" dirty="0"/>
          </a:p>
        </p:txBody>
      </p:sp>
      <p:sp>
        <p:nvSpPr>
          <p:cNvPr id="4" name="Espaço Reservado para Conteúdo 5"/>
          <p:cNvSpPr txBox="1">
            <a:spLocks/>
          </p:cNvSpPr>
          <p:nvPr/>
        </p:nvSpPr>
        <p:spPr>
          <a:xfrm>
            <a:off x="3866905" y="868680"/>
            <a:ext cx="7313295" cy="51206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solidFill>
                  <a:schemeClr val="tx1"/>
                </a:solidFill>
              </a:rPr>
              <a:t>Esse </a:t>
            </a:r>
            <a:r>
              <a:rPr lang="pt-BR" dirty="0" smtClean="0">
                <a:solidFill>
                  <a:schemeClr val="tx1"/>
                </a:solidFill>
              </a:rPr>
              <a:t>método </a:t>
            </a:r>
            <a:r>
              <a:rPr lang="pt-BR" dirty="0">
                <a:solidFill>
                  <a:schemeClr val="tx1"/>
                </a:solidFill>
              </a:rPr>
              <a:t>leva esse nome pois a prioridade na </a:t>
            </a:r>
            <a:r>
              <a:rPr lang="pt-BR" dirty="0" smtClean="0">
                <a:solidFill>
                  <a:schemeClr val="tx1"/>
                </a:solidFill>
              </a:rPr>
              <a:t>travessia do </a:t>
            </a:r>
            <a:r>
              <a:rPr lang="pt-BR" dirty="0">
                <a:solidFill>
                  <a:schemeClr val="tx1"/>
                </a:solidFill>
              </a:rPr>
              <a:t>grafo e "adentrarmos nele" ao </a:t>
            </a:r>
            <a:r>
              <a:rPr lang="pt-BR" dirty="0" smtClean="0">
                <a:solidFill>
                  <a:schemeClr val="tx1"/>
                </a:solidFill>
              </a:rPr>
              <a:t>máximo.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05374" y="4077072"/>
            <a:ext cx="3008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</a:rPr>
              <a:t>Busca em Profundidade (DFS)</a:t>
            </a: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2050" name="Picture 2" descr="DFS: exercises and theory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292" y="217932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062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924944"/>
            <a:ext cx="3430117" cy="951008"/>
          </a:xfrm>
        </p:spPr>
        <p:txBody>
          <a:bodyPr rtlCol="0">
            <a:noAutofit/>
          </a:bodyPr>
          <a:lstStyle/>
          <a:p>
            <a:pPr rtl="0"/>
            <a:r>
              <a:rPr lang="pt-BR" sz="4000" dirty="0" smtClean="0"/>
              <a:t>Caminhamento em Grafos</a:t>
            </a:r>
            <a:endParaRPr lang="pt-BR" sz="4000" dirty="0"/>
          </a:p>
        </p:txBody>
      </p:sp>
      <p:sp>
        <p:nvSpPr>
          <p:cNvPr id="4" name="Espaço Reservado para Conteúdo 5"/>
          <p:cNvSpPr txBox="1">
            <a:spLocks/>
          </p:cNvSpPr>
          <p:nvPr/>
        </p:nvSpPr>
        <p:spPr>
          <a:xfrm>
            <a:off x="3866905" y="868680"/>
            <a:ext cx="7313295" cy="51206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Algoritmo para DFS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05374" y="4077072"/>
            <a:ext cx="3008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</a:rPr>
              <a:t>Busca em Profundidade (DFS)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4222204" y="1916832"/>
            <a:ext cx="61926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Para cada vértice u</a:t>
            </a:r>
          </a:p>
          <a:p>
            <a:r>
              <a:rPr lang="pt-BR" dirty="0" smtClean="0"/>
              <a:t>	Se u não foi visitado, faça DFS(u)</a:t>
            </a:r>
          </a:p>
          <a:p>
            <a:r>
              <a:rPr lang="pt-BR" dirty="0"/>
              <a:t>	</a:t>
            </a:r>
            <a:r>
              <a:rPr lang="pt-BR" dirty="0" smtClean="0"/>
              <a:t>	</a:t>
            </a:r>
            <a:endParaRPr lang="pt-BR" dirty="0"/>
          </a:p>
          <a:p>
            <a:r>
              <a:rPr lang="pt-BR" dirty="0" smtClean="0"/>
              <a:t>DFS(u):</a:t>
            </a:r>
          </a:p>
          <a:p>
            <a:r>
              <a:rPr lang="pt-BR" dirty="0"/>
              <a:t>	</a:t>
            </a:r>
            <a:r>
              <a:rPr lang="pt-BR" dirty="0" smtClean="0"/>
              <a:t>Visita u</a:t>
            </a:r>
          </a:p>
          <a:p>
            <a:r>
              <a:rPr lang="pt-BR" dirty="0"/>
              <a:t>	</a:t>
            </a:r>
            <a:r>
              <a:rPr lang="pt-BR" dirty="0" smtClean="0"/>
              <a:t>Print(u)</a:t>
            </a:r>
          </a:p>
          <a:p>
            <a:r>
              <a:rPr lang="pt-BR" dirty="0"/>
              <a:t>	</a:t>
            </a:r>
            <a:r>
              <a:rPr lang="pt-BR" dirty="0" smtClean="0"/>
              <a:t>para cada vértice filho v de u</a:t>
            </a:r>
          </a:p>
          <a:p>
            <a:r>
              <a:rPr lang="pt-BR" dirty="0"/>
              <a:t>	</a:t>
            </a:r>
            <a:r>
              <a:rPr lang="pt-BR" dirty="0" smtClean="0"/>
              <a:t>	Se v não foi visitado, faça DFS(v)</a:t>
            </a:r>
          </a:p>
          <a:p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284269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924944"/>
            <a:ext cx="3430117" cy="951008"/>
          </a:xfrm>
        </p:spPr>
        <p:txBody>
          <a:bodyPr rtlCol="0">
            <a:noAutofit/>
          </a:bodyPr>
          <a:lstStyle/>
          <a:p>
            <a:pPr rtl="0"/>
            <a:r>
              <a:rPr lang="pt-BR" sz="4000" dirty="0" smtClean="0"/>
              <a:t>Caminhamento em Grafos</a:t>
            </a:r>
            <a:endParaRPr lang="pt-BR" sz="4000" dirty="0"/>
          </a:p>
        </p:txBody>
      </p:sp>
      <p:sp>
        <p:nvSpPr>
          <p:cNvPr id="4" name="Espaço Reservado para Conteúdo 5"/>
          <p:cNvSpPr txBox="1">
            <a:spLocks/>
          </p:cNvSpPr>
          <p:nvPr/>
        </p:nvSpPr>
        <p:spPr>
          <a:xfrm>
            <a:off x="3866905" y="868680"/>
            <a:ext cx="7313295" cy="51206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Algoritmo para DFS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05374" y="4077072"/>
            <a:ext cx="3008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</a:rPr>
              <a:t>Busca em Profundidade (DFS)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4222204" y="1916832"/>
            <a:ext cx="61926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Para cada vértice u</a:t>
            </a:r>
          </a:p>
          <a:p>
            <a:r>
              <a:rPr lang="pt-BR" dirty="0" smtClean="0"/>
              <a:t>	Se u não foi visitado, faça DFS(u)</a:t>
            </a:r>
          </a:p>
          <a:p>
            <a:r>
              <a:rPr lang="pt-BR" dirty="0"/>
              <a:t>	</a:t>
            </a:r>
            <a:r>
              <a:rPr lang="pt-BR" dirty="0" smtClean="0"/>
              <a:t>	</a:t>
            </a:r>
            <a:endParaRPr lang="pt-BR" dirty="0"/>
          </a:p>
          <a:p>
            <a:r>
              <a:rPr lang="pt-BR" dirty="0" smtClean="0"/>
              <a:t>DFS(u):</a:t>
            </a:r>
          </a:p>
          <a:p>
            <a:r>
              <a:rPr lang="pt-BR" dirty="0"/>
              <a:t>	</a:t>
            </a:r>
            <a:r>
              <a:rPr lang="pt-BR" dirty="0" smtClean="0"/>
              <a:t>Visita u</a:t>
            </a:r>
          </a:p>
          <a:p>
            <a:r>
              <a:rPr lang="pt-BR" dirty="0"/>
              <a:t>	</a:t>
            </a:r>
            <a:r>
              <a:rPr lang="pt-BR" dirty="0" smtClean="0"/>
              <a:t>Print(u)</a:t>
            </a:r>
          </a:p>
          <a:p>
            <a:r>
              <a:rPr lang="pt-BR" dirty="0"/>
              <a:t>	</a:t>
            </a:r>
            <a:r>
              <a:rPr lang="pt-BR" dirty="0" smtClean="0"/>
              <a:t>para cada vértice filho v de u</a:t>
            </a:r>
          </a:p>
          <a:p>
            <a:r>
              <a:rPr lang="pt-BR" dirty="0"/>
              <a:t>	</a:t>
            </a:r>
            <a:r>
              <a:rPr lang="pt-BR" dirty="0" smtClean="0"/>
              <a:t>	Se v não foi visitado, faça DFS(v)</a:t>
            </a:r>
          </a:p>
          <a:p>
            <a:endParaRPr lang="pt-BR" dirty="0" smtClean="0"/>
          </a:p>
        </p:txBody>
      </p:sp>
      <p:sp>
        <p:nvSpPr>
          <p:cNvPr id="7" name="CaixaDeTexto 6"/>
          <p:cNvSpPr txBox="1"/>
          <p:nvPr/>
        </p:nvSpPr>
        <p:spPr>
          <a:xfrm>
            <a:off x="9190756" y="404664"/>
            <a:ext cx="2426232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Criar um vetor:</a:t>
            </a:r>
          </a:p>
          <a:p>
            <a:r>
              <a:rPr lang="pt-BR" dirty="0" smtClean="0"/>
              <a:t>bool visitado[ordem];</a:t>
            </a:r>
            <a:endParaRPr lang="en-US" dirty="0"/>
          </a:p>
        </p:txBody>
      </p:sp>
      <p:cxnSp>
        <p:nvCxnSpPr>
          <p:cNvPr id="8" name="Conector em curva 7"/>
          <p:cNvCxnSpPr>
            <a:stCxn id="7" idx="1"/>
          </p:cNvCxnSpPr>
          <p:nvPr/>
        </p:nvCxnSpPr>
        <p:spPr>
          <a:xfrm rot="10800000" flipV="1">
            <a:off x="6742484" y="727830"/>
            <a:ext cx="2448272" cy="1477034"/>
          </a:xfrm>
          <a:prstGeom prst="curvedConnector3">
            <a:avLst>
              <a:gd name="adj1" fmla="val 10155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7157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924944"/>
            <a:ext cx="3430117" cy="951008"/>
          </a:xfrm>
        </p:spPr>
        <p:txBody>
          <a:bodyPr rtlCol="0">
            <a:noAutofit/>
          </a:bodyPr>
          <a:lstStyle/>
          <a:p>
            <a:pPr rtl="0"/>
            <a:r>
              <a:rPr lang="pt-BR" sz="4000" dirty="0" smtClean="0"/>
              <a:t>Caminhamento em Grafos</a:t>
            </a:r>
            <a:endParaRPr lang="pt-BR" sz="4000" dirty="0"/>
          </a:p>
        </p:txBody>
      </p:sp>
      <p:sp>
        <p:nvSpPr>
          <p:cNvPr id="4" name="Espaço Reservado para Conteúdo 5"/>
          <p:cNvSpPr txBox="1">
            <a:spLocks/>
          </p:cNvSpPr>
          <p:nvPr/>
        </p:nvSpPr>
        <p:spPr>
          <a:xfrm>
            <a:off x="3866905" y="868680"/>
            <a:ext cx="7313295" cy="51206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Algoritmo para DFS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05374" y="4077072"/>
            <a:ext cx="3008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</a:rPr>
              <a:t>Busca em Profundidade (DFS)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4222204" y="1916832"/>
            <a:ext cx="61926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Para cada vértice u</a:t>
            </a:r>
          </a:p>
          <a:p>
            <a:r>
              <a:rPr lang="pt-BR" dirty="0" smtClean="0"/>
              <a:t>	Se u não foi visitado, faça DFS(u)</a:t>
            </a:r>
          </a:p>
          <a:p>
            <a:r>
              <a:rPr lang="pt-BR" dirty="0"/>
              <a:t>	</a:t>
            </a:r>
            <a:r>
              <a:rPr lang="pt-BR" dirty="0" smtClean="0"/>
              <a:t>	</a:t>
            </a:r>
            <a:endParaRPr lang="pt-BR" dirty="0"/>
          </a:p>
          <a:p>
            <a:r>
              <a:rPr lang="pt-BR" dirty="0" smtClean="0"/>
              <a:t>DFS(u):</a:t>
            </a:r>
          </a:p>
          <a:p>
            <a:r>
              <a:rPr lang="pt-BR" dirty="0"/>
              <a:t>	</a:t>
            </a:r>
            <a:r>
              <a:rPr lang="pt-BR" dirty="0" smtClean="0"/>
              <a:t>Visita u</a:t>
            </a:r>
          </a:p>
          <a:p>
            <a:r>
              <a:rPr lang="pt-BR" dirty="0"/>
              <a:t>	</a:t>
            </a:r>
            <a:r>
              <a:rPr lang="pt-BR" dirty="0" smtClean="0"/>
              <a:t>Print(u)</a:t>
            </a:r>
          </a:p>
          <a:p>
            <a:r>
              <a:rPr lang="pt-BR" dirty="0"/>
              <a:t>	</a:t>
            </a:r>
            <a:r>
              <a:rPr lang="pt-BR" dirty="0" smtClean="0"/>
              <a:t>para cada vértice filho v de u</a:t>
            </a:r>
          </a:p>
          <a:p>
            <a:r>
              <a:rPr lang="pt-BR" dirty="0"/>
              <a:t>	</a:t>
            </a:r>
            <a:r>
              <a:rPr lang="pt-BR" dirty="0" smtClean="0"/>
              <a:t>	Se v não foi visitado, faça DFS(v)</a:t>
            </a:r>
          </a:p>
          <a:p>
            <a:endParaRPr lang="pt-BR" dirty="0" smtClean="0"/>
          </a:p>
        </p:txBody>
      </p:sp>
      <p:sp>
        <p:nvSpPr>
          <p:cNvPr id="7" name="CaixaDeTexto 6"/>
          <p:cNvSpPr txBox="1"/>
          <p:nvPr/>
        </p:nvSpPr>
        <p:spPr>
          <a:xfrm>
            <a:off x="9190756" y="404664"/>
            <a:ext cx="2426232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Criar um vetor:</a:t>
            </a:r>
          </a:p>
          <a:p>
            <a:r>
              <a:rPr lang="pt-BR" dirty="0" smtClean="0"/>
              <a:t>bool visitado[ordem];</a:t>
            </a:r>
            <a:endParaRPr lang="en-US" dirty="0"/>
          </a:p>
        </p:txBody>
      </p:sp>
      <p:cxnSp>
        <p:nvCxnSpPr>
          <p:cNvPr id="8" name="Conector em curva 7"/>
          <p:cNvCxnSpPr>
            <a:stCxn id="7" idx="1"/>
          </p:cNvCxnSpPr>
          <p:nvPr/>
        </p:nvCxnSpPr>
        <p:spPr>
          <a:xfrm rot="10800000" flipV="1">
            <a:off x="6742484" y="727830"/>
            <a:ext cx="2448272" cy="1477034"/>
          </a:xfrm>
          <a:prstGeom prst="curvedConnector3">
            <a:avLst>
              <a:gd name="adj1" fmla="val 10155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9382740" y="2420888"/>
            <a:ext cx="1797460" cy="92333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Criar um vetor:</a:t>
            </a:r>
          </a:p>
          <a:p>
            <a:r>
              <a:rPr lang="pt-BR" dirty="0" smtClean="0"/>
              <a:t>Visitado -&gt; 1</a:t>
            </a:r>
          </a:p>
          <a:p>
            <a:r>
              <a:rPr lang="pt-BR" dirty="0" smtClean="0"/>
              <a:t>Não Visitado -&gt;0</a:t>
            </a:r>
            <a:endParaRPr lang="en-US" dirty="0"/>
          </a:p>
        </p:txBody>
      </p:sp>
      <p:cxnSp>
        <p:nvCxnSpPr>
          <p:cNvPr id="15" name="Conector em curva 14"/>
          <p:cNvCxnSpPr>
            <a:stCxn id="13" idx="1"/>
          </p:cNvCxnSpPr>
          <p:nvPr/>
        </p:nvCxnSpPr>
        <p:spPr>
          <a:xfrm rot="10800000" flipV="1">
            <a:off x="6022404" y="2882553"/>
            <a:ext cx="3360336" cy="32694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4593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924944"/>
            <a:ext cx="3430117" cy="951008"/>
          </a:xfrm>
        </p:spPr>
        <p:txBody>
          <a:bodyPr rtlCol="0">
            <a:noAutofit/>
          </a:bodyPr>
          <a:lstStyle/>
          <a:p>
            <a:pPr rtl="0"/>
            <a:r>
              <a:rPr lang="pt-BR" sz="4000" dirty="0" smtClean="0"/>
              <a:t>Caminhamento em Grafos</a:t>
            </a:r>
            <a:endParaRPr lang="pt-BR" sz="4000" dirty="0"/>
          </a:p>
        </p:txBody>
      </p:sp>
      <p:sp>
        <p:nvSpPr>
          <p:cNvPr id="4" name="Espaço Reservado para Conteúdo 5"/>
          <p:cNvSpPr txBox="1">
            <a:spLocks/>
          </p:cNvSpPr>
          <p:nvPr/>
        </p:nvSpPr>
        <p:spPr>
          <a:xfrm>
            <a:off x="3866905" y="868680"/>
            <a:ext cx="7313295" cy="51206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Algoritmo para DFS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05374" y="4077072"/>
            <a:ext cx="3008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</a:rPr>
              <a:t>Busca em Profundidade (DFS)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4222204" y="1916832"/>
            <a:ext cx="61926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Para cada vértice u</a:t>
            </a:r>
          </a:p>
          <a:p>
            <a:r>
              <a:rPr lang="pt-BR" dirty="0" smtClean="0"/>
              <a:t>	Se u não foi visitado, faça DFS(u)</a:t>
            </a:r>
          </a:p>
          <a:p>
            <a:r>
              <a:rPr lang="pt-BR" dirty="0"/>
              <a:t>	</a:t>
            </a:r>
            <a:r>
              <a:rPr lang="pt-BR" dirty="0" smtClean="0"/>
              <a:t>	</a:t>
            </a:r>
            <a:endParaRPr lang="pt-BR" dirty="0"/>
          </a:p>
          <a:p>
            <a:r>
              <a:rPr lang="pt-BR" dirty="0" smtClean="0"/>
              <a:t>DFS(u):</a:t>
            </a:r>
          </a:p>
          <a:p>
            <a:r>
              <a:rPr lang="pt-BR" dirty="0"/>
              <a:t>	</a:t>
            </a:r>
            <a:r>
              <a:rPr lang="pt-BR" dirty="0" smtClean="0"/>
              <a:t>Visita u</a:t>
            </a:r>
          </a:p>
          <a:p>
            <a:r>
              <a:rPr lang="pt-BR" dirty="0"/>
              <a:t>	</a:t>
            </a:r>
            <a:r>
              <a:rPr lang="pt-BR" dirty="0" smtClean="0"/>
              <a:t>Print(u)</a:t>
            </a:r>
          </a:p>
          <a:p>
            <a:r>
              <a:rPr lang="pt-BR" dirty="0"/>
              <a:t>	</a:t>
            </a:r>
            <a:r>
              <a:rPr lang="pt-BR" dirty="0" smtClean="0"/>
              <a:t>para cada vértice filho v de u</a:t>
            </a:r>
          </a:p>
          <a:p>
            <a:r>
              <a:rPr lang="pt-BR" dirty="0"/>
              <a:t>	</a:t>
            </a:r>
            <a:r>
              <a:rPr lang="pt-BR" dirty="0" smtClean="0"/>
              <a:t>	Se v não foi visitado, faça DFS(v)</a:t>
            </a:r>
          </a:p>
          <a:p>
            <a:endParaRPr lang="pt-BR" dirty="0" smtClean="0"/>
          </a:p>
        </p:txBody>
      </p:sp>
      <p:sp>
        <p:nvSpPr>
          <p:cNvPr id="7" name="CaixaDeTexto 6"/>
          <p:cNvSpPr txBox="1"/>
          <p:nvPr/>
        </p:nvSpPr>
        <p:spPr>
          <a:xfrm>
            <a:off x="9190756" y="404664"/>
            <a:ext cx="2426232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Criar um vetor:</a:t>
            </a:r>
          </a:p>
          <a:p>
            <a:r>
              <a:rPr lang="pt-BR" dirty="0" smtClean="0"/>
              <a:t>bool visitado[ordem];</a:t>
            </a:r>
            <a:endParaRPr lang="en-US" dirty="0"/>
          </a:p>
        </p:txBody>
      </p:sp>
      <p:cxnSp>
        <p:nvCxnSpPr>
          <p:cNvPr id="8" name="Conector em curva 7"/>
          <p:cNvCxnSpPr>
            <a:stCxn id="7" idx="1"/>
          </p:cNvCxnSpPr>
          <p:nvPr/>
        </p:nvCxnSpPr>
        <p:spPr>
          <a:xfrm rot="10800000" flipV="1">
            <a:off x="6742484" y="727830"/>
            <a:ext cx="2448272" cy="1477034"/>
          </a:xfrm>
          <a:prstGeom prst="curvedConnector3">
            <a:avLst>
              <a:gd name="adj1" fmla="val 10155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9382740" y="2420888"/>
            <a:ext cx="1797460" cy="92333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Criar um vetor:</a:t>
            </a:r>
          </a:p>
          <a:p>
            <a:r>
              <a:rPr lang="pt-BR" dirty="0" smtClean="0"/>
              <a:t>Visitado -&gt; 1</a:t>
            </a:r>
          </a:p>
          <a:p>
            <a:r>
              <a:rPr lang="pt-BR" dirty="0" smtClean="0"/>
              <a:t>Não Visitado -&gt;0</a:t>
            </a:r>
            <a:endParaRPr lang="en-US" dirty="0"/>
          </a:p>
        </p:txBody>
      </p:sp>
      <p:cxnSp>
        <p:nvCxnSpPr>
          <p:cNvPr id="15" name="Conector em curva 14"/>
          <p:cNvCxnSpPr>
            <a:stCxn id="13" idx="1"/>
          </p:cNvCxnSpPr>
          <p:nvPr/>
        </p:nvCxnSpPr>
        <p:spPr>
          <a:xfrm rot="10800000" flipV="1">
            <a:off x="6022404" y="2882553"/>
            <a:ext cx="3360336" cy="32694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/>
          <p:cNvSpPr txBox="1"/>
          <p:nvPr/>
        </p:nvSpPr>
        <p:spPr>
          <a:xfrm>
            <a:off x="9720740" y="4313571"/>
            <a:ext cx="1896248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Realiza uma ação</a:t>
            </a:r>
            <a:endParaRPr lang="en-US" dirty="0"/>
          </a:p>
        </p:txBody>
      </p:sp>
      <p:cxnSp>
        <p:nvCxnSpPr>
          <p:cNvPr id="10" name="Conector em curva 9"/>
          <p:cNvCxnSpPr>
            <a:stCxn id="5" idx="0"/>
          </p:cNvCxnSpPr>
          <p:nvPr/>
        </p:nvCxnSpPr>
        <p:spPr>
          <a:xfrm rot="16200000" flipV="1">
            <a:off x="7903349" y="1548056"/>
            <a:ext cx="884571" cy="464646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770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924944"/>
            <a:ext cx="3430117" cy="951008"/>
          </a:xfrm>
        </p:spPr>
        <p:txBody>
          <a:bodyPr rtlCol="0">
            <a:noAutofit/>
          </a:bodyPr>
          <a:lstStyle/>
          <a:p>
            <a:pPr rtl="0"/>
            <a:r>
              <a:rPr lang="pt-BR" sz="4000" dirty="0" smtClean="0"/>
              <a:t>Caminhamento em Grafos</a:t>
            </a:r>
            <a:endParaRPr lang="pt-BR" sz="4000" dirty="0"/>
          </a:p>
        </p:txBody>
      </p:sp>
      <p:sp>
        <p:nvSpPr>
          <p:cNvPr id="4" name="Espaço Reservado para Conteúdo 5"/>
          <p:cNvSpPr txBox="1">
            <a:spLocks/>
          </p:cNvSpPr>
          <p:nvPr/>
        </p:nvSpPr>
        <p:spPr>
          <a:xfrm>
            <a:off x="3866905" y="868680"/>
            <a:ext cx="7313295" cy="51206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Algoritmo para DFS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05374" y="4077072"/>
            <a:ext cx="3008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</a:rPr>
              <a:t>Busca em Profundidade (DFS)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4222204" y="1916832"/>
            <a:ext cx="61926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Para cada vértice u</a:t>
            </a:r>
          </a:p>
          <a:p>
            <a:r>
              <a:rPr lang="pt-BR" dirty="0" smtClean="0"/>
              <a:t>	Se u não foi visitado, faça DFS(u)</a:t>
            </a:r>
          </a:p>
          <a:p>
            <a:r>
              <a:rPr lang="pt-BR" dirty="0"/>
              <a:t>	</a:t>
            </a:r>
            <a:r>
              <a:rPr lang="pt-BR" dirty="0" smtClean="0"/>
              <a:t>	</a:t>
            </a:r>
            <a:endParaRPr lang="pt-BR" dirty="0"/>
          </a:p>
          <a:p>
            <a:r>
              <a:rPr lang="pt-BR" dirty="0" smtClean="0"/>
              <a:t>DFS(u):</a:t>
            </a:r>
          </a:p>
          <a:p>
            <a:r>
              <a:rPr lang="pt-BR" dirty="0"/>
              <a:t>	</a:t>
            </a:r>
            <a:r>
              <a:rPr lang="pt-BR" dirty="0" smtClean="0"/>
              <a:t>Visita u</a:t>
            </a:r>
          </a:p>
          <a:p>
            <a:r>
              <a:rPr lang="pt-BR" dirty="0"/>
              <a:t>	</a:t>
            </a:r>
            <a:r>
              <a:rPr lang="pt-BR" dirty="0" smtClean="0"/>
              <a:t>Print(u)</a:t>
            </a:r>
          </a:p>
          <a:p>
            <a:r>
              <a:rPr lang="pt-BR" dirty="0"/>
              <a:t>	</a:t>
            </a:r>
            <a:r>
              <a:rPr lang="pt-BR" dirty="0" smtClean="0"/>
              <a:t>para cada vértice filho v de u</a:t>
            </a:r>
          </a:p>
          <a:p>
            <a:r>
              <a:rPr lang="pt-BR" dirty="0"/>
              <a:t>	</a:t>
            </a:r>
            <a:r>
              <a:rPr lang="pt-BR" dirty="0" smtClean="0"/>
              <a:t>	Se v não foi visitado, faça DFS(v)</a:t>
            </a:r>
          </a:p>
          <a:p>
            <a:endParaRPr lang="pt-BR" dirty="0" smtClean="0"/>
          </a:p>
        </p:txBody>
      </p:sp>
      <p:sp>
        <p:nvSpPr>
          <p:cNvPr id="7" name="CaixaDeTexto 6"/>
          <p:cNvSpPr txBox="1"/>
          <p:nvPr/>
        </p:nvSpPr>
        <p:spPr>
          <a:xfrm>
            <a:off x="9190756" y="404664"/>
            <a:ext cx="2426232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Criar um vetor:</a:t>
            </a:r>
          </a:p>
          <a:p>
            <a:r>
              <a:rPr lang="pt-BR" dirty="0" smtClean="0"/>
              <a:t>bool visitado[ordem];</a:t>
            </a:r>
            <a:endParaRPr lang="en-US" dirty="0"/>
          </a:p>
        </p:txBody>
      </p:sp>
      <p:cxnSp>
        <p:nvCxnSpPr>
          <p:cNvPr id="8" name="Conector em curva 7"/>
          <p:cNvCxnSpPr>
            <a:stCxn id="7" idx="1"/>
          </p:cNvCxnSpPr>
          <p:nvPr/>
        </p:nvCxnSpPr>
        <p:spPr>
          <a:xfrm rot="10800000" flipV="1">
            <a:off x="6742484" y="727830"/>
            <a:ext cx="2448272" cy="1477034"/>
          </a:xfrm>
          <a:prstGeom prst="curvedConnector3">
            <a:avLst>
              <a:gd name="adj1" fmla="val 10155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9382740" y="2420888"/>
            <a:ext cx="1797460" cy="92333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Criar um vetor:</a:t>
            </a:r>
          </a:p>
          <a:p>
            <a:r>
              <a:rPr lang="pt-BR" dirty="0" smtClean="0"/>
              <a:t>Visitado -&gt; 1</a:t>
            </a:r>
          </a:p>
          <a:p>
            <a:r>
              <a:rPr lang="pt-BR" dirty="0" smtClean="0"/>
              <a:t>Não Visitado -&gt;0</a:t>
            </a:r>
            <a:endParaRPr lang="en-US" dirty="0"/>
          </a:p>
        </p:txBody>
      </p:sp>
      <p:cxnSp>
        <p:nvCxnSpPr>
          <p:cNvPr id="15" name="Conector em curva 14"/>
          <p:cNvCxnSpPr>
            <a:stCxn id="13" idx="1"/>
          </p:cNvCxnSpPr>
          <p:nvPr/>
        </p:nvCxnSpPr>
        <p:spPr>
          <a:xfrm rot="10800000" flipV="1">
            <a:off x="6022404" y="2882553"/>
            <a:ext cx="3360336" cy="32694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/>
          <p:cNvSpPr txBox="1"/>
          <p:nvPr/>
        </p:nvSpPr>
        <p:spPr>
          <a:xfrm>
            <a:off x="9720740" y="4313571"/>
            <a:ext cx="1896248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Realiza uma ação</a:t>
            </a:r>
            <a:endParaRPr lang="en-US" dirty="0"/>
          </a:p>
        </p:txBody>
      </p:sp>
      <p:cxnSp>
        <p:nvCxnSpPr>
          <p:cNvPr id="10" name="Conector em curva 9"/>
          <p:cNvCxnSpPr>
            <a:stCxn id="5" idx="0"/>
          </p:cNvCxnSpPr>
          <p:nvPr/>
        </p:nvCxnSpPr>
        <p:spPr>
          <a:xfrm rot="16200000" flipV="1">
            <a:off x="7903349" y="1548056"/>
            <a:ext cx="884571" cy="464646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4222204" y="5013176"/>
            <a:ext cx="2664296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Verifica cada vizinho de u</a:t>
            </a:r>
            <a:endParaRPr lang="en-US" dirty="0"/>
          </a:p>
        </p:txBody>
      </p:sp>
      <p:cxnSp>
        <p:nvCxnSpPr>
          <p:cNvPr id="16" name="Conector em curva 15"/>
          <p:cNvCxnSpPr>
            <a:stCxn id="12" idx="0"/>
          </p:cNvCxnSpPr>
          <p:nvPr/>
        </p:nvCxnSpPr>
        <p:spPr>
          <a:xfrm rot="5400000" flipH="1" flipV="1">
            <a:off x="5320326" y="4311098"/>
            <a:ext cx="936104" cy="46805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6401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924944"/>
            <a:ext cx="3430117" cy="951008"/>
          </a:xfrm>
        </p:spPr>
        <p:txBody>
          <a:bodyPr rtlCol="0">
            <a:noAutofit/>
          </a:bodyPr>
          <a:lstStyle/>
          <a:p>
            <a:pPr rtl="0"/>
            <a:r>
              <a:rPr lang="pt-BR" sz="4000" dirty="0" smtClean="0"/>
              <a:t>Caminhamento em Grafos</a:t>
            </a:r>
            <a:endParaRPr lang="pt-BR" sz="4000" dirty="0"/>
          </a:p>
        </p:txBody>
      </p:sp>
      <p:sp>
        <p:nvSpPr>
          <p:cNvPr id="4" name="Espaço Reservado para Conteúdo 5"/>
          <p:cNvSpPr txBox="1">
            <a:spLocks/>
          </p:cNvSpPr>
          <p:nvPr/>
        </p:nvSpPr>
        <p:spPr>
          <a:xfrm>
            <a:off x="3866905" y="868680"/>
            <a:ext cx="7313295" cy="51206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accent2"/>
                </a:solidFill>
              </a:rPr>
              <a:t>Algoritmo para DFS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05374" y="4077072"/>
            <a:ext cx="3008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</a:rPr>
              <a:t>Busca em Profundidade (DFS)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4222204" y="1916832"/>
            <a:ext cx="61926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Para cada vértice u</a:t>
            </a:r>
          </a:p>
          <a:p>
            <a:r>
              <a:rPr lang="pt-BR" dirty="0" smtClean="0"/>
              <a:t>	Se u não foi visitado, faça DFS(u)</a:t>
            </a:r>
          </a:p>
          <a:p>
            <a:r>
              <a:rPr lang="pt-BR" dirty="0"/>
              <a:t>	</a:t>
            </a:r>
            <a:r>
              <a:rPr lang="pt-BR" dirty="0" smtClean="0"/>
              <a:t>	</a:t>
            </a:r>
            <a:endParaRPr lang="pt-BR" dirty="0"/>
          </a:p>
          <a:p>
            <a:r>
              <a:rPr lang="pt-BR" dirty="0" smtClean="0"/>
              <a:t>DFS(u):</a:t>
            </a:r>
          </a:p>
          <a:p>
            <a:r>
              <a:rPr lang="pt-BR" dirty="0"/>
              <a:t>	</a:t>
            </a:r>
            <a:r>
              <a:rPr lang="pt-BR" dirty="0" smtClean="0"/>
              <a:t>Visita u</a:t>
            </a:r>
          </a:p>
          <a:p>
            <a:r>
              <a:rPr lang="pt-BR" dirty="0"/>
              <a:t>	</a:t>
            </a:r>
            <a:r>
              <a:rPr lang="pt-BR" dirty="0" smtClean="0"/>
              <a:t>Print(u)</a:t>
            </a:r>
          </a:p>
          <a:p>
            <a:r>
              <a:rPr lang="pt-BR" dirty="0"/>
              <a:t>	</a:t>
            </a:r>
            <a:r>
              <a:rPr lang="pt-BR" dirty="0" smtClean="0"/>
              <a:t>para cada vértice filho v de u</a:t>
            </a:r>
          </a:p>
          <a:p>
            <a:r>
              <a:rPr lang="pt-BR" dirty="0"/>
              <a:t>	</a:t>
            </a:r>
            <a:r>
              <a:rPr lang="pt-BR" dirty="0" smtClean="0"/>
              <a:t>	Se v não foi visitado, faça DFS(v)</a:t>
            </a:r>
          </a:p>
          <a:p>
            <a:endParaRPr lang="pt-BR" dirty="0" smtClean="0"/>
          </a:p>
        </p:txBody>
      </p:sp>
      <p:sp>
        <p:nvSpPr>
          <p:cNvPr id="9" name="Chave direita 8"/>
          <p:cNvSpPr/>
          <p:nvPr/>
        </p:nvSpPr>
        <p:spPr>
          <a:xfrm>
            <a:off x="8398668" y="1700808"/>
            <a:ext cx="360040" cy="93610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have direita 10"/>
          <p:cNvSpPr/>
          <p:nvPr/>
        </p:nvSpPr>
        <p:spPr>
          <a:xfrm>
            <a:off x="9118748" y="2708920"/>
            <a:ext cx="432048" cy="16561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aixaDeTexto 13"/>
          <p:cNvSpPr txBox="1"/>
          <p:nvPr/>
        </p:nvSpPr>
        <p:spPr>
          <a:xfrm>
            <a:off x="8943211" y="1984194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accent2"/>
                </a:solidFill>
              </a:rPr>
              <a:t>Nem sempre necessário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17" name="CaixaDeTexto 16"/>
          <p:cNvSpPr txBox="1"/>
          <p:nvPr/>
        </p:nvSpPr>
        <p:spPr>
          <a:xfrm>
            <a:off x="9694812" y="3209493"/>
            <a:ext cx="1485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chemeClr val="accent2"/>
                </a:solidFill>
              </a:rPr>
              <a:t>Modifique à vontade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072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924944"/>
            <a:ext cx="3430117" cy="951008"/>
          </a:xfrm>
        </p:spPr>
        <p:txBody>
          <a:bodyPr rtlCol="0">
            <a:noAutofit/>
          </a:bodyPr>
          <a:lstStyle/>
          <a:p>
            <a:pPr rtl="0"/>
            <a:r>
              <a:rPr lang="pt-BR" sz="4000" dirty="0" smtClean="0"/>
              <a:t>Caminhamento em Grafos</a:t>
            </a:r>
            <a:endParaRPr lang="pt-BR" sz="4000" dirty="0"/>
          </a:p>
        </p:txBody>
      </p:sp>
      <p:sp>
        <p:nvSpPr>
          <p:cNvPr id="4" name="Espaço Reservado para Conteúdo 5"/>
          <p:cNvSpPr txBox="1">
            <a:spLocks/>
          </p:cNvSpPr>
          <p:nvPr/>
        </p:nvSpPr>
        <p:spPr>
          <a:xfrm>
            <a:off x="3866905" y="868680"/>
            <a:ext cx="7313295" cy="51206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solidFill>
                  <a:schemeClr val="tx1"/>
                </a:solidFill>
              </a:rPr>
              <a:t>Esse </a:t>
            </a:r>
            <a:r>
              <a:rPr lang="pt-BR" dirty="0" smtClean="0">
                <a:solidFill>
                  <a:schemeClr val="tx1"/>
                </a:solidFill>
              </a:rPr>
              <a:t>método </a:t>
            </a:r>
            <a:r>
              <a:rPr lang="pt-BR" dirty="0">
                <a:solidFill>
                  <a:schemeClr val="tx1"/>
                </a:solidFill>
              </a:rPr>
              <a:t>leva esse nome pois a prioridade na </a:t>
            </a:r>
            <a:r>
              <a:rPr lang="pt-BR" dirty="0" smtClean="0">
                <a:solidFill>
                  <a:schemeClr val="tx1"/>
                </a:solidFill>
              </a:rPr>
              <a:t>travessia do </a:t>
            </a:r>
            <a:r>
              <a:rPr lang="pt-BR" dirty="0">
                <a:solidFill>
                  <a:schemeClr val="tx1"/>
                </a:solidFill>
              </a:rPr>
              <a:t>grafo </a:t>
            </a:r>
            <a:r>
              <a:rPr lang="pt-BR" dirty="0" smtClean="0">
                <a:solidFill>
                  <a:schemeClr val="tx1"/>
                </a:solidFill>
              </a:rPr>
              <a:t>é visitar todos os vizinhos de um nó primeiro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05374" y="4077072"/>
            <a:ext cx="3008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</a:rPr>
              <a:t>Busca em Largura (BFS)</a:t>
            </a:r>
            <a:endParaRPr lang="en-U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085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924944"/>
            <a:ext cx="3430117" cy="951008"/>
          </a:xfrm>
        </p:spPr>
        <p:txBody>
          <a:bodyPr rtlCol="0">
            <a:noAutofit/>
          </a:bodyPr>
          <a:lstStyle/>
          <a:p>
            <a:pPr rtl="0"/>
            <a:r>
              <a:rPr lang="pt-BR" sz="4000" dirty="0" smtClean="0"/>
              <a:t>Caminhamento em Grafos</a:t>
            </a:r>
            <a:endParaRPr lang="pt-BR" sz="4000" dirty="0"/>
          </a:p>
        </p:txBody>
      </p:sp>
      <p:sp>
        <p:nvSpPr>
          <p:cNvPr id="4" name="Espaço Reservado para Conteúdo 5"/>
          <p:cNvSpPr txBox="1">
            <a:spLocks/>
          </p:cNvSpPr>
          <p:nvPr/>
        </p:nvSpPr>
        <p:spPr>
          <a:xfrm>
            <a:off x="3866905" y="868680"/>
            <a:ext cx="7313295" cy="51206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solidFill>
                  <a:schemeClr val="tx1"/>
                </a:solidFill>
              </a:rPr>
              <a:t>Esse </a:t>
            </a:r>
            <a:r>
              <a:rPr lang="pt-BR" dirty="0" smtClean="0">
                <a:solidFill>
                  <a:schemeClr val="tx1"/>
                </a:solidFill>
              </a:rPr>
              <a:t>método </a:t>
            </a:r>
            <a:r>
              <a:rPr lang="pt-BR" dirty="0">
                <a:solidFill>
                  <a:schemeClr val="tx1"/>
                </a:solidFill>
              </a:rPr>
              <a:t>leva esse nome pois a prioridade na </a:t>
            </a:r>
            <a:r>
              <a:rPr lang="pt-BR" dirty="0" smtClean="0">
                <a:solidFill>
                  <a:schemeClr val="tx1"/>
                </a:solidFill>
              </a:rPr>
              <a:t>travessia do </a:t>
            </a:r>
            <a:r>
              <a:rPr lang="pt-BR" dirty="0">
                <a:solidFill>
                  <a:schemeClr val="tx1"/>
                </a:solidFill>
              </a:rPr>
              <a:t>grafo </a:t>
            </a:r>
            <a:r>
              <a:rPr lang="pt-BR" dirty="0" smtClean="0">
                <a:solidFill>
                  <a:schemeClr val="tx1"/>
                </a:solidFill>
              </a:rPr>
              <a:t>é visitar todos os vizinhos de um nó primeiro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05374" y="4077072"/>
            <a:ext cx="3008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</a:rPr>
              <a:t>Busca em Largura (BFS)</a:t>
            </a:r>
            <a:endParaRPr lang="en-US" b="1" dirty="0">
              <a:solidFill>
                <a:schemeClr val="tx2"/>
              </a:solidFill>
            </a:endParaRPr>
          </a:p>
        </p:txBody>
      </p:sp>
      <p:pic>
        <p:nvPicPr>
          <p:cNvPr id="29698" name="Picture 2" descr="Busca em largura – Wikipédia, a enciclopédia livre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6340" y="1628800"/>
            <a:ext cx="4032448" cy="403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2353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924944"/>
            <a:ext cx="3430117" cy="951008"/>
          </a:xfrm>
        </p:spPr>
        <p:txBody>
          <a:bodyPr rtlCol="0">
            <a:noAutofit/>
          </a:bodyPr>
          <a:lstStyle/>
          <a:p>
            <a:pPr rtl="0"/>
            <a:r>
              <a:rPr lang="pt-BR" sz="4000" dirty="0" smtClean="0"/>
              <a:t>Caminhamento em Grafos</a:t>
            </a:r>
            <a:endParaRPr lang="pt-BR" sz="4000" dirty="0"/>
          </a:p>
        </p:txBody>
      </p:sp>
      <p:sp>
        <p:nvSpPr>
          <p:cNvPr id="4" name="Espaço Reservado para Conteúdo 5"/>
          <p:cNvSpPr txBox="1">
            <a:spLocks/>
          </p:cNvSpPr>
          <p:nvPr/>
        </p:nvSpPr>
        <p:spPr>
          <a:xfrm>
            <a:off x="3866905" y="868680"/>
            <a:ext cx="7313295" cy="51206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tx1"/>
                </a:solidFill>
              </a:rPr>
              <a:t>Algoritmo para BFS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05374" y="4077072"/>
            <a:ext cx="3008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</a:rPr>
              <a:t>Busca em Largura (</a:t>
            </a:r>
            <a:r>
              <a:rPr lang="pt-BR" b="1" dirty="0">
                <a:solidFill>
                  <a:schemeClr val="tx2"/>
                </a:solidFill>
              </a:rPr>
              <a:t>B</a:t>
            </a:r>
            <a:r>
              <a:rPr lang="pt-BR" b="1" dirty="0" smtClean="0">
                <a:solidFill>
                  <a:schemeClr val="tx2"/>
                </a:solidFill>
              </a:rPr>
              <a:t>FS)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4222204" y="1556792"/>
            <a:ext cx="619268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BFS(u)</a:t>
            </a:r>
          </a:p>
          <a:p>
            <a:pPr lvl="1"/>
            <a:r>
              <a:rPr lang="pt-BR" dirty="0" smtClean="0"/>
              <a:t>	Se u não foi visitado</a:t>
            </a:r>
          </a:p>
          <a:p>
            <a:pPr lvl="1"/>
            <a:r>
              <a:rPr lang="pt-BR" dirty="0"/>
              <a:t>	</a:t>
            </a:r>
            <a:r>
              <a:rPr lang="pt-BR" dirty="0" smtClean="0"/>
              <a:t>	Visita u</a:t>
            </a:r>
          </a:p>
          <a:p>
            <a:pPr lvl="1"/>
            <a:r>
              <a:rPr lang="pt-BR" dirty="0"/>
              <a:t>	</a:t>
            </a:r>
            <a:r>
              <a:rPr lang="pt-BR" dirty="0" smtClean="0"/>
              <a:t>	Adiciona u na fila Q</a:t>
            </a:r>
            <a:r>
              <a:rPr lang="pt-BR" dirty="0"/>
              <a:t>	</a:t>
            </a:r>
            <a:r>
              <a:rPr lang="pt-BR" dirty="0" smtClean="0"/>
              <a:t>	</a:t>
            </a:r>
            <a:endParaRPr lang="pt-BR" dirty="0"/>
          </a:p>
          <a:p>
            <a:pPr lvl="1"/>
            <a:r>
              <a:rPr lang="pt-BR" dirty="0"/>
              <a:t>	</a:t>
            </a:r>
            <a:r>
              <a:rPr lang="pt-BR" dirty="0" smtClean="0"/>
              <a:t>Enquanto Q não está vazia</a:t>
            </a:r>
          </a:p>
          <a:p>
            <a:pPr lvl="1"/>
            <a:r>
              <a:rPr lang="pt-BR" dirty="0"/>
              <a:t>	</a:t>
            </a:r>
            <a:r>
              <a:rPr lang="pt-BR" dirty="0" smtClean="0"/>
              <a:t>	v  recebe front(Q)</a:t>
            </a:r>
          </a:p>
          <a:p>
            <a:pPr lvl="1"/>
            <a:r>
              <a:rPr lang="pt-BR" dirty="0"/>
              <a:t>	</a:t>
            </a:r>
            <a:r>
              <a:rPr lang="pt-BR" dirty="0" smtClean="0"/>
              <a:t>	</a:t>
            </a:r>
            <a:r>
              <a:rPr lang="pt-BR" dirty="0" err="1" smtClean="0"/>
              <a:t>Q.pop</a:t>
            </a:r>
            <a:r>
              <a:rPr lang="pt-BR" dirty="0" smtClean="0"/>
              <a:t>()</a:t>
            </a:r>
          </a:p>
          <a:p>
            <a:pPr lvl="1"/>
            <a:r>
              <a:rPr lang="pt-BR" dirty="0"/>
              <a:t>	</a:t>
            </a:r>
            <a:r>
              <a:rPr lang="pt-BR" dirty="0" smtClean="0"/>
              <a:t>	</a:t>
            </a:r>
            <a:r>
              <a:rPr lang="pt-BR" dirty="0" err="1" smtClean="0"/>
              <a:t>print</a:t>
            </a:r>
            <a:r>
              <a:rPr lang="pt-BR" dirty="0" smtClean="0"/>
              <a:t>(v)</a:t>
            </a:r>
          </a:p>
          <a:p>
            <a:pPr lvl="1"/>
            <a:r>
              <a:rPr lang="pt-BR" dirty="0"/>
              <a:t>	</a:t>
            </a:r>
            <a:r>
              <a:rPr lang="pt-BR" dirty="0" smtClean="0"/>
              <a:t>	Para cada sucessor de x de v:</a:t>
            </a:r>
          </a:p>
          <a:p>
            <a:pPr lvl="1"/>
            <a:r>
              <a:rPr lang="pt-BR" dirty="0"/>
              <a:t>	</a:t>
            </a:r>
            <a:r>
              <a:rPr lang="pt-BR" dirty="0" smtClean="0"/>
              <a:t>		Se x não foi visitado</a:t>
            </a:r>
          </a:p>
          <a:p>
            <a:pPr lvl="1"/>
            <a:r>
              <a:rPr lang="pt-BR" dirty="0"/>
              <a:t>	</a:t>
            </a:r>
            <a:r>
              <a:rPr lang="pt-BR" dirty="0" smtClean="0"/>
              <a:t>			visita x</a:t>
            </a:r>
          </a:p>
          <a:p>
            <a:pPr lvl="1"/>
            <a:r>
              <a:rPr lang="pt-BR" dirty="0"/>
              <a:t>	</a:t>
            </a:r>
            <a:r>
              <a:rPr lang="pt-BR" dirty="0" smtClean="0"/>
              <a:t>			Adiciona x na fila Q</a:t>
            </a:r>
          </a:p>
          <a:p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134359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924944"/>
            <a:ext cx="3430117" cy="951008"/>
          </a:xfrm>
        </p:spPr>
        <p:txBody>
          <a:bodyPr rtlCol="0">
            <a:noAutofit/>
          </a:bodyPr>
          <a:lstStyle/>
          <a:p>
            <a:pPr rtl="0"/>
            <a:r>
              <a:rPr lang="pt-BR" sz="4000" dirty="0" smtClean="0"/>
              <a:t>Caminhamento em Grafos</a:t>
            </a:r>
            <a:endParaRPr lang="pt-BR" sz="4000" dirty="0"/>
          </a:p>
        </p:txBody>
      </p:sp>
      <p:sp>
        <p:nvSpPr>
          <p:cNvPr id="4" name="Espaço Reservado para Conteúdo 5"/>
          <p:cNvSpPr txBox="1">
            <a:spLocks/>
          </p:cNvSpPr>
          <p:nvPr/>
        </p:nvSpPr>
        <p:spPr>
          <a:xfrm>
            <a:off x="3866905" y="868680"/>
            <a:ext cx="7313295" cy="51206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tx1"/>
                </a:solidFill>
              </a:rPr>
              <a:t>Algoritmo para BFS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05374" y="4077072"/>
            <a:ext cx="3008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</a:rPr>
              <a:t>Busca em Largura (</a:t>
            </a:r>
            <a:r>
              <a:rPr lang="pt-BR" b="1" dirty="0">
                <a:solidFill>
                  <a:schemeClr val="tx2"/>
                </a:solidFill>
              </a:rPr>
              <a:t>B</a:t>
            </a:r>
            <a:r>
              <a:rPr lang="pt-BR" b="1" dirty="0" smtClean="0">
                <a:solidFill>
                  <a:schemeClr val="tx2"/>
                </a:solidFill>
              </a:rPr>
              <a:t>FS)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4222204" y="1556792"/>
            <a:ext cx="61926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BFS(u)</a:t>
            </a:r>
          </a:p>
          <a:p>
            <a:pPr lvl="1"/>
            <a:r>
              <a:rPr lang="pt-BR" dirty="0" smtClean="0"/>
              <a:t>Para cada vértice vizinho à u</a:t>
            </a:r>
          </a:p>
          <a:p>
            <a:pPr lvl="1"/>
            <a:r>
              <a:rPr lang="pt-BR" dirty="0" smtClean="0"/>
              <a:t>	Se u não foi visitado</a:t>
            </a:r>
          </a:p>
          <a:p>
            <a:pPr lvl="1"/>
            <a:r>
              <a:rPr lang="pt-BR" dirty="0"/>
              <a:t>	</a:t>
            </a:r>
            <a:r>
              <a:rPr lang="pt-BR" dirty="0" smtClean="0"/>
              <a:t>	Visita u</a:t>
            </a:r>
          </a:p>
          <a:p>
            <a:pPr lvl="1"/>
            <a:r>
              <a:rPr lang="pt-BR" dirty="0"/>
              <a:t>	</a:t>
            </a:r>
            <a:r>
              <a:rPr lang="pt-BR" dirty="0" smtClean="0"/>
              <a:t>	Adiciona u na fila Q</a:t>
            </a:r>
            <a:r>
              <a:rPr lang="pt-BR" dirty="0"/>
              <a:t>	</a:t>
            </a:r>
            <a:r>
              <a:rPr lang="pt-BR" dirty="0" smtClean="0"/>
              <a:t>	</a:t>
            </a:r>
            <a:endParaRPr lang="pt-BR" dirty="0"/>
          </a:p>
          <a:p>
            <a:pPr lvl="1"/>
            <a:r>
              <a:rPr lang="pt-BR" dirty="0"/>
              <a:t>	</a:t>
            </a:r>
            <a:r>
              <a:rPr lang="pt-BR" dirty="0" smtClean="0"/>
              <a:t>Enquanto Q não está vazia</a:t>
            </a:r>
          </a:p>
          <a:p>
            <a:pPr lvl="1"/>
            <a:r>
              <a:rPr lang="pt-BR" dirty="0"/>
              <a:t>	</a:t>
            </a:r>
            <a:r>
              <a:rPr lang="pt-BR" dirty="0" smtClean="0"/>
              <a:t>	v  recebe front(Q)</a:t>
            </a:r>
          </a:p>
          <a:p>
            <a:pPr lvl="1"/>
            <a:r>
              <a:rPr lang="pt-BR" dirty="0"/>
              <a:t>	</a:t>
            </a:r>
            <a:r>
              <a:rPr lang="pt-BR" dirty="0" smtClean="0"/>
              <a:t>	</a:t>
            </a:r>
            <a:r>
              <a:rPr lang="pt-BR" dirty="0" err="1" smtClean="0"/>
              <a:t>Q.pop</a:t>
            </a:r>
            <a:r>
              <a:rPr lang="pt-BR" dirty="0" smtClean="0"/>
              <a:t>()</a:t>
            </a:r>
          </a:p>
          <a:p>
            <a:pPr lvl="1"/>
            <a:r>
              <a:rPr lang="pt-BR" dirty="0"/>
              <a:t>	</a:t>
            </a:r>
            <a:r>
              <a:rPr lang="pt-BR" dirty="0" smtClean="0"/>
              <a:t>	</a:t>
            </a:r>
            <a:r>
              <a:rPr lang="pt-BR" dirty="0" err="1" smtClean="0"/>
              <a:t>print</a:t>
            </a:r>
            <a:r>
              <a:rPr lang="pt-BR" dirty="0" smtClean="0"/>
              <a:t>(v)</a:t>
            </a:r>
          </a:p>
          <a:p>
            <a:pPr lvl="1"/>
            <a:r>
              <a:rPr lang="pt-BR" dirty="0"/>
              <a:t>	</a:t>
            </a:r>
            <a:r>
              <a:rPr lang="pt-BR" dirty="0" smtClean="0"/>
              <a:t>	Para cada sucessor de x de v:</a:t>
            </a:r>
          </a:p>
          <a:p>
            <a:pPr lvl="1"/>
            <a:r>
              <a:rPr lang="pt-BR" dirty="0"/>
              <a:t>	</a:t>
            </a:r>
            <a:r>
              <a:rPr lang="pt-BR" dirty="0" smtClean="0"/>
              <a:t>		Se x não foi visitado</a:t>
            </a:r>
          </a:p>
          <a:p>
            <a:pPr lvl="1"/>
            <a:r>
              <a:rPr lang="pt-BR" dirty="0"/>
              <a:t>	</a:t>
            </a:r>
            <a:r>
              <a:rPr lang="pt-BR" dirty="0" smtClean="0"/>
              <a:t>			visita x</a:t>
            </a:r>
          </a:p>
          <a:p>
            <a:pPr lvl="1"/>
            <a:r>
              <a:rPr lang="pt-BR" dirty="0"/>
              <a:t>	</a:t>
            </a:r>
            <a:r>
              <a:rPr lang="pt-BR" dirty="0" smtClean="0"/>
              <a:t>			Adiciona x na fila Q</a:t>
            </a:r>
          </a:p>
          <a:p>
            <a:endParaRPr lang="pt-BR" dirty="0" smtClean="0"/>
          </a:p>
        </p:txBody>
      </p:sp>
      <p:sp>
        <p:nvSpPr>
          <p:cNvPr id="7" name="CaixaDeTexto 6"/>
          <p:cNvSpPr txBox="1"/>
          <p:nvPr/>
        </p:nvSpPr>
        <p:spPr>
          <a:xfrm>
            <a:off x="9118748" y="868680"/>
            <a:ext cx="2061452" cy="230832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Para cada vértice vizinho visitado, visitaremos também os seus vizinhos na ordem em que os primeiros foram visitados</a:t>
            </a:r>
            <a:endParaRPr lang="en-US" dirty="0"/>
          </a:p>
        </p:txBody>
      </p:sp>
      <p:cxnSp>
        <p:nvCxnSpPr>
          <p:cNvPr id="9" name="Conector em curva 8"/>
          <p:cNvCxnSpPr>
            <a:stCxn id="7" idx="1"/>
          </p:cNvCxnSpPr>
          <p:nvPr/>
        </p:nvCxnSpPr>
        <p:spPr>
          <a:xfrm rot="10800000" flipV="1">
            <a:off x="8038628" y="2022842"/>
            <a:ext cx="1080120" cy="75808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em curva 10"/>
          <p:cNvCxnSpPr>
            <a:stCxn id="7" idx="1"/>
          </p:cNvCxnSpPr>
          <p:nvPr/>
        </p:nvCxnSpPr>
        <p:spPr>
          <a:xfrm rot="10800000" flipV="1">
            <a:off x="7822604" y="2022842"/>
            <a:ext cx="1296144" cy="1154162"/>
          </a:xfrm>
          <a:prstGeom prst="curvedConnector3">
            <a:avLst>
              <a:gd name="adj1" fmla="val 311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833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924944"/>
            <a:ext cx="3430117" cy="951008"/>
          </a:xfrm>
        </p:spPr>
        <p:txBody>
          <a:bodyPr rtlCol="0">
            <a:noAutofit/>
          </a:bodyPr>
          <a:lstStyle/>
          <a:p>
            <a:pPr rtl="0"/>
            <a:r>
              <a:rPr lang="pt-BR" sz="4000" dirty="0" smtClean="0"/>
              <a:t>Caminhamento em Grafos</a:t>
            </a:r>
            <a:endParaRPr lang="pt-BR" sz="4000" dirty="0"/>
          </a:p>
        </p:txBody>
      </p:sp>
      <p:sp>
        <p:nvSpPr>
          <p:cNvPr id="4" name="Espaço Reservado para Conteúdo 5"/>
          <p:cNvSpPr txBox="1">
            <a:spLocks/>
          </p:cNvSpPr>
          <p:nvPr/>
        </p:nvSpPr>
        <p:spPr>
          <a:xfrm>
            <a:off x="3866905" y="868680"/>
            <a:ext cx="7313295" cy="51206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smtClean="0">
                <a:solidFill>
                  <a:schemeClr val="tx1"/>
                </a:solidFill>
              </a:rPr>
              <a:t>Algoritmo para BFS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05374" y="4077072"/>
            <a:ext cx="3008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tx2"/>
                </a:solidFill>
              </a:rPr>
              <a:t>Busca em Largura (</a:t>
            </a:r>
            <a:r>
              <a:rPr lang="pt-BR" b="1" dirty="0">
                <a:solidFill>
                  <a:schemeClr val="tx2"/>
                </a:solidFill>
              </a:rPr>
              <a:t>B</a:t>
            </a:r>
            <a:r>
              <a:rPr lang="pt-BR" b="1" dirty="0" smtClean="0">
                <a:solidFill>
                  <a:schemeClr val="tx2"/>
                </a:solidFill>
              </a:rPr>
              <a:t>FS)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4222204" y="1556792"/>
            <a:ext cx="61926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BFS(u)</a:t>
            </a:r>
          </a:p>
          <a:p>
            <a:pPr lvl="1"/>
            <a:r>
              <a:rPr lang="pt-BR" dirty="0" smtClean="0"/>
              <a:t>Para cada vértice vizinho à u</a:t>
            </a:r>
          </a:p>
          <a:p>
            <a:pPr lvl="1"/>
            <a:r>
              <a:rPr lang="pt-BR" dirty="0" smtClean="0"/>
              <a:t>	Se u não foi visitado</a:t>
            </a:r>
          </a:p>
          <a:p>
            <a:pPr lvl="1"/>
            <a:r>
              <a:rPr lang="pt-BR" dirty="0"/>
              <a:t>	</a:t>
            </a:r>
            <a:r>
              <a:rPr lang="pt-BR" dirty="0" smtClean="0"/>
              <a:t>	Visita u</a:t>
            </a:r>
          </a:p>
          <a:p>
            <a:pPr lvl="1"/>
            <a:r>
              <a:rPr lang="pt-BR" dirty="0"/>
              <a:t>	</a:t>
            </a:r>
            <a:r>
              <a:rPr lang="pt-BR" dirty="0" smtClean="0"/>
              <a:t>	Adiciona u na fila Q</a:t>
            </a:r>
            <a:r>
              <a:rPr lang="pt-BR" dirty="0"/>
              <a:t>	</a:t>
            </a:r>
            <a:r>
              <a:rPr lang="pt-BR" dirty="0" smtClean="0"/>
              <a:t>	</a:t>
            </a:r>
            <a:endParaRPr lang="pt-BR" dirty="0"/>
          </a:p>
          <a:p>
            <a:pPr lvl="1"/>
            <a:r>
              <a:rPr lang="pt-BR" dirty="0"/>
              <a:t>	</a:t>
            </a:r>
            <a:r>
              <a:rPr lang="pt-BR" dirty="0" smtClean="0"/>
              <a:t>Enquanto Q não está vazia</a:t>
            </a:r>
          </a:p>
          <a:p>
            <a:pPr lvl="1"/>
            <a:r>
              <a:rPr lang="pt-BR" dirty="0"/>
              <a:t>	</a:t>
            </a:r>
            <a:r>
              <a:rPr lang="pt-BR" dirty="0" smtClean="0"/>
              <a:t>	v  recebe front(Q)</a:t>
            </a:r>
          </a:p>
          <a:p>
            <a:pPr lvl="1"/>
            <a:r>
              <a:rPr lang="pt-BR" dirty="0"/>
              <a:t>	</a:t>
            </a:r>
            <a:r>
              <a:rPr lang="pt-BR" dirty="0" smtClean="0"/>
              <a:t>	</a:t>
            </a:r>
            <a:r>
              <a:rPr lang="pt-BR" dirty="0" err="1" smtClean="0"/>
              <a:t>Q.pop</a:t>
            </a:r>
            <a:r>
              <a:rPr lang="pt-BR" dirty="0" smtClean="0"/>
              <a:t>()</a:t>
            </a:r>
          </a:p>
          <a:p>
            <a:pPr lvl="1"/>
            <a:r>
              <a:rPr lang="pt-BR" dirty="0"/>
              <a:t>	</a:t>
            </a:r>
            <a:r>
              <a:rPr lang="pt-BR" dirty="0" smtClean="0"/>
              <a:t>	</a:t>
            </a:r>
            <a:r>
              <a:rPr lang="pt-BR" dirty="0" err="1" smtClean="0"/>
              <a:t>print</a:t>
            </a:r>
            <a:r>
              <a:rPr lang="pt-BR" dirty="0" smtClean="0"/>
              <a:t>(v)</a:t>
            </a:r>
          </a:p>
          <a:p>
            <a:pPr lvl="1"/>
            <a:r>
              <a:rPr lang="pt-BR" dirty="0"/>
              <a:t>	</a:t>
            </a:r>
            <a:r>
              <a:rPr lang="pt-BR" dirty="0" smtClean="0"/>
              <a:t>	Para cada sucessor de x de v:</a:t>
            </a:r>
          </a:p>
          <a:p>
            <a:pPr lvl="1"/>
            <a:r>
              <a:rPr lang="pt-BR" dirty="0"/>
              <a:t>	</a:t>
            </a:r>
            <a:r>
              <a:rPr lang="pt-BR" dirty="0" smtClean="0"/>
              <a:t>		Se x não foi visitado</a:t>
            </a:r>
          </a:p>
          <a:p>
            <a:pPr lvl="1"/>
            <a:r>
              <a:rPr lang="pt-BR" dirty="0"/>
              <a:t>	</a:t>
            </a:r>
            <a:r>
              <a:rPr lang="pt-BR" dirty="0" smtClean="0"/>
              <a:t>			visita x</a:t>
            </a:r>
          </a:p>
          <a:p>
            <a:pPr lvl="1"/>
            <a:r>
              <a:rPr lang="pt-BR" dirty="0"/>
              <a:t>	</a:t>
            </a:r>
            <a:r>
              <a:rPr lang="pt-BR" dirty="0" smtClean="0"/>
              <a:t>			Adiciona x na fila Q</a:t>
            </a:r>
          </a:p>
          <a:p>
            <a:endParaRPr lang="pt-BR" dirty="0" smtClean="0"/>
          </a:p>
        </p:txBody>
      </p:sp>
      <p:sp>
        <p:nvSpPr>
          <p:cNvPr id="7" name="CaixaDeTexto 6"/>
          <p:cNvSpPr txBox="1"/>
          <p:nvPr/>
        </p:nvSpPr>
        <p:spPr>
          <a:xfrm>
            <a:off x="9118748" y="868680"/>
            <a:ext cx="2061452" cy="230832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 smtClean="0"/>
              <a:t>Para cada vértice vizinho visitado, visitaremos também os seus vizinhos na ordem em que os primeiros foram visitados</a:t>
            </a:r>
            <a:endParaRPr lang="en-US" dirty="0"/>
          </a:p>
        </p:txBody>
      </p:sp>
      <p:cxnSp>
        <p:nvCxnSpPr>
          <p:cNvPr id="9" name="Conector em curva 8"/>
          <p:cNvCxnSpPr>
            <a:stCxn id="7" idx="1"/>
          </p:cNvCxnSpPr>
          <p:nvPr/>
        </p:nvCxnSpPr>
        <p:spPr>
          <a:xfrm rot="10800000" flipV="1">
            <a:off x="8038628" y="2022842"/>
            <a:ext cx="1080120" cy="75808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em curva 10"/>
          <p:cNvCxnSpPr>
            <a:stCxn id="7" idx="1"/>
          </p:cNvCxnSpPr>
          <p:nvPr/>
        </p:nvCxnSpPr>
        <p:spPr>
          <a:xfrm rot="10800000" flipV="1">
            <a:off x="7822604" y="2022842"/>
            <a:ext cx="1296144" cy="1154162"/>
          </a:xfrm>
          <a:prstGeom prst="curvedConnector3">
            <a:avLst>
              <a:gd name="adj1" fmla="val 3112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/>
          <p:cNvSpPr txBox="1"/>
          <p:nvPr/>
        </p:nvSpPr>
        <p:spPr>
          <a:xfrm>
            <a:off x="3866905" y="5989320"/>
            <a:ext cx="6764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accent2"/>
                </a:solidFill>
              </a:rPr>
              <a:t>Mais vantajosos se estiver utilizando C++! Usar a biblioteca queue.</a:t>
            </a:r>
            <a:endParaRPr lang="en-US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5415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https://olimpiada.ic.unicamp.br/static/img/task_images/2017f3pj_onibu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64" y="3429303"/>
            <a:ext cx="2661853" cy="2038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1103825"/>
            <a:ext cx="3430117" cy="1800200"/>
          </a:xfrm>
        </p:spPr>
        <p:txBody>
          <a:bodyPr rtlCol="0">
            <a:noAutofit/>
          </a:bodyPr>
          <a:lstStyle/>
          <a:p>
            <a:pPr rtl="0"/>
            <a:r>
              <a:rPr lang="pt-BR" sz="3600" b="1" dirty="0" smtClean="0"/>
              <a:t>Aplicação de Grafos e Algoritmos de Busca</a:t>
            </a:r>
            <a:endParaRPr lang="pt-BR" sz="3600" b="1" dirty="0"/>
          </a:p>
        </p:txBody>
      </p:sp>
      <p:grpSp>
        <p:nvGrpSpPr>
          <p:cNvPr id="5" name="Grupo 4"/>
          <p:cNvGrpSpPr/>
          <p:nvPr/>
        </p:nvGrpSpPr>
        <p:grpSpPr>
          <a:xfrm>
            <a:off x="3527643" y="3429000"/>
            <a:ext cx="7992888" cy="2376264"/>
            <a:chOff x="3609071" y="2564904"/>
            <a:chExt cx="7992888" cy="2376264"/>
          </a:xfrm>
        </p:grpSpPr>
        <p:sp>
          <p:nvSpPr>
            <p:cNvPr id="4" name="Retângulo 3"/>
            <p:cNvSpPr/>
            <p:nvPr/>
          </p:nvSpPr>
          <p:spPr>
            <a:xfrm>
              <a:off x="3609071" y="2564904"/>
              <a:ext cx="7992888" cy="23762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CaixaDeTexto 2"/>
            <p:cNvSpPr txBox="1"/>
            <p:nvPr/>
          </p:nvSpPr>
          <p:spPr>
            <a:xfrm>
              <a:off x="3609071" y="3068960"/>
              <a:ext cx="799288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200" dirty="0" smtClean="0"/>
                <a:t>3° Fase OBI – 2017</a:t>
              </a:r>
            </a:p>
            <a:p>
              <a:pPr algn="ctr"/>
              <a:r>
                <a:rPr lang="pt-BR" sz="3200" dirty="0" smtClean="0"/>
                <a:t>Ônibus</a:t>
              </a:r>
            </a:p>
            <a:p>
              <a:pPr algn="ctr"/>
              <a:r>
                <a:rPr lang="en-US" sz="2400" dirty="0"/>
                <a:t>https://olimpiada.ic.unicamp.br/pratique/pj/2017/f3/onibus/</a:t>
              </a:r>
            </a:p>
          </p:txBody>
        </p:sp>
      </p:grpSp>
      <p:pic>
        <p:nvPicPr>
          <p:cNvPr id="8" name="Image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926" y="202662"/>
            <a:ext cx="2880320" cy="280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500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https://olimpiada.ic.unicamp.br/static/img/task_images/2017f3pj_onibu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64" y="3429303"/>
            <a:ext cx="2661853" cy="2038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1103825"/>
            <a:ext cx="3430117" cy="1800200"/>
          </a:xfrm>
        </p:spPr>
        <p:txBody>
          <a:bodyPr rtlCol="0">
            <a:noAutofit/>
          </a:bodyPr>
          <a:lstStyle/>
          <a:p>
            <a:pPr rtl="0"/>
            <a:r>
              <a:rPr lang="pt-BR" sz="3600" b="1" dirty="0" smtClean="0"/>
              <a:t>Aplicação de Grafos e Algoritmos de Busca</a:t>
            </a:r>
            <a:endParaRPr lang="pt-BR" sz="3600" b="1" dirty="0"/>
          </a:p>
        </p:txBody>
      </p:sp>
      <p:grpSp>
        <p:nvGrpSpPr>
          <p:cNvPr id="5" name="Grupo 4"/>
          <p:cNvGrpSpPr/>
          <p:nvPr/>
        </p:nvGrpSpPr>
        <p:grpSpPr>
          <a:xfrm>
            <a:off x="3527643" y="3429000"/>
            <a:ext cx="7992888" cy="2376264"/>
            <a:chOff x="3609071" y="2564904"/>
            <a:chExt cx="7992888" cy="2376264"/>
          </a:xfrm>
        </p:grpSpPr>
        <p:sp>
          <p:nvSpPr>
            <p:cNvPr id="4" name="Retângulo 3"/>
            <p:cNvSpPr/>
            <p:nvPr/>
          </p:nvSpPr>
          <p:spPr>
            <a:xfrm>
              <a:off x="3609071" y="2564904"/>
              <a:ext cx="7992888" cy="23762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CaixaDeTexto 2"/>
            <p:cNvSpPr txBox="1"/>
            <p:nvPr/>
          </p:nvSpPr>
          <p:spPr>
            <a:xfrm>
              <a:off x="3609071" y="3068960"/>
              <a:ext cx="7992887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3200" dirty="0" smtClean="0"/>
                <a:t>1° Fase OBI – 2007</a:t>
              </a:r>
            </a:p>
            <a:p>
              <a:pPr algn="ctr"/>
              <a:r>
                <a:rPr lang="pt-BR" sz="3200" dirty="0" smtClean="0"/>
                <a:t>Mobile</a:t>
              </a:r>
            </a:p>
            <a:p>
              <a:pPr algn="ctr"/>
              <a:r>
                <a:rPr lang="pt-BR" sz="2400" dirty="0"/>
                <a:t>https://olimpiada.ic.unicamp.br/pratique/p2/2007/f1/mobile/</a:t>
              </a:r>
            </a:p>
            <a:p>
              <a:pPr algn="ctr"/>
              <a:endParaRPr lang="en-US" sz="2400" dirty="0">
                <a:solidFill>
                  <a:schemeClr val="bg2"/>
                </a:solidFill>
              </a:endParaRPr>
            </a:p>
          </p:txBody>
        </p:sp>
      </p:grpSp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926" y="202662"/>
            <a:ext cx="2880320" cy="280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202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5"/>
          <p:cNvSpPr txBox="1">
            <a:spLocks/>
          </p:cNvSpPr>
          <p:nvPr/>
        </p:nvSpPr>
        <p:spPr>
          <a:xfrm>
            <a:off x="3866905" y="868680"/>
            <a:ext cx="7988147" cy="55126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solidFill>
                  <a:schemeClr val="tx1"/>
                </a:solidFill>
                <a:hlinkClick r:id="rId3"/>
              </a:rPr>
              <a:t>https://olimpiada.ic.unicamp.br/pratique/pj/2017/f3/onibus</a:t>
            </a:r>
            <a:r>
              <a:rPr lang="pt-BR" dirty="0" smtClean="0">
                <a:solidFill>
                  <a:schemeClr val="tx1"/>
                </a:solidFill>
                <a:hlinkClick r:id="rId3"/>
              </a:rPr>
              <a:t>/</a:t>
            </a:r>
            <a:endParaRPr lang="pt-BR" dirty="0" smtClean="0">
              <a:solidFill>
                <a:schemeClr val="tx1"/>
              </a:solidFill>
            </a:endParaRPr>
          </a:p>
          <a:p>
            <a:r>
              <a:rPr lang="pt-BR" dirty="0">
                <a:solidFill>
                  <a:schemeClr val="tx1"/>
                </a:solidFill>
                <a:hlinkClick r:id="rId4"/>
              </a:rPr>
              <a:t>https://olimpiada.ic.unicamp.br/pratique/p2/2011/f1/cartografico</a:t>
            </a:r>
            <a:r>
              <a:rPr lang="pt-BR" dirty="0" smtClean="0">
                <a:solidFill>
                  <a:schemeClr val="tx1"/>
                </a:solidFill>
                <a:hlinkClick r:id="rId4"/>
              </a:rPr>
              <a:t>/</a:t>
            </a:r>
            <a:endParaRPr lang="pt-BR" dirty="0" smtClean="0">
              <a:solidFill>
                <a:schemeClr val="tx1"/>
              </a:solidFill>
            </a:endParaRPr>
          </a:p>
          <a:p>
            <a:r>
              <a:rPr lang="pt-BR" strike="sngStrike" dirty="0">
                <a:solidFill>
                  <a:schemeClr val="tx1"/>
                </a:solidFill>
                <a:hlinkClick r:id="rId5"/>
              </a:rPr>
              <a:t>https://olimpiada.ic.unicamp.br/pratique/p2/2007/f1/pastas</a:t>
            </a:r>
            <a:r>
              <a:rPr lang="pt-BR" strike="sngStrike" dirty="0" smtClean="0">
                <a:solidFill>
                  <a:schemeClr val="tx1"/>
                </a:solidFill>
                <a:hlinkClick r:id="rId5"/>
              </a:rPr>
              <a:t>/</a:t>
            </a:r>
            <a:endParaRPr lang="pt-BR" strike="sngStrike" dirty="0" smtClean="0">
              <a:solidFill>
                <a:schemeClr val="tx1"/>
              </a:solidFill>
            </a:endParaRPr>
          </a:p>
          <a:p>
            <a:r>
              <a:rPr lang="pt-BR" strike="sngStrike" dirty="0">
                <a:solidFill>
                  <a:schemeClr val="tx1"/>
                </a:solidFill>
                <a:hlinkClick r:id="rId6"/>
              </a:rPr>
              <a:t>https://olimpiada.ic.unicamp.br/pratique/pj/2014/f2/bolinha</a:t>
            </a:r>
            <a:r>
              <a:rPr lang="pt-BR" strike="sngStrike" dirty="0" smtClean="0">
                <a:solidFill>
                  <a:schemeClr val="tx1"/>
                </a:solidFill>
                <a:hlinkClick r:id="rId6"/>
              </a:rPr>
              <a:t>/</a:t>
            </a:r>
            <a:endParaRPr lang="pt-BR" strike="sngStrike" dirty="0" smtClean="0">
              <a:solidFill>
                <a:schemeClr val="tx1"/>
              </a:solidFill>
            </a:endParaRPr>
          </a:p>
          <a:p>
            <a:r>
              <a:rPr lang="pt-BR" dirty="0">
                <a:solidFill>
                  <a:schemeClr val="tx1"/>
                </a:solidFill>
                <a:hlinkClick r:id="rId7"/>
              </a:rPr>
              <a:t>https://olimpiada.ic.unicamp.br/pratique/p2/2007/f1/mobile</a:t>
            </a:r>
            <a:r>
              <a:rPr lang="pt-BR" dirty="0" smtClean="0">
                <a:solidFill>
                  <a:schemeClr val="tx1"/>
                </a:solidFill>
                <a:hlinkClick r:id="rId7"/>
              </a:rPr>
              <a:t>/</a:t>
            </a:r>
            <a:endParaRPr lang="pt-BR" dirty="0" smtClean="0">
              <a:solidFill>
                <a:schemeClr val="tx1"/>
              </a:solidFill>
            </a:endParaRPr>
          </a:p>
          <a:p>
            <a:r>
              <a:rPr lang="pt-BR" dirty="0">
                <a:solidFill>
                  <a:schemeClr val="tx1"/>
                </a:solidFill>
                <a:hlinkClick r:id="rId8"/>
              </a:rPr>
              <a:t>https://olimpiada.ic.unicamp.br/pratique/p2/2007/f2/lab</a:t>
            </a:r>
            <a:r>
              <a:rPr lang="pt-BR" dirty="0" smtClean="0">
                <a:solidFill>
                  <a:schemeClr val="tx1"/>
                </a:solidFill>
                <a:hlinkClick r:id="rId8"/>
              </a:rPr>
              <a:t>/</a:t>
            </a:r>
            <a:endParaRPr lang="pt-BR" dirty="0" smtClean="0">
              <a:solidFill>
                <a:schemeClr val="tx1"/>
              </a:solidFill>
            </a:endParaRPr>
          </a:p>
          <a:p>
            <a:endParaRPr lang="pt-BR" dirty="0" smtClean="0">
              <a:solidFill>
                <a:schemeClr val="tx1"/>
              </a:solidFill>
            </a:endParaRPr>
          </a:p>
          <a:p>
            <a:r>
              <a:rPr lang="pt-BR" dirty="0" smtClean="0">
                <a:solidFill>
                  <a:schemeClr val="tx1"/>
                </a:solidFill>
                <a:hlinkClick r:id="rId9"/>
              </a:rPr>
              <a:t>https</a:t>
            </a:r>
            <a:r>
              <a:rPr lang="pt-BR" dirty="0">
                <a:solidFill>
                  <a:schemeClr val="tx1"/>
                </a:solidFill>
                <a:hlinkClick r:id="rId9"/>
              </a:rPr>
              <a:t>://br.spoj.com/problems/ROBO13</a:t>
            </a:r>
            <a:r>
              <a:rPr lang="pt-BR" dirty="0" smtClean="0">
                <a:solidFill>
                  <a:schemeClr val="tx1"/>
                </a:solidFill>
                <a:hlinkClick r:id="rId9"/>
              </a:rPr>
              <a:t>/</a:t>
            </a:r>
            <a:endParaRPr lang="pt-BR" dirty="0" smtClean="0">
              <a:solidFill>
                <a:schemeClr val="tx1"/>
              </a:solidFill>
            </a:endParaRPr>
          </a:p>
          <a:p>
            <a:r>
              <a:rPr lang="pt-BR" dirty="0" smtClean="0">
                <a:solidFill>
                  <a:schemeClr val="tx1"/>
                </a:solidFill>
                <a:hlinkClick r:id="rId10"/>
              </a:rPr>
              <a:t>https</a:t>
            </a:r>
            <a:r>
              <a:rPr lang="pt-BR" dirty="0">
                <a:solidFill>
                  <a:schemeClr val="tx1"/>
                </a:solidFill>
                <a:hlinkClick r:id="rId10"/>
              </a:rPr>
              <a:t>://br.spoj.com/problems/TARZAN12</a:t>
            </a:r>
            <a:r>
              <a:rPr lang="pt-BR" dirty="0" smtClean="0">
                <a:solidFill>
                  <a:schemeClr val="tx1"/>
                </a:solidFill>
                <a:hlinkClick r:id="rId10"/>
              </a:rPr>
              <a:t>/</a:t>
            </a:r>
            <a:endParaRPr lang="pt-BR" dirty="0" smtClean="0">
              <a:solidFill>
                <a:schemeClr val="tx1"/>
              </a:solidFill>
            </a:endParaRPr>
          </a:p>
          <a:p>
            <a:r>
              <a:rPr lang="pt-BR" dirty="0" smtClean="0">
                <a:solidFill>
                  <a:schemeClr val="tx1"/>
                </a:solidFill>
                <a:hlinkClick r:id="rId11"/>
              </a:rPr>
              <a:t>https</a:t>
            </a:r>
            <a:r>
              <a:rPr lang="pt-BR" dirty="0">
                <a:solidFill>
                  <a:schemeClr val="tx1"/>
                </a:solidFill>
                <a:hlinkClick r:id="rId11"/>
              </a:rPr>
              <a:t>://br.spoj.com/problems/IREVIR</a:t>
            </a:r>
            <a:r>
              <a:rPr lang="pt-BR" dirty="0" smtClean="0">
                <a:solidFill>
                  <a:schemeClr val="tx1"/>
                </a:solidFill>
                <a:hlinkClick r:id="rId11"/>
              </a:rPr>
              <a:t>/</a:t>
            </a:r>
            <a:endParaRPr lang="pt-BR" dirty="0" smtClean="0">
              <a:solidFill>
                <a:schemeClr val="tx1"/>
              </a:solidFill>
            </a:endParaRPr>
          </a:p>
          <a:p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0" y="2564904"/>
            <a:ext cx="3430117" cy="18002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 smtClean="0"/>
              <a:t>Para Exercitar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16473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5"/>
          <p:cNvSpPr txBox="1">
            <a:spLocks/>
          </p:cNvSpPr>
          <p:nvPr/>
        </p:nvSpPr>
        <p:spPr>
          <a:xfrm>
            <a:off x="3866905" y="868680"/>
            <a:ext cx="7988147" cy="55126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0" y="2564904"/>
            <a:ext cx="3430117" cy="18002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12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898" b="0" kern="1200" spc="-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 smtClean="0"/>
              <a:t>Desafios</a:t>
            </a:r>
            <a:endParaRPr lang="pt-BR" dirty="0"/>
          </a:p>
        </p:txBody>
      </p:sp>
      <p:sp>
        <p:nvSpPr>
          <p:cNvPr id="5" name="Espaço Reservado para Conteúdo 5"/>
          <p:cNvSpPr txBox="1">
            <a:spLocks/>
          </p:cNvSpPr>
          <p:nvPr/>
        </p:nvSpPr>
        <p:spPr>
          <a:xfrm>
            <a:off x="4019305" y="1021080"/>
            <a:ext cx="7988147" cy="55126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126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2199" kern="1200" cap="none" spc="0" baseline="0">
                <a:solidFill>
                  <a:schemeClr val="bg2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06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799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126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189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251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314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377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440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503" indent="0" algn="l" defTabSz="914126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tabLst>
                <a:tab pos="1142657" algn="l"/>
              </a:tabLst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solidFill>
                  <a:schemeClr val="tx1"/>
                </a:solidFill>
                <a:hlinkClick r:id="rId3"/>
              </a:rPr>
              <a:t>https://br.spoj.com/problems/ORKUT</a:t>
            </a:r>
            <a:r>
              <a:rPr lang="pt-BR" dirty="0" smtClean="0">
                <a:solidFill>
                  <a:schemeClr val="tx1"/>
                </a:solidFill>
                <a:hlinkClick r:id="rId3"/>
              </a:rPr>
              <a:t>/</a:t>
            </a:r>
            <a:endParaRPr lang="pt-BR" dirty="0" smtClean="0">
              <a:solidFill>
                <a:schemeClr val="tx1"/>
              </a:solidFill>
            </a:endParaRPr>
          </a:p>
          <a:p>
            <a:r>
              <a:rPr lang="pt-BR" dirty="0">
                <a:solidFill>
                  <a:schemeClr val="tx1"/>
                </a:solidFill>
                <a:hlinkClick r:id="rId4"/>
              </a:rPr>
              <a:t>https://br.spoj.com/problems/RODOVI13</a:t>
            </a:r>
            <a:r>
              <a:rPr lang="pt-BR" dirty="0" smtClean="0">
                <a:solidFill>
                  <a:schemeClr val="tx1"/>
                </a:solidFill>
                <a:hlinkClick r:id="rId4"/>
              </a:rPr>
              <a:t>/</a:t>
            </a:r>
            <a:endParaRPr lang="pt-BR" dirty="0" smtClean="0">
              <a:solidFill>
                <a:schemeClr val="tx1"/>
              </a:solidFill>
            </a:endParaRPr>
          </a:p>
          <a:p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2752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Quadro">
  <a:themeElements>
    <a:clrScheme name="Personalizada 6">
      <a:dk1>
        <a:sysClr val="windowText" lastClr="000000"/>
      </a:dk1>
      <a:lt1>
        <a:sysClr val="window" lastClr="FFFFFF"/>
      </a:lt1>
      <a:dk2>
        <a:srgbClr val="4A3F38"/>
      </a:dk2>
      <a:lt2>
        <a:srgbClr val="FFFFFF"/>
      </a:lt2>
      <a:accent1>
        <a:srgbClr val="818E9F"/>
      </a:accent1>
      <a:accent2>
        <a:srgbClr val="D26400"/>
      </a:accent2>
      <a:accent3>
        <a:srgbClr val="C3BA45"/>
      </a:accent3>
      <a:accent4>
        <a:srgbClr val="8A8552"/>
      </a:accent4>
      <a:accent5>
        <a:srgbClr val="F3B843"/>
      </a:accent5>
      <a:accent6>
        <a:srgbClr val="786C71"/>
      </a:accent6>
      <a:hlink>
        <a:srgbClr val="46A7CA"/>
      </a:hlink>
      <a:folHlink>
        <a:srgbClr val="B2B2B2"/>
      </a:folHlink>
    </a:clrScheme>
    <a:fontScheme name="Quadro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adro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9935E573-C197-41A8-BCA1-5D5F62C560B7}"/>
    </a:ext>
  </a:extLst>
</a:theme>
</file>

<file path=ppt/theme/theme2.xml><?xml version="1.0" encoding="utf-8"?>
<a:theme xmlns:a="http://schemas.openxmlformats.org/drawingml/2006/main" name="Tema do Offic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TM03457475[[fn=Quadro]]</Template>
  <TotalTime>802</TotalTime>
  <Words>2318</Words>
  <Application>Microsoft Office PowerPoint</Application>
  <PresentationFormat>Personalizar</PresentationFormat>
  <Paragraphs>645</Paragraphs>
  <Slides>54</Slides>
  <Notes>54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54</vt:i4>
      </vt:variant>
    </vt:vector>
  </HeadingPairs>
  <TitlesOfParts>
    <vt:vector size="57" baseType="lpstr">
      <vt:lpstr>Corbel</vt:lpstr>
      <vt:lpstr>Wingdings 2</vt:lpstr>
      <vt:lpstr>Quadro</vt:lpstr>
      <vt:lpstr>Aula 10: Introdução a Grafos</vt:lpstr>
      <vt:lpstr>Tópicos da Aula</vt:lpstr>
      <vt:lpstr>Motivação</vt:lpstr>
      <vt:lpstr>Motivação</vt:lpstr>
      <vt:lpstr>Motivação</vt:lpstr>
      <vt:lpstr>Tipos e Definições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Tratamento e Implementação de Grafos</vt:lpstr>
      <vt:lpstr>Tratamento e Implementação de Grafos</vt:lpstr>
      <vt:lpstr>Tratamento e Implementação de Grafos</vt:lpstr>
      <vt:lpstr>Tratamento e Implementação de Grafos</vt:lpstr>
      <vt:lpstr>Tratamento e Implementação de Grafos</vt:lpstr>
      <vt:lpstr>Tratamento e Implementação de Grafos</vt:lpstr>
      <vt:lpstr>Tratamento e Implementação de Grafos</vt:lpstr>
      <vt:lpstr>Tratamento e Implementação de Grafos</vt:lpstr>
      <vt:lpstr>Tratamento e Implementação de Grafos</vt:lpstr>
      <vt:lpstr>Tratamento e Implementação de Grafos</vt:lpstr>
      <vt:lpstr>Tratamento e Implementação de Grafos</vt:lpstr>
      <vt:lpstr>Tratamento e Implementação de Grafos</vt:lpstr>
      <vt:lpstr>Tratamento e Implementação de Grafos</vt:lpstr>
      <vt:lpstr>Tratamento e Implementação de Grafos</vt:lpstr>
      <vt:lpstr>Tratamento e Implementação de Grafos</vt:lpstr>
      <vt:lpstr>Tratamento e Implementação de Grafos</vt:lpstr>
      <vt:lpstr>Tratamento e Implementação de Grafos</vt:lpstr>
      <vt:lpstr>Tratamento e Implementação de Grafos</vt:lpstr>
      <vt:lpstr>Tratamento e Implementação de Grafos</vt:lpstr>
      <vt:lpstr>Tratamento e Implementação de Grafos</vt:lpstr>
      <vt:lpstr>Tratamento e Implementação de Grafos</vt:lpstr>
      <vt:lpstr>Tratamento e Implementação de Grafos</vt:lpstr>
      <vt:lpstr>Tratamento e Implementação de Grafos</vt:lpstr>
      <vt:lpstr>Caminhamento em Grafos</vt:lpstr>
      <vt:lpstr>Caminhamento em Grafos</vt:lpstr>
      <vt:lpstr>Caminhamento em Grafos</vt:lpstr>
      <vt:lpstr>Caminhamento em Grafos</vt:lpstr>
      <vt:lpstr>Caminhamento em Grafos</vt:lpstr>
      <vt:lpstr>Caminhamento em Grafos</vt:lpstr>
      <vt:lpstr>Caminhamento em Grafos</vt:lpstr>
      <vt:lpstr>Caminhamento em Grafos</vt:lpstr>
      <vt:lpstr>Caminhamento em Grafos</vt:lpstr>
      <vt:lpstr>Caminhamento em Grafos</vt:lpstr>
      <vt:lpstr>Caminhamento em Grafos</vt:lpstr>
      <vt:lpstr>Caminhamento em Grafos</vt:lpstr>
      <vt:lpstr>Caminhamento em Grafos</vt:lpstr>
      <vt:lpstr>Caminhamento em Grafos</vt:lpstr>
      <vt:lpstr>Aplicação de Grafos e Algoritmos de Busca</vt:lpstr>
      <vt:lpstr>Aplicação de Grafos e Algoritmos de Busca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10: Introdução a Grafos</dc:title>
  <dc:creator>andrei</dc:creator>
  <cp:lastModifiedBy>andrei</cp:lastModifiedBy>
  <cp:revision>50</cp:revision>
  <dcterms:created xsi:type="dcterms:W3CDTF">2021-04-30T14:23:31Z</dcterms:created>
  <dcterms:modified xsi:type="dcterms:W3CDTF">2021-06-05T00:25:41Z</dcterms:modified>
</cp:coreProperties>
</file>