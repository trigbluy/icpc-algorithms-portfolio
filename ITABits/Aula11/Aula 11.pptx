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07"/>
  </p:notesMasterIdLst>
  <p:handoutMasterIdLst>
    <p:handoutMasterId r:id="rId108"/>
  </p:handoutMasterIdLst>
  <p:sldIdLst>
    <p:sldId id="256" r:id="rId2"/>
    <p:sldId id="405" r:id="rId3"/>
    <p:sldId id="257" r:id="rId4"/>
    <p:sldId id="400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99" r:id="rId15"/>
    <p:sldId id="269" r:id="rId16"/>
    <p:sldId id="301" r:id="rId17"/>
    <p:sldId id="302" r:id="rId18"/>
    <p:sldId id="344" r:id="rId19"/>
    <p:sldId id="268" r:id="rId20"/>
    <p:sldId id="300" r:id="rId21"/>
    <p:sldId id="305" r:id="rId22"/>
    <p:sldId id="304" r:id="rId23"/>
    <p:sldId id="303" r:id="rId24"/>
    <p:sldId id="310" r:id="rId25"/>
    <p:sldId id="306" r:id="rId26"/>
    <p:sldId id="307" r:id="rId27"/>
    <p:sldId id="309" r:id="rId28"/>
    <p:sldId id="315" r:id="rId29"/>
    <p:sldId id="308" r:id="rId30"/>
    <p:sldId id="311" r:id="rId31"/>
    <p:sldId id="312" r:id="rId32"/>
    <p:sldId id="313" r:id="rId33"/>
    <p:sldId id="314" r:id="rId34"/>
    <p:sldId id="316" r:id="rId35"/>
    <p:sldId id="317" r:id="rId36"/>
    <p:sldId id="318" r:id="rId37"/>
    <p:sldId id="319" r:id="rId38"/>
    <p:sldId id="321" r:id="rId39"/>
    <p:sldId id="320" r:id="rId40"/>
    <p:sldId id="322" r:id="rId41"/>
    <p:sldId id="323" r:id="rId42"/>
    <p:sldId id="324" r:id="rId43"/>
    <p:sldId id="325" r:id="rId44"/>
    <p:sldId id="326" r:id="rId45"/>
    <p:sldId id="328" r:id="rId46"/>
    <p:sldId id="330" r:id="rId47"/>
    <p:sldId id="329" r:id="rId48"/>
    <p:sldId id="331" r:id="rId49"/>
    <p:sldId id="333" r:id="rId50"/>
    <p:sldId id="334" r:id="rId51"/>
    <p:sldId id="332" r:id="rId52"/>
    <p:sldId id="398" r:id="rId53"/>
    <p:sldId id="345" r:id="rId54"/>
    <p:sldId id="347" r:id="rId55"/>
    <p:sldId id="351" r:id="rId56"/>
    <p:sldId id="352" r:id="rId57"/>
    <p:sldId id="353" r:id="rId58"/>
    <p:sldId id="354" r:id="rId59"/>
    <p:sldId id="355" r:id="rId60"/>
    <p:sldId id="356" r:id="rId61"/>
    <p:sldId id="348" r:id="rId62"/>
    <p:sldId id="349" r:id="rId63"/>
    <p:sldId id="357" r:id="rId64"/>
    <p:sldId id="358" r:id="rId65"/>
    <p:sldId id="359" r:id="rId66"/>
    <p:sldId id="360" r:id="rId67"/>
    <p:sldId id="361" r:id="rId68"/>
    <p:sldId id="362" r:id="rId69"/>
    <p:sldId id="363" r:id="rId70"/>
    <p:sldId id="364" r:id="rId71"/>
    <p:sldId id="365" r:id="rId72"/>
    <p:sldId id="366" r:id="rId73"/>
    <p:sldId id="367" r:id="rId74"/>
    <p:sldId id="368" r:id="rId75"/>
    <p:sldId id="370" r:id="rId76"/>
    <p:sldId id="369" r:id="rId77"/>
    <p:sldId id="371" r:id="rId78"/>
    <p:sldId id="372" r:id="rId79"/>
    <p:sldId id="373" r:id="rId80"/>
    <p:sldId id="374" r:id="rId81"/>
    <p:sldId id="375" r:id="rId82"/>
    <p:sldId id="376" r:id="rId83"/>
    <p:sldId id="377" r:id="rId84"/>
    <p:sldId id="378" r:id="rId85"/>
    <p:sldId id="379" r:id="rId86"/>
    <p:sldId id="380" r:id="rId87"/>
    <p:sldId id="383" r:id="rId88"/>
    <p:sldId id="384" r:id="rId89"/>
    <p:sldId id="385" r:id="rId90"/>
    <p:sldId id="387" r:id="rId91"/>
    <p:sldId id="388" r:id="rId92"/>
    <p:sldId id="389" r:id="rId93"/>
    <p:sldId id="390" r:id="rId94"/>
    <p:sldId id="391" r:id="rId95"/>
    <p:sldId id="392" r:id="rId96"/>
    <p:sldId id="393" r:id="rId97"/>
    <p:sldId id="394" r:id="rId98"/>
    <p:sldId id="346" r:id="rId99"/>
    <p:sldId id="401" r:id="rId100"/>
    <p:sldId id="395" r:id="rId101"/>
    <p:sldId id="396" r:id="rId102"/>
    <p:sldId id="397" r:id="rId103"/>
    <p:sldId id="402" r:id="rId104"/>
    <p:sldId id="406" r:id="rId105"/>
    <p:sldId id="404" r:id="rId106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599" autoAdjust="0"/>
  </p:normalViewPr>
  <p:slideViewPr>
    <p:cSldViewPr>
      <p:cViewPr varScale="1">
        <p:scale>
          <a:sx n="88" d="100"/>
          <a:sy n="88" d="100"/>
        </p:scale>
        <p:origin x="120" y="29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4" d="100"/>
          <a:sy n="74" d="100"/>
        </p:scale>
        <p:origin x="2670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8D0EFA9-57C0-4188-B1C6-56EB9958F127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77323E-F331-42C0-8ED8-298FE2B5981D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 smtClean="0"/>
              <a:t>Clique para editar o texto Mestre</a:t>
            </a:r>
          </a:p>
          <a:p>
            <a:pPr lvl="1" rtl="0"/>
            <a:r>
              <a:rPr lang="pt-BR" dirty="0" smtClean="0"/>
              <a:t>Segundo nível</a:t>
            </a:r>
          </a:p>
          <a:p>
            <a:pPr lvl="2" rtl="0"/>
            <a:r>
              <a:rPr lang="pt-BR" dirty="0" smtClean="0"/>
              <a:t>Terceiro nível</a:t>
            </a:r>
          </a:p>
          <a:p>
            <a:pPr lvl="3" rtl="0"/>
            <a:r>
              <a:rPr lang="pt-BR" dirty="0" smtClean="0"/>
              <a:t>Quarto nível</a:t>
            </a:r>
          </a:p>
          <a:p>
            <a:pPr lvl="4" rtl="0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562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8499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0523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42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3664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1573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7871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7764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2119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6171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3947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4050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856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77989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2286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1602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6230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46032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9929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8502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7272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0361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404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270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85475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34325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28975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44446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15014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07393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52151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29966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17406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19649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36741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170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0270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297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70751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67189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3753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29600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74005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24982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79792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82436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51550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36564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55065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5066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77206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54957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83462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59960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2411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86782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64911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02892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773913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0207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015638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517703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223285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450764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862993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100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05757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101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5553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102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783608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103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56314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Esse é de longe o algoritmo mais importante que a gente vai ver.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104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302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9139238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67849" y="762000"/>
            <a:ext cx="2924556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569" y="1298448"/>
            <a:ext cx="7313295" cy="3255264"/>
          </a:xfrm>
        </p:spPr>
        <p:txBody>
          <a:bodyPr anchor="b">
            <a:normAutofit/>
          </a:bodyPr>
          <a:lstStyle>
            <a:lvl1pPr algn="l">
              <a:defRPr sz="5898" spc="-100" baseline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29" y="4670246"/>
            <a:ext cx="7313295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199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063" indent="0" algn="ctr">
              <a:buNone/>
              <a:defRPr sz="2199"/>
            </a:lvl2pPr>
            <a:lvl3pPr marL="914126" indent="0" algn="ctr">
              <a:buNone/>
              <a:defRPr sz="21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7106021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3735336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6905" y="1298448"/>
            <a:ext cx="7313295" cy="3255264"/>
          </a:xfrm>
        </p:spPr>
        <p:txBody>
          <a:bodyPr anchor="b">
            <a:normAutofit/>
          </a:bodyPr>
          <a:lstStyle>
            <a:lvl1pPr>
              <a:defRPr sz="5898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188" y="4672584"/>
            <a:ext cx="7313295" cy="914400"/>
          </a:xfrm>
        </p:spPr>
        <p:txBody>
          <a:bodyPr anchor="t">
            <a:normAutofit/>
          </a:bodyPr>
          <a:lstStyle>
            <a:lvl1pPr marL="0" indent="0">
              <a:buNone/>
              <a:defRPr sz="2199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7F0D0AC-B9DC-491A-B40C-0529EC313878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463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6905" y="868680"/>
            <a:ext cx="3473815" cy="512064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6084" y="868680"/>
            <a:ext cx="3473815" cy="512064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9213412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6905" y="1023586"/>
            <a:ext cx="3473815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99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6905" y="1930936"/>
            <a:ext cx="3473815" cy="402336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6427" y="1023587"/>
            <a:ext cx="3473815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99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6427" y="1930936"/>
            <a:ext cx="3473815" cy="402336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3F48602-A83C-4B27-B476-20AF32AE1EED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918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4557421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71526F9-43E7-4B77-89D8-9DEFDDBA71B5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44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65" y="1143000"/>
            <a:ext cx="2833902" cy="2377440"/>
          </a:xfrm>
        </p:spPr>
        <p:txBody>
          <a:bodyPr anchor="b">
            <a:normAutofit/>
          </a:bodyPr>
          <a:lstStyle>
            <a:lvl1pPr>
              <a:defRPr sz="3199" b="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6905" y="868680"/>
            <a:ext cx="7313295" cy="512064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5965" y="3494176"/>
            <a:ext cx="2833902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5CA678-7531-4BBD-B1E6-6A1CA37BCB1B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8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65" y="1143000"/>
            <a:ext cx="2833902" cy="2377440"/>
          </a:xfrm>
        </p:spPr>
        <p:txBody>
          <a:bodyPr anchor="b">
            <a:normAutofit/>
          </a:bodyPr>
          <a:lstStyle>
            <a:lvl1pPr>
              <a:defRPr sz="3199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69714" y="767419"/>
            <a:ext cx="8113117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5965" y="3493008"/>
            <a:ext cx="2833902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2184FD6-C734-4162-88D8-0C01192F6E9B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8190" y="6356351"/>
            <a:ext cx="5909978" cy="365125"/>
          </a:xfrm>
        </p:spPr>
        <p:txBody>
          <a:bodyPr/>
          <a:lstStyle/>
          <a:p>
            <a:pPr rtl="0"/>
            <a:endParaRPr lang="pt-B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059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0546028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0901" y="990600"/>
            <a:ext cx="2818666" cy="49530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6905" y="868680"/>
            <a:ext cx="7313295" cy="5120640"/>
          </a:xfrm>
        </p:spPr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4311832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dirty="0" smtClean="0"/>
              <a:t>Clique para editar o estilo de título Mestre</a:t>
            </a:r>
            <a:endParaRPr lang="pt-BR" dirty="0"/>
          </a:p>
        </p:txBody>
      </p:sp>
      <p:grpSp>
        <p:nvGrpSpPr>
          <p:cNvPr id="160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v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2" name="Forma Liv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3" name="Forma Liv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4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5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6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7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8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9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0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1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2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3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4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5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6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7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8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9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0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1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2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3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4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5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6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7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8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9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0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1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2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3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4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5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6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7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8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9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0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1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2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3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4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5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6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7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8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9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0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1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2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3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4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5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6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7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8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9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0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1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2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3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4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5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6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7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8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9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0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1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2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3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4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smtClean="0"/>
              <a:t>Clique para editar o texto mestre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F48602-A83C-4B27-B476-20AF32AE1EED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85" name="Espaço Reservado para Conteúdo 3"/>
          <p:cNvSpPr>
            <a:spLocks noGrp="1"/>
          </p:cNvSpPr>
          <p:nvPr>
            <p:ph sz="half" idx="13"/>
          </p:nvPr>
        </p:nvSpPr>
        <p:spPr>
          <a:xfrm>
            <a:off x="6249860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2693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853" y="1123838"/>
            <a:ext cx="2946714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2787" y="758952"/>
            <a:ext cx="3839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8260" y="864108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396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99758D4F-735F-46FE-9FCB-4849D9F60668}" type="datetime1">
              <a:rPr lang="pt-BR" smtClean="0"/>
              <a:t>03/08/2021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8261" y="6356351"/>
            <a:ext cx="5909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1366" y="6356351"/>
            <a:ext cx="1530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024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665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599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25" indent="-182825" algn="l" defTabSz="914126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999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594" indent="-182825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799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2657" indent="-182825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599720" indent="-182825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6783" indent="-182825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s://br.spoj.com/problems/DENGUE/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r.spoj.com/problems/MINIMO/" TargetMode="External"/><Relationship Id="rId5" Type="http://schemas.openxmlformats.org/officeDocument/2006/relationships/hyperlink" Target="https://br.spoj.com/problems/PONTES09/" TargetMode="External"/><Relationship Id="rId4" Type="http://schemas.openxmlformats.org/officeDocument/2006/relationships/hyperlink" Target="https://br.spoj.com/problems/DESVIO/" TargetMode="Externa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ile:Halin graph.svg - Wikimedia Commons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247">
            <a:off x="1701924" y="1124744"/>
            <a:ext cx="561875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98275" y="3717032"/>
            <a:ext cx="12287100" cy="854968"/>
          </a:xfrm>
          <a:solidFill>
            <a:schemeClr val="bg2"/>
          </a:solidFill>
        </p:spPr>
        <p:txBody>
          <a:bodyPr rtlCol="0">
            <a:normAutofit fontScale="90000"/>
          </a:bodyPr>
          <a:lstStyle/>
          <a:p>
            <a:pPr rtl="0"/>
            <a:r>
              <a:rPr lang="pt-BR" sz="5400" dirty="0" smtClean="0"/>
              <a:t>   Aula 11: Algoritmos para Grafos – Parte I</a:t>
            </a:r>
            <a:endParaRPr lang="pt-BR" sz="5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99729" y="4670246"/>
            <a:ext cx="3338499" cy="342930"/>
          </a:xfrm>
          <a:solidFill>
            <a:schemeClr val="bg2"/>
          </a:solidFill>
        </p:spPr>
        <p:txBody>
          <a:bodyPr rtlCol="0">
            <a:normAutofit fontScale="77500" lnSpcReduction="20000"/>
          </a:bodyPr>
          <a:lstStyle/>
          <a:p>
            <a:pPr rtl="0"/>
            <a:r>
              <a:rPr lang="pt-BR" dirty="0" smtClean="0"/>
              <a:t>Andrei Freiberger (Senai T24)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875" y="657133"/>
            <a:ext cx="3212976" cy="32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 OBI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116" y="2270015"/>
            <a:ext cx="8323929" cy="230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Tópicos da Aula</a:t>
            </a:r>
            <a:endParaRPr lang="pt-BR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3862164" y="1089693"/>
            <a:ext cx="7313295" cy="5120640"/>
          </a:xfrm>
        </p:spPr>
        <p:txBody>
          <a:bodyPr rtlCol="0"/>
          <a:lstStyle/>
          <a:p>
            <a:pPr rtl="0"/>
            <a:r>
              <a:rPr lang="pt-BR" sz="2800" dirty="0" smtClean="0">
                <a:solidFill>
                  <a:schemeClr val="tx1"/>
                </a:solidFill>
              </a:rPr>
              <a:t>Relembrando</a:t>
            </a:r>
          </a:p>
          <a:p>
            <a:pPr rtl="0"/>
            <a:endParaRPr lang="pt-BR" sz="2800" dirty="0" smtClean="0">
              <a:solidFill>
                <a:schemeClr val="tx1"/>
              </a:solidFill>
            </a:endParaRPr>
          </a:p>
          <a:p>
            <a:pPr rtl="0"/>
            <a:r>
              <a:rPr lang="pt-BR" sz="2800" dirty="0" smtClean="0">
                <a:solidFill>
                  <a:schemeClr val="tx1"/>
                </a:solidFill>
              </a:rPr>
              <a:t>Algoritmos de Caminho Mínimo</a:t>
            </a:r>
          </a:p>
          <a:p>
            <a:pPr lvl="1"/>
            <a:r>
              <a:rPr lang="pt-BR" sz="2600" dirty="0" smtClean="0">
                <a:solidFill>
                  <a:schemeClr val="tx1"/>
                </a:solidFill>
              </a:rPr>
              <a:t>Dijkstra</a:t>
            </a:r>
          </a:p>
          <a:p>
            <a:pPr lvl="1"/>
            <a:r>
              <a:rPr lang="pt-BR" sz="2600" dirty="0" smtClean="0">
                <a:solidFill>
                  <a:schemeClr val="tx1"/>
                </a:solidFill>
              </a:rPr>
              <a:t>Floyd-</a:t>
            </a:r>
            <a:r>
              <a:rPr lang="pt-BR" sz="2600" dirty="0" err="1" smtClean="0">
                <a:solidFill>
                  <a:schemeClr val="tx1"/>
                </a:solidFill>
              </a:rPr>
              <a:t>Warshall</a:t>
            </a:r>
            <a:endParaRPr lang="pt-BR" sz="2600" dirty="0" smtClean="0">
              <a:solidFill>
                <a:schemeClr val="tx1"/>
              </a:solidFill>
            </a:endParaRPr>
          </a:p>
          <a:p>
            <a:pPr lvl="1"/>
            <a:r>
              <a:rPr lang="pt-BR" sz="2600" dirty="0" err="1" smtClean="0">
                <a:solidFill>
                  <a:schemeClr val="tx1"/>
                </a:solidFill>
              </a:rPr>
              <a:t>Bellman</a:t>
            </a:r>
            <a:r>
              <a:rPr lang="pt-BR" sz="2600" dirty="0" smtClean="0">
                <a:solidFill>
                  <a:schemeClr val="tx1"/>
                </a:solidFill>
              </a:rPr>
              <a:t>-Ford</a:t>
            </a:r>
            <a:endParaRPr lang="pt-BR" dirty="0" smtClean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le:Halin graph.svg - Wikimedia Commons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247">
            <a:off x="1701924" y="1124744"/>
            <a:ext cx="561875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9569" y="3645024"/>
            <a:ext cx="7313295" cy="908688"/>
          </a:xfrm>
        </p:spPr>
        <p:txBody>
          <a:bodyPr/>
          <a:lstStyle/>
          <a:p>
            <a:r>
              <a:rPr lang="pt-BR" dirty="0" smtClean="0"/>
              <a:t>Relembrando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239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sp>
        <p:nvSpPr>
          <p:cNvPr id="6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Matriz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545227"/>
              </p:ext>
            </p:extLst>
          </p:nvPr>
        </p:nvGraphicFramePr>
        <p:xfrm>
          <a:off x="7738815" y="1844824"/>
          <a:ext cx="2640295" cy="213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059"/>
                <a:gridCol w="528059"/>
                <a:gridCol w="528059"/>
                <a:gridCol w="528059"/>
                <a:gridCol w="528059"/>
              </a:tblGrid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4478445" y="1905299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03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sp>
        <p:nvSpPr>
          <p:cNvPr id="6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Matriz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545227"/>
              </p:ext>
            </p:extLst>
          </p:nvPr>
        </p:nvGraphicFramePr>
        <p:xfrm>
          <a:off x="7738815" y="1844824"/>
          <a:ext cx="2640295" cy="213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059"/>
                <a:gridCol w="528059"/>
                <a:gridCol w="528059"/>
                <a:gridCol w="528059"/>
                <a:gridCol w="528059"/>
              </a:tblGrid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4478445" y="1905299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ço Reservado para Conteúdo 5"/>
          <p:cNvSpPr txBox="1">
            <a:spLocks/>
          </p:cNvSpPr>
          <p:nvPr/>
        </p:nvSpPr>
        <p:spPr>
          <a:xfrm>
            <a:off x="3718148" y="4509120"/>
            <a:ext cx="7556099" cy="15522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Problema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Para matrizes esparsas, mas com muitos vértices, há mau uso de memória, já que teremos que criar matrizes muito grandes que conterão pouca informação relevante.</a:t>
            </a:r>
          </a:p>
          <a:p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86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sp>
        <p:nvSpPr>
          <p:cNvPr id="6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Matriz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356" y="2892349"/>
            <a:ext cx="5054962" cy="616459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356" y="3667397"/>
            <a:ext cx="5738304" cy="450528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3120" y="5445224"/>
            <a:ext cx="6952889" cy="381561"/>
          </a:xfrm>
          <a:prstGeom prst="rect">
            <a:avLst/>
          </a:prstGeom>
        </p:spPr>
      </p:pic>
      <p:sp>
        <p:nvSpPr>
          <p:cNvPr id="12" name="Espaço Reservado para Conteúdo 5"/>
          <p:cNvSpPr txBox="1">
            <a:spLocks/>
          </p:cNvSpPr>
          <p:nvPr/>
        </p:nvSpPr>
        <p:spPr>
          <a:xfrm>
            <a:off x="3701514" y="4892064"/>
            <a:ext cx="7556099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C++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14" name="Espaço Reservado para Conteúdo 5"/>
          <p:cNvSpPr txBox="1">
            <a:spLocks/>
          </p:cNvSpPr>
          <p:nvPr/>
        </p:nvSpPr>
        <p:spPr>
          <a:xfrm>
            <a:off x="3701513" y="2250085"/>
            <a:ext cx="7556099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 trivial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39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pic>
        <p:nvPicPr>
          <p:cNvPr id="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4478445" y="1905299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7559970" y="169392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11" name="Conector de seta reta 10"/>
          <p:cNvCxnSpPr>
            <a:stCxn id="10" idx="3"/>
            <a:endCxn id="14" idx="1"/>
          </p:cNvCxnSpPr>
          <p:nvPr/>
        </p:nvCxnSpPr>
        <p:spPr>
          <a:xfrm>
            <a:off x="8136034" y="1891943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upo 11"/>
          <p:cNvGrpSpPr/>
          <p:nvPr/>
        </p:nvGrpSpPr>
        <p:grpSpPr>
          <a:xfrm>
            <a:off x="8496074" y="1693921"/>
            <a:ext cx="685569" cy="396044"/>
            <a:chOff x="7750596" y="3176972"/>
            <a:chExt cx="936104" cy="396044"/>
          </a:xfrm>
        </p:grpSpPr>
        <p:sp>
          <p:nvSpPr>
            <p:cNvPr id="14" name="Retângulo 13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CaixaDeTexto 15"/>
          <p:cNvSpPr txBox="1"/>
          <p:nvPr/>
        </p:nvSpPr>
        <p:spPr>
          <a:xfrm>
            <a:off x="8575177" y="1707277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17" name="Conector de seta reta 16"/>
          <p:cNvCxnSpPr>
            <a:endCxn id="19" idx="1"/>
          </p:cNvCxnSpPr>
          <p:nvPr/>
        </p:nvCxnSpPr>
        <p:spPr>
          <a:xfrm>
            <a:off x="9190756" y="1905299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o 17"/>
          <p:cNvGrpSpPr/>
          <p:nvPr/>
        </p:nvGrpSpPr>
        <p:grpSpPr>
          <a:xfrm>
            <a:off x="9550796" y="1707277"/>
            <a:ext cx="685569" cy="396044"/>
            <a:chOff x="7750596" y="3176972"/>
            <a:chExt cx="936104" cy="396044"/>
          </a:xfrm>
        </p:grpSpPr>
        <p:sp>
          <p:nvSpPr>
            <p:cNvPr id="19" name="Retângulo 18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CaixaDeTexto 20"/>
          <p:cNvSpPr txBox="1"/>
          <p:nvPr/>
        </p:nvSpPr>
        <p:spPr>
          <a:xfrm>
            <a:off x="9629899" y="1720633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22" name="Conector de seta reta 21"/>
          <p:cNvCxnSpPr>
            <a:stCxn id="20" idx="3"/>
          </p:cNvCxnSpPr>
          <p:nvPr/>
        </p:nvCxnSpPr>
        <p:spPr>
          <a:xfrm>
            <a:off x="10236365" y="1905299"/>
            <a:ext cx="347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uxograma: Somador 22"/>
          <p:cNvSpPr/>
          <p:nvPr/>
        </p:nvSpPr>
        <p:spPr>
          <a:xfrm>
            <a:off x="10554091" y="1721362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tângulo 23"/>
          <p:cNvSpPr/>
          <p:nvPr/>
        </p:nvSpPr>
        <p:spPr>
          <a:xfrm>
            <a:off x="7559970" y="222926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25" name="Conector de seta reta 24"/>
          <p:cNvCxnSpPr>
            <a:stCxn id="24" idx="3"/>
            <a:endCxn id="27" idx="1"/>
          </p:cNvCxnSpPr>
          <p:nvPr/>
        </p:nvCxnSpPr>
        <p:spPr>
          <a:xfrm>
            <a:off x="8136034" y="2427283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o 25"/>
          <p:cNvGrpSpPr/>
          <p:nvPr/>
        </p:nvGrpSpPr>
        <p:grpSpPr>
          <a:xfrm>
            <a:off x="8496074" y="2229261"/>
            <a:ext cx="685569" cy="396044"/>
            <a:chOff x="7750596" y="3176972"/>
            <a:chExt cx="936104" cy="396044"/>
          </a:xfrm>
        </p:grpSpPr>
        <p:sp>
          <p:nvSpPr>
            <p:cNvPr id="27" name="Retângulo 26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CaixaDeTexto 28"/>
          <p:cNvSpPr txBox="1"/>
          <p:nvPr/>
        </p:nvSpPr>
        <p:spPr>
          <a:xfrm>
            <a:off x="8575177" y="2242617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0" name="Conector de seta reta 29"/>
          <p:cNvCxnSpPr/>
          <p:nvPr/>
        </p:nvCxnSpPr>
        <p:spPr>
          <a:xfrm>
            <a:off x="9190756" y="2440639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uxograma: Somador 30"/>
          <p:cNvSpPr/>
          <p:nvPr/>
        </p:nvSpPr>
        <p:spPr>
          <a:xfrm>
            <a:off x="9535825" y="2256338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tângulo 31"/>
          <p:cNvSpPr/>
          <p:nvPr/>
        </p:nvSpPr>
        <p:spPr>
          <a:xfrm>
            <a:off x="7559970" y="274368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33" name="Conector de seta reta 32"/>
          <p:cNvCxnSpPr>
            <a:stCxn id="32" idx="3"/>
          </p:cNvCxnSpPr>
          <p:nvPr/>
        </p:nvCxnSpPr>
        <p:spPr>
          <a:xfrm>
            <a:off x="8136034" y="2941703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uxograma: Somador 33"/>
          <p:cNvSpPr/>
          <p:nvPr/>
        </p:nvSpPr>
        <p:spPr>
          <a:xfrm>
            <a:off x="8496074" y="2743681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tângulo 34"/>
          <p:cNvSpPr/>
          <p:nvPr/>
        </p:nvSpPr>
        <p:spPr>
          <a:xfrm>
            <a:off x="7559970" y="3259518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6" name="Conector de seta reta 35"/>
          <p:cNvCxnSpPr>
            <a:stCxn id="35" idx="3"/>
            <a:endCxn id="38" idx="1"/>
          </p:cNvCxnSpPr>
          <p:nvPr/>
        </p:nvCxnSpPr>
        <p:spPr>
          <a:xfrm>
            <a:off x="8136034" y="345754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upo 36"/>
          <p:cNvGrpSpPr/>
          <p:nvPr/>
        </p:nvGrpSpPr>
        <p:grpSpPr>
          <a:xfrm>
            <a:off x="8496074" y="3259518"/>
            <a:ext cx="685569" cy="396044"/>
            <a:chOff x="7750596" y="3176972"/>
            <a:chExt cx="936104" cy="396044"/>
          </a:xfrm>
        </p:grpSpPr>
        <p:sp>
          <p:nvSpPr>
            <p:cNvPr id="38" name="Retângulo 37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tângulo 38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CaixaDeTexto 39"/>
          <p:cNvSpPr txBox="1"/>
          <p:nvPr/>
        </p:nvSpPr>
        <p:spPr>
          <a:xfrm>
            <a:off x="8575177" y="3272874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41" name="Conector de seta reta 40"/>
          <p:cNvCxnSpPr>
            <a:endCxn id="43" idx="1"/>
          </p:cNvCxnSpPr>
          <p:nvPr/>
        </p:nvCxnSpPr>
        <p:spPr>
          <a:xfrm>
            <a:off x="9190756" y="347089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o 41"/>
          <p:cNvGrpSpPr/>
          <p:nvPr/>
        </p:nvGrpSpPr>
        <p:grpSpPr>
          <a:xfrm>
            <a:off x="9550796" y="3272874"/>
            <a:ext cx="685569" cy="396044"/>
            <a:chOff x="7750596" y="3176972"/>
            <a:chExt cx="936104" cy="396044"/>
          </a:xfrm>
        </p:grpSpPr>
        <p:sp>
          <p:nvSpPr>
            <p:cNvPr id="43" name="Retângulo 4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tângulo 4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CaixaDeTexto 44"/>
          <p:cNvSpPr txBox="1"/>
          <p:nvPr/>
        </p:nvSpPr>
        <p:spPr>
          <a:xfrm>
            <a:off x="9629899" y="3286230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6" name="Conector de seta reta 45"/>
          <p:cNvCxnSpPr>
            <a:stCxn id="44" idx="3"/>
          </p:cNvCxnSpPr>
          <p:nvPr/>
        </p:nvCxnSpPr>
        <p:spPr>
          <a:xfrm>
            <a:off x="10236365" y="3470896"/>
            <a:ext cx="347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uxograma: Somador 46"/>
          <p:cNvSpPr/>
          <p:nvPr/>
        </p:nvSpPr>
        <p:spPr>
          <a:xfrm>
            <a:off x="10554091" y="3286959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tângulo 47"/>
          <p:cNvSpPr/>
          <p:nvPr/>
        </p:nvSpPr>
        <p:spPr>
          <a:xfrm>
            <a:off x="7559970" y="3780773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9" name="Conector de seta reta 48"/>
          <p:cNvCxnSpPr>
            <a:stCxn id="48" idx="3"/>
            <a:endCxn id="51" idx="1"/>
          </p:cNvCxnSpPr>
          <p:nvPr/>
        </p:nvCxnSpPr>
        <p:spPr>
          <a:xfrm>
            <a:off x="8136034" y="3978795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o 49"/>
          <p:cNvGrpSpPr/>
          <p:nvPr/>
        </p:nvGrpSpPr>
        <p:grpSpPr>
          <a:xfrm>
            <a:off x="8496074" y="3780773"/>
            <a:ext cx="685569" cy="396044"/>
            <a:chOff x="7750596" y="3176972"/>
            <a:chExt cx="936104" cy="396044"/>
          </a:xfrm>
        </p:grpSpPr>
        <p:sp>
          <p:nvSpPr>
            <p:cNvPr id="51" name="Retângulo 5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tângulo 5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CaixaDeTexto 52"/>
          <p:cNvSpPr txBox="1"/>
          <p:nvPr/>
        </p:nvSpPr>
        <p:spPr>
          <a:xfrm>
            <a:off x="8575177" y="3794129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54" name="Conector de seta reta 53"/>
          <p:cNvCxnSpPr/>
          <p:nvPr/>
        </p:nvCxnSpPr>
        <p:spPr>
          <a:xfrm>
            <a:off x="9190756" y="3992151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uxograma: Somador 54"/>
          <p:cNvSpPr/>
          <p:nvPr/>
        </p:nvSpPr>
        <p:spPr>
          <a:xfrm>
            <a:off x="9519710" y="3808579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Lista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62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pic>
        <p:nvPicPr>
          <p:cNvPr id="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4478445" y="1905299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Lista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57" name="Retângulo 56"/>
          <p:cNvSpPr/>
          <p:nvPr/>
        </p:nvSpPr>
        <p:spPr>
          <a:xfrm>
            <a:off x="7458174" y="1565201"/>
            <a:ext cx="766690" cy="27575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49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pic>
        <p:nvPicPr>
          <p:cNvPr id="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4478445" y="1905299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6800989" y="169392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sp>
        <p:nvSpPr>
          <p:cNvPr id="24" name="Retângulo 23"/>
          <p:cNvSpPr/>
          <p:nvPr/>
        </p:nvSpPr>
        <p:spPr>
          <a:xfrm>
            <a:off x="6800989" y="222926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sp>
        <p:nvSpPr>
          <p:cNvPr id="32" name="Retângulo 31"/>
          <p:cNvSpPr/>
          <p:nvPr/>
        </p:nvSpPr>
        <p:spPr>
          <a:xfrm>
            <a:off x="6800989" y="274368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sp>
        <p:nvSpPr>
          <p:cNvPr id="35" name="Retângulo 34"/>
          <p:cNvSpPr/>
          <p:nvPr/>
        </p:nvSpPr>
        <p:spPr>
          <a:xfrm>
            <a:off x="6800989" y="3259518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sp>
        <p:nvSpPr>
          <p:cNvPr id="48" name="Retângulo 47"/>
          <p:cNvSpPr/>
          <p:nvPr/>
        </p:nvSpPr>
        <p:spPr>
          <a:xfrm>
            <a:off x="6800989" y="3780773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sp>
        <p:nvSpPr>
          <p:cNvPr id="56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Lista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57" name="Retângulo 56"/>
          <p:cNvSpPr/>
          <p:nvPr/>
        </p:nvSpPr>
        <p:spPr>
          <a:xfrm>
            <a:off x="7458174" y="1565201"/>
            <a:ext cx="766690" cy="27575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47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ângulo 62"/>
          <p:cNvSpPr/>
          <p:nvPr/>
        </p:nvSpPr>
        <p:spPr>
          <a:xfrm>
            <a:off x="7564398" y="3742495"/>
            <a:ext cx="1771850" cy="508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 61"/>
          <p:cNvSpPr/>
          <p:nvPr/>
        </p:nvSpPr>
        <p:spPr>
          <a:xfrm>
            <a:off x="7490914" y="3203221"/>
            <a:ext cx="2956718" cy="508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/>
          <p:cNvSpPr/>
          <p:nvPr/>
        </p:nvSpPr>
        <p:spPr>
          <a:xfrm>
            <a:off x="7458174" y="2188416"/>
            <a:ext cx="1804590" cy="508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458174" y="1622490"/>
            <a:ext cx="2956718" cy="508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pic>
        <p:nvPicPr>
          <p:cNvPr id="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4478445" y="1905299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o 11"/>
          <p:cNvGrpSpPr/>
          <p:nvPr/>
        </p:nvGrpSpPr>
        <p:grpSpPr>
          <a:xfrm>
            <a:off x="8496074" y="1693921"/>
            <a:ext cx="685569" cy="396044"/>
            <a:chOff x="7750596" y="3176972"/>
            <a:chExt cx="936104" cy="396044"/>
          </a:xfrm>
        </p:grpSpPr>
        <p:sp>
          <p:nvSpPr>
            <p:cNvPr id="14" name="Retângulo 13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CaixaDeTexto 15"/>
          <p:cNvSpPr txBox="1"/>
          <p:nvPr/>
        </p:nvSpPr>
        <p:spPr>
          <a:xfrm>
            <a:off x="8575177" y="1707277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</a:t>
            </a:r>
            <a:endParaRPr lang="en-US" dirty="0"/>
          </a:p>
        </p:txBody>
      </p:sp>
      <p:grpSp>
        <p:nvGrpSpPr>
          <p:cNvPr id="18" name="Grupo 17"/>
          <p:cNvGrpSpPr/>
          <p:nvPr/>
        </p:nvGrpSpPr>
        <p:grpSpPr>
          <a:xfrm>
            <a:off x="9550796" y="1707277"/>
            <a:ext cx="685569" cy="396044"/>
            <a:chOff x="7750596" y="3176972"/>
            <a:chExt cx="936104" cy="396044"/>
          </a:xfrm>
        </p:grpSpPr>
        <p:sp>
          <p:nvSpPr>
            <p:cNvPr id="19" name="Retângulo 18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CaixaDeTexto 20"/>
          <p:cNvSpPr txBox="1"/>
          <p:nvPr/>
        </p:nvSpPr>
        <p:spPr>
          <a:xfrm>
            <a:off x="9629899" y="1720633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grpSp>
        <p:nvGrpSpPr>
          <p:cNvPr id="26" name="Grupo 25"/>
          <p:cNvGrpSpPr/>
          <p:nvPr/>
        </p:nvGrpSpPr>
        <p:grpSpPr>
          <a:xfrm>
            <a:off x="8496074" y="2229261"/>
            <a:ext cx="685569" cy="396044"/>
            <a:chOff x="7750596" y="3176972"/>
            <a:chExt cx="936104" cy="396044"/>
          </a:xfrm>
        </p:grpSpPr>
        <p:sp>
          <p:nvSpPr>
            <p:cNvPr id="27" name="Retângulo 26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CaixaDeTexto 28"/>
          <p:cNvSpPr txBox="1"/>
          <p:nvPr/>
        </p:nvSpPr>
        <p:spPr>
          <a:xfrm>
            <a:off x="8575177" y="2242617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</a:t>
            </a:r>
            <a:endParaRPr lang="en-US" dirty="0"/>
          </a:p>
        </p:txBody>
      </p:sp>
      <p:grpSp>
        <p:nvGrpSpPr>
          <p:cNvPr id="37" name="Grupo 36"/>
          <p:cNvGrpSpPr/>
          <p:nvPr/>
        </p:nvGrpSpPr>
        <p:grpSpPr>
          <a:xfrm>
            <a:off x="8496074" y="3259518"/>
            <a:ext cx="685569" cy="396044"/>
            <a:chOff x="7750596" y="3176972"/>
            <a:chExt cx="936104" cy="396044"/>
          </a:xfrm>
        </p:grpSpPr>
        <p:sp>
          <p:nvSpPr>
            <p:cNvPr id="38" name="Retângulo 37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tângulo 38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CaixaDeTexto 39"/>
          <p:cNvSpPr txBox="1"/>
          <p:nvPr/>
        </p:nvSpPr>
        <p:spPr>
          <a:xfrm>
            <a:off x="8575177" y="3272874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grpSp>
        <p:nvGrpSpPr>
          <p:cNvPr id="42" name="Grupo 41"/>
          <p:cNvGrpSpPr/>
          <p:nvPr/>
        </p:nvGrpSpPr>
        <p:grpSpPr>
          <a:xfrm>
            <a:off x="9550796" y="3272874"/>
            <a:ext cx="685569" cy="396044"/>
            <a:chOff x="7750596" y="3176972"/>
            <a:chExt cx="936104" cy="396044"/>
          </a:xfrm>
        </p:grpSpPr>
        <p:sp>
          <p:nvSpPr>
            <p:cNvPr id="43" name="Retângulo 4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tângulo 4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CaixaDeTexto 44"/>
          <p:cNvSpPr txBox="1"/>
          <p:nvPr/>
        </p:nvSpPr>
        <p:spPr>
          <a:xfrm>
            <a:off x="9629899" y="3286230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grpSp>
        <p:nvGrpSpPr>
          <p:cNvPr id="50" name="Grupo 49"/>
          <p:cNvGrpSpPr/>
          <p:nvPr/>
        </p:nvGrpSpPr>
        <p:grpSpPr>
          <a:xfrm>
            <a:off x="8496074" y="3780773"/>
            <a:ext cx="685569" cy="396044"/>
            <a:chOff x="7750596" y="3176972"/>
            <a:chExt cx="936104" cy="396044"/>
          </a:xfrm>
        </p:grpSpPr>
        <p:sp>
          <p:nvSpPr>
            <p:cNvPr id="51" name="Retângulo 5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tângulo 5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CaixaDeTexto 52"/>
          <p:cNvSpPr txBox="1"/>
          <p:nvPr/>
        </p:nvSpPr>
        <p:spPr>
          <a:xfrm>
            <a:off x="8575177" y="3794129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sp>
        <p:nvSpPr>
          <p:cNvPr id="56" name="Retângulo 55"/>
          <p:cNvSpPr/>
          <p:nvPr/>
        </p:nvSpPr>
        <p:spPr>
          <a:xfrm>
            <a:off x="6800989" y="169392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sp>
        <p:nvSpPr>
          <p:cNvPr id="57" name="Retângulo 56"/>
          <p:cNvSpPr/>
          <p:nvPr/>
        </p:nvSpPr>
        <p:spPr>
          <a:xfrm>
            <a:off x="6800989" y="222926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sp>
        <p:nvSpPr>
          <p:cNvPr id="58" name="Retângulo 57"/>
          <p:cNvSpPr/>
          <p:nvPr/>
        </p:nvSpPr>
        <p:spPr>
          <a:xfrm>
            <a:off x="6800989" y="274368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sp>
        <p:nvSpPr>
          <p:cNvPr id="59" name="Retângulo 58"/>
          <p:cNvSpPr/>
          <p:nvPr/>
        </p:nvSpPr>
        <p:spPr>
          <a:xfrm>
            <a:off x="6800989" y="3259518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sp>
        <p:nvSpPr>
          <p:cNvPr id="60" name="Retângulo 59"/>
          <p:cNvSpPr/>
          <p:nvPr/>
        </p:nvSpPr>
        <p:spPr>
          <a:xfrm>
            <a:off x="6800989" y="3780773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sp>
        <p:nvSpPr>
          <p:cNvPr id="64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Lista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7458174" y="1565201"/>
            <a:ext cx="766690" cy="27575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98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ângulo 62"/>
          <p:cNvSpPr/>
          <p:nvPr/>
        </p:nvSpPr>
        <p:spPr>
          <a:xfrm>
            <a:off x="7564398" y="3742495"/>
            <a:ext cx="1771850" cy="508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 61"/>
          <p:cNvSpPr/>
          <p:nvPr/>
        </p:nvSpPr>
        <p:spPr>
          <a:xfrm>
            <a:off x="7490914" y="3203221"/>
            <a:ext cx="2956718" cy="508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/>
          <p:cNvSpPr/>
          <p:nvPr/>
        </p:nvSpPr>
        <p:spPr>
          <a:xfrm>
            <a:off x="7458174" y="2188416"/>
            <a:ext cx="1804590" cy="508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458174" y="1622490"/>
            <a:ext cx="2956718" cy="508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7458174" y="1565201"/>
            <a:ext cx="766690" cy="27575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pic>
        <p:nvPicPr>
          <p:cNvPr id="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4478445" y="1905299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o 11"/>
          <p:cNvGrpSpPr/>
          <p:nvPr/>
        </p:nvGrpSpPr>
        <p:grpSpPr>
          <a:xfrm>
            <a:off x="8496074" y="1693921"/>
            <a:ext cx="685569" cy="396044"/>
            <a:chOff x="7750596" y="3176972"/>
            <a:chExt cx="936104" cy="396044"/>
          </a:xfrm>
        </p:grpSpPr>
        <p:sp>
          <p:nvSpPr>
            <p:cNvPr id="14" name="Retângulo 13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CaixaDeTexto 15"/>
          <p:cNvSpPr txBox="1"/>
          <p:nvPr/>
        </p:nvSpPr>
        <p:spPr>
          <a:xfrm>
            <a:off x="8575177" y="1707277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</a:t>
            </a:r>
            <a:endParaRPr lang="en-US" dirty="0"/>
          </a:p>
        </p:txBody>
      </p:sp>
      <p:grpSp>
        <p:nvGrpSpPr>
          <p:cNvPr id="18" name="Grupo 17"/>
          <p:cNvGrpSpPr/>
          <p:nvPr/>
        </p:nvGrpSpPr>
        <p:grpSpPr>
          <a:xfrm>
            <a:off x="9550796" y="1707277"/>
            <a:ext cx="685569" cy="396044"/>
            <a:chOff x="7750596" y="3176972"/>
            <a:chExt cx="936104" cy="396044"/>
          </a:xfrm>
        </p:grpSpPr>
        <p:sp>
          <p:nvSpPr>
            <p:cNvPr id="19" name="Retângulo 18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CaixaDeTexto 20"/>
          <p:cNvSpPr txBox="1"/>
          <p:nvPr/>
        </p:nvSpPr>
        <p:spPr>
          <a:xfrm>
            <a:off x="9629899" y="1720633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grpSp>
        <p:nvGrpSpPr>
          <p:cNvPr id="26" name="Grupo 25"/>
          <p:cNvGrpSpPr/>
          <p:nvPr/>
        </p:nvGrpSpPr>
        <p:grpSpPr>
          <a:xfrm>
            <a:off x="8496074" y="2229261"/>
            <a:ext cx="685569" cy="396044"/>
            <a:chOff x="7750596" y="3176972"/>
            <a:chExt cx="936104" cy="396044"/>
          </a:xfrm>
        </p:grpSpPr>
        <p:sp>
          <p:nvSpPr>
            <p:cNvPr id="27" name="Retângulo 26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CaixaDeTexto 28"/>
          <p:cNvSpPr txBox="1"/>
          <p:nvPr/>
        </p:nvSpPr>
        <p:spPr>
          <a:xfrm>
            <a:off x="8575177" y="2242617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</a:t>
            </a:r>
            <a:endParaRPr lang="en-US" dirty="0"/>
          </a:p>
        </p:txBody>
      </p:sp>
      <p:grpSp>
        <p:nvGrpSpPr>
          <p:cNvPr id="37" name="Grupo 36"/>
          <p:cNvGrpSpPr/>
          <p:nvPr/>
        </p:nvGrpSpPr>
        <p:grpSpPr>
          <a:xfrm>
            <a:off x="8496074" y="3259518"/>
            <a:ext cx="685569" cy="396044"/>
            <a:chOff x="7750596" y="3176972"/>
            <a:chExt cx="936104" cy="396044"/>
          </a:xfrm>
        </p:grpSpPr>
        <p:sp>
          <p:nvSpPr>
            <p:cNvPr id="38" name="Retângulo 37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tângulo 38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CaixaDeTexto 39"/>
          <p:cNvSpPr txBox="1"/>
          <p:nvPr/>
        </p:nvSpPr>
        <p:spPr>
          <a:xfrm>
            <a:off x="8575177" y="3272874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grpSp>
        <p:nvGrpSpPr>
          <p:cNvPr id="42" name="Grupo 41"/>
          <p:cNvGrpSpPr/>
          <p:nvPr/>
        </p:nvGrpSpPr>
        <p:grpSpPr>
          <a:xfrm>
            <a:off x="9550796" y="3272874"/>
            <a:ext cx="685569" cy="396044"/>
            <a:chOff x="7750596" y="3176972"/>
            <a:chExt cx="936104" cy="396044"/>
          </a:xfrm>
        </p:grpSpPr>
        <p:sp>
          <p:nvSpPr>
            <p:cNvPr id="43" name="Retângulo 4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tângulo 4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CaixaDeTexto 44"/>
          <p:cNvSpPr txBox="1"/>
          <p:nvPr/>
        </p:nvSpPr>
        <p:spPr>
          <a:xfrm>
            <a:off x="9629899" y="3286230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grpSp>
        <p:nvGrpSpPr>
          <p:cNvPr id="50" name="Grupo 49"/>
          <p:cNvGrpSpPr/>
          <p:nvPr/>
        </p:nvGrpSpPr>
        <p:grpSpPr>
          <a:xfrm>
            <a:off x="8496074" y="3780773"/>
            <a:ext cx="685569" cy="396044"/>
            <a:chOff x="7750596" y="3176972"/>
            <a:chExt cx="936104" cy="396044"/>
          </a:xfrm>
        </p:grpSpPr>
        <p:sp>
          <p:nvSpPr>
            <p:cNvPr id="51" name="Retângulo 5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tângulo 5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CaixaDeTexto 52"/>
          <p:cNvSpPr txBox="1"/>
          <p:nvPr/>
        </p:nvSpPr>
        <p:spPr>
          <a:xfrm>
            <a:off x="8575177" y="3794129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sp>
        <p:nvSpPr>
          <p:cNvPr id="56" name="Retângulo 55"/>
          <p:cNvSpPr/>
          <p:nvPr/>
        </p:nvSpPr>
        <p:spPr>
          <a:xfrm>
            <a:off x="6800989" y="169392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sp>
        <p:nvSpPr>
          <p:cNvPr id="57" name="Retângulo 56"/>
          <p:cNvSpPr/>
          <p:nvPr/>
        </p:nvSpPr>
        <p:spPr>
          <a:xfrm>
            <a:off x="6800989" y="222926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sp>
        <p:nvSpPr>
          <p:cNvPr id="58" name="Retângulo 57"/>
          <p:cNvSpPr/>
          <p:nvPr/>
        </p:nvSpPr>
        <p:spPr>
          <a:xfrm>
            <a:off x="6800989" y="2743681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sp>
        <p:nvSpPr>
          <p:cNvPr id="59" name="Retângulo 58"/>
          <p:cNvSpPr/>
          <p:nvPr/>
        </p:nvSpPr>
        <p:spPr>
          <a:xfrm>
            <a:off x="6800989" y="3259518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sp>
        <p:nvSpPr>
          <p:cNvPr id="60" name="Retângulo 59"/>
          <p:cNvSpPr/>
          <p:nvPr/>
        </p:nvSpPr>
        <p:spPr>
          <a:xfrm>
            <a:off x="6800989" y="3780773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sp>
        <p:nvSpPr>
          <p:cNvPr id="5" name="Retângulo 4"/>
          <p:cNvSpPr/>
          <p:nvPr/>
        </p:nvSpPr>
        <p:spPr>
          <a:xfrm>
            <a:off x="3549098" y="4783952"/>
            <a:ext cx="70098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Uso eficiente de memória e tempo de execução menor, implementação mais complexa.</a:t>
            </a:r>
          </a:p>
        </p:txBody>
      </p:sp>
      <p:sp>
        <p:nvSpPr>
          <p:cNvPr id="41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Lista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62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b="1" dirty="0" smtClean="0"/>
              <a:t>Relembrando</a:t>
            </a:r>
            <a:endParaRPr lang="pt-BR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502124" y="75450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Principais formas de Implementação de Grafos</a:t>
            </a:r>
            <a:endParaRPr lang="pt-BR" sz="2400" dirty="0"/>
          </a:p>
        </p:txBody>
      </p:sp>
      <p:sp>
        <p:nvSpPr>
          <p:cNvPr id="41" name="Espaço Reservado para Conteúdo 5"/>
          <p:cNvSpPr txBox="1">
            <a:spLocks/>
          </p:cNvSpPr>
          <p:nvPr/>
        </p:nvSpPr>
        <p:spPr>
          <a:xfrm>
            <a:off x="3502124" y="1269984"/>
            <a:ext cx="7556099" cy="35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Lista de Adjacências:</a:t>
            </a:r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pic>
        <p:nvPicPr>
          <p:cNvPr id="47" name="Imagem 46"/>
          <p:cNvPicPr>
            <a:picLocks noChangeAspect="1"/>
          </p:cNvPicPr>
          <p:nvPr/>
        </p:nvPicPr>
        <p:blipFill rotWithShape="1">
          <a:blip r:embed="rId3"/>
          <a:srcRect b="62857"/>
          <a:stretch/>
        </p:blipFill>
        <p:spPr>
          <a:xfrm>
            <a:off x="3522766" y="2157979"/>
            <a:ext cx="6207001" cy="720080"/>
          </a:xfrm>
          <a:prstGeom prst="rect">
            <a:avLst/>
          </a:prstGeom>
        </p:spPr>
      </p:pic>
      <p:sp>
        <p:nvSpPr>
          <p:cNvPr id="48" name="CaixaDeTexto 47"/>
          <p:cNvSpPr txBox="1"/>
          <p:nvPr/>
        </p:nvSpPr>
        <p:spPr>
          <a:xfrm>
            <a:off x="3516646" y="1698637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Grafos não ponderados</a:t>
            </a:r>
            <a:endParaRPr lang="en-US" dirty="0"/>
          </a:p>
        </p:txBody>
      </p:sp>
      <p:sp>
        <p:nvSpPr>
          <p:cNvPr id="55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C++, formas mais rápidas implementar 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64" name="Imagem 63"/>
          <p:cNvPicPr>
            <a:picLocks noChangeAspect="1"/>
          </p:cNvPicPr>
          <p:nvPr/>
        </p:nvPicPr>
        <p:blipFill rotWithShape="1">
          <a:blip r:embed="rId3"/>
          <a:srcRect t="44571"/>
          <a:stretch/>
        </p:blipFill>
        <p:spPr>
          <a:xfrm>
            <a:off x="3547175" y="4437112"/>
            <a:ext cx="6207001" cy="1074574"/>
          </a:xfrm>
          <a:prstGeom prst="rect">
            <a:avLst/>
          </a:prstGeom>
        </p:spPr>
      </p:pic>
      <p:sp>
        <p:nvSpPr>
          <p:cNvPr id="65" name="CaixaDeTexto 64"/>
          <p:cNvSpPr txBox="1"/>
          <p:nvPr/>
        </p:nvSpPr>
        <p:spPr>
          <a:xfrm>
            <a:off x="3547175" y="3918218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Grafos ponderados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9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le:Halin graph.svg - Wikimedia Commons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247">
            <a:off x="1701924" y="1124744"/>
            <a:ext cx="561875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Dijkstra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757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96952"/>
            <a:ext cx="3430117" cy="936104"/>
          </a:xfrm>
        </p:spPr>
        <p:txBody>
          <a:bodyPr rtlCol="0">
            <a:normAutofit/>
          </a:bodyPr>
          <a:lstStyle/>
          <a:p>
            <a:pPr rtl="0"/>
            <a:r>
              <a:rPr lang="pt-BR" b="1" dirty="0" smtClean="0"/>
              <a:t>Dijkstra</a:t>
            </a:r>
            <a:endParaRPr lang="pt-BR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10136" y="793940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>
                  <a:solidFill>
                    <a:schemeClr val="tx1"/>
                  </a:solidFill>
                </a:rPr>
                <a:t>Esse algoritmo serve para achar a menor distância possível entre dois vértices em um grafo cujas arestas têm peso. Em especial, ele acha a menor distância de todos os vértices para uma raiz escolhida. </a:t>
              </a:r>
            </a:p>
            <a:p>
              <a:pPr algn="ctr"/>
              <a:endParaRPr lang="en-US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837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96952"/>
            <a:ext cx="3430117" cy="936104"/>
          </a:xfrm>
        </p:spPr>
        <p:txBody>
          <a:bodyPr rtlCol="0">
            <a:normAutofit/>
          </a:bodyPr>
          <a:lstStyle/>
          <a:p>
            <a:pPr rtl="0"/>
            <a:r>
              <a:rPr lang="pt-BR" b="1" dirty="0" smtClean="0"/>
              <a:t>Dijkstra</a:t>
            </a:r>
            <a:endParaRPr lang="pt-BR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10136" y="793940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>
                  <a:solidFill>
                    <a:schemeClr val="tx1"/>
                  </a:solidFill>
                </a:rPr>
                <a:t>Esse algoritmo serve para achar a menor distância possível entre dois vértices em um grafo cujas arestas têm peso. Em especial, ele acha a menor distância de todos os vértices para uma raiz escolhida. </a:t>
              </a:r>
            </a:p>
            <a:p>
              <a:pPr algn="ctr"/>
              <a:endParaRPr lang="en-US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02324" y="3933056"/>
            <a:ext cx="3744416" cy="1932350"/>
            <a:chOff x="4510236" y="4797152"/>
            <a:chExt cx="3744416" cy="1932350"/>
          </a:xfrm>
        </p:grpSpPr>
        <p:sp>
          <p:nvSpPr>
            <p:cNvPr id="6" name="Elipse 5"/>
            <p:cNvSpPr/>
            <p:nvPr/>
          </p:nvSpPr>
          <p:spPr>
            <a:xfrm>
              <a:off x="4510236" y="5085184"/>
              <a:ext cx="792088" cy="792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6022404" y="4797152"/>
              <a:ext cx="792088" cy="792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6022404" y="5937414"/>
              <a:ext cx="792088" cy="792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462564" y="5198910"/>
              <a:ext cx="792088" cy="792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6" idx="7"/>
              <a:endCxn id="7" idx="2"/>
            </p:cNvCxnSpPr>
            <p:nvPr/>
          </p:nvCxnSpPr>
          <p:spPr>
            <a:xfrm flipV="1">
              <a:off x="5186325" y="5193196"/>
              <a:ext cx="836079" cy="79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7" idx="6"/>
              <a:endCxn id="9" idx="1"/>
            </p:cNvCxnSpPr>
            <p:nvPr/>
          </p:nvCxnSpPr>
          <p:spPr>
            <a:xfrm>
              <a:off x="6814492" y="5193196"/>
              <a:ext cx="764071" cy="121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6" idx="5"/>
              <a:endCxn id="8" idx="2"/>
            </p:cNvCxnSpPr>
            <p:nvPr/>
          </p:nvCxnSpPr>
          <p:spPr>
            <a:xfrm>
              <a:off x="5186325" y="5761273"/>
              <a:ext cx="836079" cy="572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8" idx="6"/>
              <a:endCxn id="9" idx="3"/>
            </p:cNvCxnSpPr>
            <p:nvPr/>
          </p:nvCxnSpPr>
          <p:spPr>
            <a:xfrm flipV="1">
              <a:off x="6814492" y="5874999"/>
              <a:ext cx="764071" cy="4584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18"/>
            <p:cNvSpPr txBox="1"/>
            <p:nvPr/>
          </p:nvSpPr>
          <p:spPr>
            <a:xfrm>
              <a:off x="5360323" y="4854786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7044524" y="4854786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5418322" y="5562528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cxnSp>
          <p:nvCxnSpPr>
            <p:cNvPr id="23" name="Conector de seta reta 22"/>
            <p:cNvCxnSpPr>
              <a:stCxn id="8" idx="0"/>
              <a:endCxn id="7" idx="4"/>
            </p:cNvCxnSpPr>
            <p:nvPr/>
          </p:nvCxnSpPr>
          <p:spPr>
            <a:xfrm flipV="1">
              <a:off x="6418448" y="5589240"/>
              <a:ext cx="0" cy="3481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aixaDeTexto 23"/>
            <p:cNvSpPr txBox="1"/>
            <p:nvPr/>
          </p:nvSpPr>
          <p:spPr>
            <a:xfrm>
              <a:off x="6426435" y="5488280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7180555" y="5990998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8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000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96952"/>
            <a:ext cx="3430117" cy="936104"/>
          </a:xfrm>
        </p:spPr>
        <p:txBody>
          <a:bodyPr rtlCol="0">
            <a:normAutofit/>
          </a:bodyPr>
          <a:lstStyle/>
          <a:p>
            <a:pPr rtl="0"/>
            <a:r>
              <a:rPr lang="pt-BR" b="1" dirty="0" smtClean="0"/>
              <a:t>Dijkstra</a:t>
            </a:r>
            <a:endParaRPr lang="pt-BR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10136" y="793940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>
                  <a:solidFill>
                    <a:schemeClr val="tx1"/>
                  </a:solidFill>
                </a:rPr>
                <a:t>Esse algoritmo serve para achar a menor distância possível entre dois vértices em um grafo cujas arestas têm peso. Em especial, ele acha a menor distância de todos os vértices para uma raiz escolhida. </a:t>
              </a:r>
            </a:p>
            <a:p>
              <a:pPr algn="ctr"/>
              <a:endParaRPr lang="en-US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02324" y="3933056"/>
            <a:ext cx="3744416" cy="1932350"/>
            <a:chOff x="4510236" y="4797152"/>
            <a:chExt cx="3744416" cy="1932350"/>
          </a:xfrm>
        </p:grpSpPr>
        <p:sp>
          <p:nvSpPr>
            <p:cNvPr id="6" name="Elipse 5"/>
            <p:cNvSpPr/>
            <p:nvPr/>
          </p:nvSpPr>
          <p:spPr>
            <a:xfrm>
              <a:off x="4510236" y="5085184"/>
              <a:ext cx="792088" cy="792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6022404" y="4797152"/>
              <a:ext cx="792088" cy="792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6022404" y="5937414"/>
              <a:ext cx="792088" cy="792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462564" y="5198910"/>
              <a:ext cx="792088" cy="792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6" idx="7"/>
              <a:endCxn id="7" idx="2"/>
            </p:cNvCxnSpPr>
            <p:nvPr/>
          </p:nvCxnSpPr>
          <p:spPr>
            <a:xfrm flipV="1">
              <a:off x="5186325" y="5193196"/>
              <a:ext cx="836079" cy="79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7" idx="6"/>
              <a:endCxn id="9" idx="1"/>
            </p:cNvCxnSpPr>
            <p:nvPr/>
          </p:nvCxnSpPr>
          <p:spPr>
            <a:xfrm>
              <a:off x="6814492" y="5193196"/>
              <a:ext cx="764071" cy="121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6" idx="5"/>
              <a:endCxn id="8" idx="2"/>
            </p:cNvCxnSpPr>
            <p:nvPr/>
          </p:nvCxnSpPr>
          <p:spPr>
            <a:xfrm>
              <a:off x="5186325" y="5761273"/>
              <a:ext cx="836079" cy="572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8" idx="6"/>
              <a:endCxn id="9" idx="3"/>
            </p:cNvCxnSpPr>
            <p:nvPr/>
          </p:nvCxnSpPr>
          <p:spPr>
            <a:xfrm flipV="1">
              <a:off x="6814492" y="5874999"/>
              <a:ext cx="764071" cy="4584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18"/>
            <p:cNvSpPr txBox="1"/>
            <p:nvPr/>
          </p:nvSpPr>
          <p:spPr>
            <a:xfrm>
              <a:off x="5360323" y="4854786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7044524" y="4854786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5418322" y="5562528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cxnSp>
          <p:nvCxnSpPr>
            <p:cNvPr id="23" name="Conector de seta reta 22"/>
            <p:cNvCxnSpPr>
              <a:stCxn id="8" idx="0"/>
              <a:endCxn id="7" idx="4"/>
            </p:cNvCxnSpPr>
            <p:nvPr/>
          </p:nvCxnSpPr>
          <p:spPr>
            <a:xfrm flipV="1">
              <a:off x="6418448" y="5589240"/>
              <a:ext cx="0" cy="3481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CaixaDeTexto 23"/>
            <p:cNvSpPr txBox="1"/>
            <p:nvPr/>
          </p:nvSpPr>
          <p:spPr>
            <a:xfrm>
              <a:off x="6426435" y="5488280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7180555" y="5990998"/>
              <a:ext cx="24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8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901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96952"/>
            <a:ext cx="3430117" cy="936104"/>
          </a:xfrm>
        </p:spPr>
        <p:txBody>
          <a:bodyPr rtlCol="0">
            <a:normAutofit/>
          </a:bodyPr>
          <a:lstStyle/>
          <a:p>
            <a:pPr rtl="0"/>
            <a:r>
              <a:rPr lang="pt-BR" b="1" dirty="0" smtClean="0"/>
              <a:t>Dijkstra</a:t>
            </a:r>
            <a:endParaRPr lang="pt-BR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10136" y="793940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>
                  <a:solidFill>
                    <a:schemeClr val="tx1"/>
                  </a:solidFill>
                </a:rPr>
                <a:t>Esse algoritmo serve para achar a menor distância possível entre dois vértices em um grafo cujas arestas têm peso. Em especial, ele acha a menor distância de todos os vértices para uma raiz escolhida. </a:t>
              </a:r>
            </a:p>
            <a:p>
              <a:pPr algn="ctr"/>
              <a:endParaRPr lang="en-US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pic>
        <p:nvPicPr>
          <p:cNvPr id="2050" name="Picture 2" descr="Dijsktra&amp;#39;s algorith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155" y="3284984"/>
            <a:ext cx="680085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73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/>
          <a:lstStyle/>
          <a:p>
            <a:pPr rtl="0"/>
            <a:r>
              <a:rPr lang="pt-BR" b="1" dirty="0" smtClean="0"/>
              <a:t>Dijkstra</a:t>
            </a:r>
            <a:endParaRPr lang="pt-BR" b="1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3502124" y="868680"/>
            <a:ext cx="8136903" cy="5581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2"/>
                </a:solidFill>
              </a:rPr>
              <a:t>É um algoritmo variante do BFS</a:t>
            </a:r>
            <a:r>
              <a:rPr lang="pt-BR" sz="2400" dirty="0"/>
              <a:t>, </a:t>
            </a:r>
            <a:r>
              <a:rPr lang="pt-BR" sz="2400" dirty="0" smtClean="0"/>
              <a:t>com implementação </a:t>
            </a:r>
            <a:r>
              <a:rPr lang="pt-BR" sz="2400" dirty="0"/>
              <a:t>quase igual (perceba que para um grafo com todas arestas de mesmo peso o BFS acha o menor caminho), a diferença está no modo de percorrer os vértices. </a:t>
            </a:r>
            <a:endParaRPr lang="pt-BR" sz="2400" dirty="0" smtClean="0"/>
          </a:p>
          <a:p>
            <a:pPr lvl="0"/>
            <a:endParaRPr lang="pt-BR" sz="2400" dirty="0" smtClean="0"/>
          </a:p>
          <a:p>
            <a:pPr lvl="0"/>
            <a:r>
              <a:rPr lang="pt-BR" sz="2400" dirty="0" smtClean="0"/>
              <a:t>O Dijkstra </a:t>
            </a:r>
            <a:r>
              <a:rPr lang="pt-BR" sz="2400" dirty="0"/>
              <a:t>começa a partir de uma raiz e é um </a:t>
            </a:r>
            <a:r>
              <a:rPr lang="pt-BR" sz="2400" dirty="0">
                <a:solidFill>
                  <a:schemeClr val="accent2"/>
                </a:solidFill>
              </a:rPr>
              <a:t>algoritmo guloso</a:t>
            </a:r>
            <a:r>
              <a:rPr lang="pt-BR" sz="2400" dirty="0"/>
              <a:t>: </a:t>
            </a:r>
            <a:r>
              <a:rPr lang="pt-BR" sz="2400" dirty="0" smtClean="0"/>
              <a:t>A cada passo ele visita o vértice ainda não visitado que tem a menor distância para a raiz passando apenas por </a:t>
            </a:r>
            <a:r>
              <a:rPr lang="pt-BR" sz="2400" dirty="0"/>
              <a:t>vértices já visitados. </a:t>
            </a:r>
          </a:p>
          <a:p>
            <a:pPr lvl="0">
              <a:spcBef>
                <a:spcPts val="1600"/>
              </a:spcBef>
              <a:spcAft>
                <a:spcPts val="1600"/>
              </a:spcAft>
            </a:pPr>
            <a:r>
              <a:rPr lang="pt-BR" sz="2400" b="1" dirty="0">
                <a:solidFill>
                  <a:schemeClr val="accent2"/>
                </a:solidFill>
              </a:rPr>
              <a:t>Complexidade</a:t>
            </a:r>
            <a:r>
              <a:rPr lang="pt-BR" sz="2400" b="1" dirty="0"/>
              <a:t>:</a:t>
            </a:r>
            <a:r>
              <a:rPr lang="pt-BR" sz="2400" dirty="0"/>
              <a:t> O algoritmo passa por n vértices e, em cada um deles, acha o próximo vértice a ser visitado em complexidade O(</a:t>
            </a:r>
            <a:r>
              <a:rPr lang="pt-BR" sz="2400" dirty="0" err="1"/>
              <a:t>logn</a:t>
            </a:r>
            <a:r>
              <a:rPr lang="pt-BR" sz="2400" dirty="0"/>
              <a:t>), então o algoritmo roda em </a:t>
            </a:r>
            <a:r>
              <a:rPr lang="pt-BR" sz="2400" dirty="0">
                <a:solidFill>
                  <a:schemeClr val="accent2"/>
                </a:solidFill>
              </a:rPr>
              <a:t>O(</a:t>
            </a:r>
            <a:r>
              <a:rPr lang="pt-BR" sz="2400" dirty="0" err="1">
                <a:solidFill>
                  <a:schemeClr val="accent2"/>
                </a:solidFill>
              </a:rPr>
              <a:t>nlogn</a:t>
            </a:r>
            <a:r>
              <a:rPr lang="pt-BR" sz="2400" dirty="0" smtClean="0">
                <a:solidFill>
                  <a:schemeClr val="accent2"/>
                </a:solidFill>
              </a:rPr>
              <a:t>) </a:t>
            </a:r>
            <a:r>
              <a:rPr lang="pt-BR" sz="2400" dirty="0" smtClean="0">
                <a:solidFill>
                  <a:schemeClr val="accent2"/>
                </a:solidFill>
              </a:rPr>
              <a:t>na melhor implementação</a:t>
            </a:r>
            <a:endParaRPr lang="pt-BR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2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/>
          <a:lstStyle/>
          <a:p>
            <a:pPr rtl="0"/>
            <a:r>
              <a:rPr lang="pt-BR" b="1" dirty="0" smtClean="0"/>
              <a:t>Dijkstra</a:t>
            </a:r>
            <a:endParaRPr lang="pt-BR" b="1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 smtClean="0"/>
          </a:p>
        </p:txBody>
      </p:sp>
      <p:sp>
        <p:nvSpPr>
          <p:cNvPr id="3" name="CaixaDeTexto 2"/>
          <p:cNvSpPr txBox="1"/>
          <p:nvPr/>
        </p:nvSpPr>
        <p:spPr>
          <a:xfrm>
            <a:off x="3756785" y="104342"/>
            <a:ext cx="741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Vamos precisar...</a:t>
            </a:r>
            <a:endParaRPr lang="en-US" sz="3200" b="1" dirty="0"/>
          </a:p>
        </p:txBody>
      </p:sp>
      <p:sp>
        <p:nvSpPr>
          <p:cNvPr id="9" name="CaixaDeTexto 8"/>
          <p:cNvSpPr txBox="1"/>
          <p:nvPr/>
        </p:nvSpPr>
        <p:spPr>
          <a:xfrm>
            <a:off x="3646140" y="998237"/>
            <a:ext cx="813690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Do problema:</a:t>
            </a:r>
          </a:p>
          <a:p>
            <a:endParaRPr lang="pt-B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Um vértice de origem (</a:t>
            </a:r>
            <a:r>
              <a:rPr lang="pt-BR" sz="2400" dirty="0" smtClean="0">
                <a:solidFill>
                  <a:schemeClr val="accent2"/>
                </a:solidFill>
              </a:rPr>
              <a:t>raiz</a:t>
            </a:r>
            <a:r>
              <a:rPr lang="pt-BR" sz="2400" dirty="0" smtClean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Grafo com </a:t>
            </a:r>
            <a:r>
              <a:rPr lang="pt-BR" sz="2400" dirty="0" smtClean="0">
                <a:solidFill>
                  <a:schemeClr val="accent2"/>
                </a:solidFill>
              </a:rPr>
              <a:t>pesos não negativos </a:t>
            </a:r>
            <a:r>
              <a:rPr lang="pt-BR" sz="2400" dirty="0" smtClean="0"/>
              <a:t>(Pode ser orientado ou não);</a:t>
            </a:r>
          </a:p>
          <a:p>
            <a:endParaRPr lang="pt-B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6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/>
          <a:lstStyle/>
          <a:p>
            <a:pPr rtl="0"/>
            <a:r>
              <a:rPr lang="pt-BR" b="1" dirty="0" smtClean="0"/>
              <a:t>Dijkstra</a:t>
            </a:r>
            <a:endParaRPr lang="pt-BR" b="1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 smtClean="0"/>
          </a:p>
        </p:txBody>
      </p:sp>
      <p:sp>
        <p:nvSpPr>
          <p:cNvPr id="3" name="CaixaDeTexto 2"/>
          <p:cNvSpPr txBox="1"/>
          <p:nvPr/>
        </p:nvSpPr>
        <p:spPr>
          <a:xfrm>
            <a:off x="3756785" y="104342"/>
            <a:ext cx="741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Vamos precisar...</a:t>
            </a:r>
            <a:endParaRPr lang="en-US" sz="3200" b="1" dirty="0"/>
          </a:p>
        </p:txBody>
      </p:sp>
      <p:sp>
        <p:nvSpPr>
          <p:cNvPr id="9" name="CaixaDeTexto 8"/>
          <p:cNvSpPr txBox="1"/>
          <p:nvPr/>
        </p:nvSpPr>
        <p:spPr>
          <a:xfrm>
            <a:off x="3646140" y="690131"/>
            <a:ext cx="813690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Para o programa</a:t>
            </a:r>
            <a:r>
              <a:rPr lang="pt-BR" sz="2400" dirty="0" smtClean="0"/>
              <a:t>:</a:t>
            </a:r>
          </a:p>
          <a:p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Vetor de caminho de volta (</a:t>
            </a:r>
            <a:r>
              <a:rPr lang="pt-BR" sz="2400" dirty="0">
                <a:solidFill>
                  <a:schemeClr val="accent2"/>
                </a:solidFill>
              </a:rPr>
              <a:t>p</a:t>
            </a:r>
            <a:r>
              <a:rPr lang="pt-BR" sz="2400" dirty="0"/>
              <a:t>), indica o </a:t>
            </a:r>
            <a:r>
              <a:rPr lang="pt-BR" sz="2400" dirty="0">
                <a:solidFill>
                  <a:schemeClr val="accent2"/>
                </a:solidFill>
              </a:rPr>
              <a:t>precedente</a:t>
            </a:r>
            <a:r>
              <a:rPr lang="pt-BR" sz="2400" dirty="0"/>
              <a:t> do </a:t>
            </a:r>
            <a:r>
              <a:rPr lang="pt-BR" sz="2400" dirty="0" smtClean="0"/>
              <a:t>vértice i </a:t>
            </a:r>
            <a:r>
              <a:rPr lang="pt-BR" sz="2400" dirty="0"/>
              <a:t>que possibilita o menor caminho desse vértice à </a:t>
            </a:r>
            <a:r>
              <a:rPr lang="pt-BR" sz="2400" dirty="0" smtClean="0"/>
              <a:t>raiz;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Vetor da menor </a:t>
            </a:r>
            <a:r>
              <a:rPr lang="pt-BR" sz="2400" dirty="0">
                <a:solidFill>
                  <a:schemeClr val="accent2"/>
                </a:solidFill>
              </a:rPr>
              <a:t>distância</a:t>
            </a:r>
            <a:r>
              <a:rPr lang="pt-BR" sz="2400" dirty="0"/>
              <a:t> da raiz ao vértice i já encontrada (</a:t>
            </a:r>
            <a:r>
              <a:rPr lang="pt-BR" sz="2400" dirty="0">
                <a:solidFill>
                  <a:schemeClr val="accent2"/>
                </a:solidFill>
              </a:rPr>
              <a:t>d</a:t>
            </a:r>
            <a:r>
              <a:rPr lang="pt-BR" sz="2400" dirty="0" smtClean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Vetor </a:t>
            </a:r>
            <a:r>
              <a:rPr lang="pt-BR" sz="2400" dirty="0"/>
              <a:t>que indica se o vértice já foi </a:t>
            </a:r>
            <a:r>
              <a:rPr lang="pt-BR" sz="2400" dirty="0">
                <a:solidFill>
                  <a:schemeClr val="accent2"/>
                </a:solidFill>
              </a:rPr>
              <a:t>visitado</a:t>
            </a:r>
            <a:r>
              <a:rPr lang="pt-BR" sz="2400" dirty="0"/>
              <a:t> ou não (</a:t>
            </a:r>
            <a:r>
              <a:rPr lang="pt-BR" sz="2400" dirty="0">
                <a:solidFill>
                  <a:schemeClr val="accent2"/>
                </a:solidFill>
              </a:rPr>
              <a:t>U</a:t>
            </a:r>
            <a:r>
              <a:rPr lang="pt-BR" sz="2400" dirty="0" smtClean="0"/>
              <a:t>);</a:t>
            </a:r>
            <a:endParaRPr lang="pt-BR" sz="2400" dirty="0"/>
          </a:p>
          <a:p>
            <a:r>
              <a:rPr lang="pt-BR" sz="2400" i="1" dirty="0">
                <a:solidFill>
                  <a:schemeClr val="accent1"/>
                </a:solidFill>
              </a:rPr>
              <a:t>(Pode ser um vetor booleano: 1 indica que foi visitado, e 0 indica que não foi</a:t>
            </a:r>
            <a:r>
              <a:rPr lang="pt-BR" sz="2400" i="1" dirty="0" smtClean="0">
                <a:solidFill>
                  <a:schemeClr val="accent1"/>
                </a:solidFill>
              </a:rPr>
              <a:t>)</a:t>
            </a:r>
          </a:p>
          <a:p>
            <a:endParaRPr lang="pt-BR" sz="2400" i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Número de vértices não visitados (</a:t>
            </a:r>
            <a:r>
              <a:rPr lang="pt-BR" sz="2400" dirty="0">
                <a:solidFill>
                  <a:schemeClr val="accent2"/>
                </a:solidFill>
              </a:rPr>
              <a:t>nV</a:t>
            </a:r>
            <a:r>
              <a:rPr lang="pt-BR" sz="2400" dirty="0" smtClean="0"/>
              <a:t>);</a:t>
            </a: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21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/>
          <a:lstStyle/>
          <a:p>
            <a:pPr rtl="0"/>
            <a:r>
              <a:rPr lang="pt-BR" b="1" dirty="0" smtClean="0"/>
              <a:t>Dijkstra</a:t>
            </a:r>
            <a:endParaRPr lang="pt-BR" b="1" dirty="0"/>
          </a:p>
        </p:txBody>
      </p:sp>
      <p:sp>
        <p:nvSpPr>
          <p:cNvPr id="9" name="CaixaDeTexto 8"/>
          <p:cNvSpPr txBox="1"/>
          <p:nvPr/>
        </p:nvSpPr>
        <p:spPr>
          <a:xfrm>
            <a:off x="3430117" y="2274838"/>
            <a:ext cx="83529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Esse </a:t>
            </a:r>
            <a:r>
              <a:rPr lang="pt-BR" sz="2400" dirty="0"/>
              <a:t>algoritmo parte de uma </a:t>
            </a:r>
            <a:r>
              <a:rPr lang="pt-BR" sz="2400" dirty="0">
                <a:solidFill>
                  <a:schemeClr val="accent2"/>
                </a:solidFill>
              </a:rPr>
              <a:t>estimativa inicial </a:t>
            </a:r>
            <a:r>
              <a:rPr lang="pt-BR" sz="2400" dirty="0"/>
              <a:t>para o custo mínimo e vai sucessivamente ajustando esta estimativa</a:t>
            </a:r>
            <a:r>
              <a:rPr lang="pt-BR" sz="2400" dirty="0" smtClean="0"/>
              <a:t>.</a:t>
            </a:r>
          </a:p>
          <a:p>
            <a:pPr algn="ctr"/>
            <a:endParaRPr lang="pt-BR" sz="2400" dirty="0" smtClean="0"/>
          </a:p>
          <a:p>
            <a:pPr algn="just"/>
            <a:r>
              <a:rPr lang="pt-BR" sz="2400" dirty="0" smtClean="0"/>
              <a:t>Essa estratégia chamamos de </a:t>
            </a:r>
            <a:r>
              <a:rPr lang="pt-BR" sz="2400" dirty="0" smtClean="0">
                <a:solidFill>
                  <a:schemeClr val="accent2"/>
                </a:solidFill>
              </a:rPr>
              <a:t>Relaxamento</a:t>
            </a:r>
            <a:r>
              <a:rPr lang="pt-BR" sz="2400" dirty="0" smtClean="0"/>
              <a:t>.</a:t>
            </a:r>
          </a:p>
          <a:p>
            <a:endParaRPr lang="pt-BR" sz="2400" dirty="0" smtClean="0"/>
          </a:p>
          <a:p>
            <a:r>
              <a:rPr lang="pt-BR" sz="2400" dirty="0" smtClean="0"/>
              <a:t>A estimativa inicial é </a:t>
            </a:r>
            <a:r>
              <a:rPr lang="pt-BR" sz="2400" dirty="0" smtClean="0">
                <a:solidFill>
                  <a:schemeClr val="accent2"/>
                </a:solidFill>
              </a:rPr>
              <a:t>d = </a:t>
            </a:r>
            <a:r>
              <a:rPr lang="en-U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pt-BR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para todos os vértices.</a:t>
            </a:r>
            <a:endParaRPr lang="pt-BR" sz="2400" dirty="0" smtClean="0"/>
          </a:p>
          <a:p>
            <a:endParaRPr lang="pt-BR" sz="2400" dirty="0" smtClean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6926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O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718148" y="692696"/>
            <a:ext cx="76328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Etapa de Inicialização (Vértice u é a raiz)</a:t>
            </a:r>
          </a:p>
          <a:p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cada vértice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U(i) </a:t>
            </a:r>
            <a:r>
              <a:rPr lang="en-US" dirty="0" smtClean="0"/>
              <a:t>← 0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p(i) </a:t>
            </a:r>
            <a:r>
              <a:rPr lang="en-US" dirty="0"/>
              <a:t>←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valor_indefinido </a:t>
            </a:r>
            <a:r>
              <a:rPr lang="pt-BR" sz="1400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(Você pode usar -1, por exemplo)</a:t>
            </a:r>
            <a:endParaRPr lang="en-US" sz="1400" i="1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d(i) </a:t>
            </a:r>
            <a:r>
              <a:rPr lang="en-US" dirty="0"/>
              <a:t>←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∞ 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d(u) </a:t>
            </a:r>
            <a:r>
              <a:rPr lang="en-US" dirty="0"/>
              <a:t>← </a:t>
            </a:r>
            <a:r>
              <a:rPr lang="en-US" dirty="0" smtClean="0"/>
              <a:t>0</a:t>
            </a:r>
          </a:p>
          <a:p>
            <a:r>
              <a:rPr lang="pt-BR" dirty="0" smtClean="0"/>
              <a:t>nV = número_de_vértices</a:t>
            </a:r>
            <a:endParaRPr lang="en-US" dirty="0" smtClean="0"/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Programa/Etapa de Relaxamento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Enquanto nV ≠ 0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v </a:t>
            </a:r>
            <a:r>
              <a:rPr lang="en-US" dirty="0"/>
              <a:t>←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vértice_ainda_não_visitado_que_possui_d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mínimo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U(v) = 1 </a:t>
            </a:r>
            <a:r>
              <a:rPr lang="pt-BR" sz="1400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(significa que v foi visitado)</a:t>
            </a:r>
          </a:p>
          <a:p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←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nV - 1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Para cada sucessor não visitado x de v com U(x)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= 0 </a:t>
            </a:r>
            <a:r>
              <a:rPr lang="pt-BR" sz="1400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(não visitado)</a:t>
            </a:r>
          </a:p>
          <a:p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 d(v) + peso(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v,x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&lt; d(x)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d(x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 ← </a:t>
            </a:r>
            <a:r>
              <a:rPr lang="en-US" dirty="0" smtClean="0"/>
              <a:t>d(v) + peso(</a:t>
            </a:r>
            <a:r>
              <a:rPr lang="en-US" dirty="0" err="1" smtClean="0"/>
              <a:t>v,x</a:t>
            </a:r>
            <a:r>
              <a:rPr lang="en-US" dirty="0" smtClean="0"/>
              <a:t>)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(Atualiza a estimativa)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	p(x) </a:t>
            </a:r>
            <a:r>
              <a:rPr lang="en-US" dirty="0"/>
              <a:t>← </a:t>
            </a:r>
            <a:r>
              <a:rPr lang="en-US" dirty="0" smtClean="0"/>
              <a:t>v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68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A_0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B_1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C_2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D_3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E_4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7115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650059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5</a:t>
            </a:r>
            <a:endParaRPr lang="en-US" dirty="0"/>
          </a:p>
        </p:txBody>
      </p:sp>
      <p:sp>
        <p:nvSpPr>
          <p:cNvPr id="49" name="CaixaDeTexto 48"/>
          <p:cNvSpPr txBox="1"/>
          <p:nvPr/>
        </p:nvSpPr>
        <p:spPr>
          <a:xfrm>
            <a:off x="3646140" y="857592"/>
            <a:ext cx="703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Vamos definir o vértice A como raiz nesse exemplo</a:t>
            </a:r>
            <a:endParaRPr lang="en-US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8516732" y="2398079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Inicialização: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37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562828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5</a:t>
            </a:r>
            <a:endParaRPr lang="en-US" dirty="0"/>
          </a:p>
        </p:txBody>
      </p:sp>
      <p:sp>
        <p:nvSpPr>
          <p:cNvPr id="3" name="Retângulo 2"/>
          <p:cNvSpPr/>
          <p:nvPr/>
        </p:nvSpPr>
        <p:spPr>
          <a:xfrm>
            <a:off x="3694595" y="1023073"/>
            <a:ext cx="590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en-US" dirty="0"/>
              <a:t>←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vértice_ainda_não_visitado_que_possui_d_mínimo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68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371166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accent2"/>
                </a:solidFill>
              </a:rPr>
              <a:t>4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694595" y="1023073"/>
            <a:ext cx="14414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U(v)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←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nV - 1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6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87107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4</a:t>
            </a:r>
            <a:endParaRPr lang="en-US" dirty="0"/>
          </a:p>
        </p:txBody>
      </p:sp>
      <p:sp>
        <p:nvSpPr>
          <p:cNvPr id="2" name="CaixaDeTexto 1"/>
          <p:cNvSpPr txBox="1"/>
          <p:nvPr/>
        </p:nvSpPr>
        <p:spPr>
          <a:xfrm>
            <a:off x="3689294" y="343520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cada sucessor não visitado x de v com U(x) = 0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(não visitado)</a:t>
            </a:r>
          </a:p>
          <a:p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 d(v) + peso(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v,x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&lt; d(x)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d(x)</a:t>
            </a:r>
            <a:r>
              <a:rPr lang="en-US" dirty="0"/>
              <a:t> ← d(v) + peso(</a:t>
            </a:r>
            <a:r>
              <a:rPr lang="en-US" dirty="0" err="1"/>
              <a:t>v,x</a:t>
            </a:r>
            <a:r>
              <a:rPr lang="en-US" dirty="0"/>
              <a:t>)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(Atualiza a estimativa)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p(x) </a:t>
            </a:r>
            <a:r>
              <a:rPr lang="en-US" dirty="0"/>
              <a:t>← v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3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152656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4</a:t>
            </a:r>
            <a:endParaRPr lang="en-US" dirty="0"/>
          </a:p>
        </p:txBody>
      </p:sp>
      <p:sp>
        <p:nvSpPr>
          <p:cNvPr id="2" name="CaixaDeTexto 1"/>
          <p:cNvSpPr txBox="1"/>
          <p:nvPr/>
        </p:nvSpPr>
        <p:spPr>
          <a:xfrm>
            <a:off x="3689294" y="343520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cada sucessor não visitado x de v com U(x) = 0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(não visitado)</a:t>
            </a:r>
          </a:p>
          <a:p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 d(v) + peso(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v,x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&lt; d(x)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d(x)</a:t>
            </a:r>
            <a:r>
              <a:rPr lang="en-US" dirty="0"/>
              <a:t> ← d(v) + peso(</a:t>
            </a:r>
            <a:r>
              <a:rPr lang="en-US" dirty="0" err="1"/>
              <a:t>v,x</a:t>
            </a:r>
            <a:r>
              <a:rPr lang="en-US" dirty="0"/>
              <a:t>)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(Atualiza a estimativa)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p(x) </a:t>
            </a:r>
            <a:r>
              <a:rPr lang="en-US" dirty="0"/>
              <a:t>← v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03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30690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4</a:t>
            </a:r>
            <a:endParaRPr lang="en-US" dirty="0"/>
          </a:p>
        </p:txBody>
      </p:sp>
      <p:sp>
        <p:nvSpPr>
          <p:cNvPr id="30" name="Retângulo 29"/>
          <p:cNvSpPr/>
          <p:nvPr/>
        </p:nvSpPr>
        <p:spPr>
          <a:xfrm>
            <a:off x="3694595" y="1023073"/>
            <a:ext cx="590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en-US" dirty="0"/>
              <a:t>←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vértice_ainda_não_visitado_que_possui_d_mínimo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3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02931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accent2"/>
                </a:solidFill>
              </a:rPr>
              <a:t>3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3694595" y="1023073"/>
            <a:ext cx="14414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U(v)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←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nV - 1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4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154919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∞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3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3689294" y="343520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cada sucessor não visitado x de v com U(x) = 0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(não visitado)</a:t>
            </a:r>
          </a:p>
          <a:p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 d(v) + peso(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v,x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&lt; d(x)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d(x)</a:t>
            </a:r>
            <a:r>
              <a:rPr lang="en-US" dirty="0"/>
              <a:t> ← d(v) + peso(</a:t>
            </a:r>
            <a:r>
              <a:rPr lang="en-US" dirty="0" err="1"/>
              <a:t>v,x</a:t>
            </a:r>
            <a:r>
              <a:rPr lang="en-US" dirty="0"/>
              <a:t>)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(Atualiza a estimativa)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p(x) </a:t>
            </a:r>
            <a:r>
              <a:rPr lang="en-US" dirty="0"/>
              <a:t>← v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5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574418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accent2"/>
                          </a:solidFill>
                        </a:rPr>
                        <a:t>7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3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3689294" y="343520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cada sucessor não visitado x de v com U(x) = 0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(não visitado)</a:t>
            </a:r>
          </a:p>
          <a:p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 d(v) + peso(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v,x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&lt; d(x)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d(x)</a:t>
            </a:r>
            <a:r>
              <a:rPr lang="en-US" dirty="0"/>
              <a:t> ← d(v) + peso(</a:t>
            </a:r>
            <a:r>
              <a:rPr lang="en-US" dirty="0" err="1"/>
              <a:t>v,x</a:t>
            </a:r>
            <a:r>
              <a:rPr lang="en-US" dirty="0"/>
              <a:t>) </a:t>
            </a:r>
            <a:r>
              <a:rPr lang="pt-BR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(Atualiza a estimativa)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p(x) </a:t>
            </a:r>
            <a:r>
              <a:rPr lang="en-US" dirty="0"/>
              <a:t>← v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5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87304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3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83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90586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91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61668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2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79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61668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2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3" name="Conector em curva 2"/>
          <p:cNvCxnSpPr/>
          <p:nvPr/>
        </p:nvCxnSpPr>
        <p:spPr>
          <a:xfrm>
            <a:off x="5691219" y="3958178"/>
            <a:ext cx="2563435" cy="199110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8398668" y="5517232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 já foi visitado!! Então essa aresta é ignorada, já que ela nunca poderá estar em um caminho mínimo para a raiz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27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502833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2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79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2104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2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12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73646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2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40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17167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accent2"/>
                </a:solidFill>
              </a:rPr>
              <a:t>1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03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182937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1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8326660" y="1959177"/>
            <a:ext cx="29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Não possui vizinhos!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182937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2"/>
                </a:solidFill>
              </a:rPr>
              <a:t>1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53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889406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accent2"/>
                </a:solidFill>
              </a:rPr>
              <a:t>0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00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314611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8326660" y="1959177"/>
            <a:ext cx="29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Não possui vizinhos!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8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314611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8326660" y="1959177"/>
            <a:ext cx="29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Fim do algoritmo!</a:t>
            </a:r>
            <a:endParaRPr lang="en-US" dirty="0"/>
          </a:p>
        </p:txBody>
      </p:sp>
      <p:sp>
        <p:nvSpPr>
          <p:cNvPr id="2" name="CaixaDeTexto 1"/>
          <p:cNvSpPr txBox="1"/>
          <p:nvPr/>
        </p:nvSpPr>
        <p:spPr>
          <a:xfrm>
            <a:off x="3646140" y="5445224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Qual é o menor caminho de A para E e o custo?</a:t>
            </a:r>
          </a:p>
        </p:txBody>
      </p:sp>
    </p:spTree>
    <p:extLst>
      <p:ext uri="{BB962C8B-B14F-4D97-AF65-F5344CB8AC3E}">
        <p14:creationId xmlns:p14="http://schemas.microsoft.com/office/powerpoint/2010/main" val="165247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314611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8326660" y="1959177"/>
            <a:ext cx="29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Fim do algoritmo!</a:t>
            </a:r>
            <a:endParaRPr lang="en-US" dirty="0"/>
          </a:p>
        </p:txBody>
      </p:sp>
      <p:sp>
        <p:nvSpPr>
          <p:cNvPr id="2" name="CaixaDeTexto 1"/>
          <p:cNvSpPr txBox="1"/>
          <p:nvPr/>
        </p:nvSpPr>
        <p:spPr>
          <a:xfrm>
            <a:off x="3646140" y="5445224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Qual é o menor caminho de A para E e o custo?</a:t>
            </a:r>
          </a:p>
          <a:p>
            <a:r>
              <a:rPr lang="pt-BR" dirty="0" smtClean="0"/>
              <a:t>Basta observar o vetor de precedentes: E-B-C-A</a:t>
            </a:r>
          </a:p>
        </p:txBody>
      </p:sp>
    </p:spTree>
    <p:extLst>
      <p:ext uri="{BB962C8B-B14F-4D97-AF65-F5344CB8AC3E}">
        <p14:creationId xmlns:p14="http://schemas.microsoft.com/office/powerpoint/2010/main" val="116848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3200" dirty="0" smtClean="0"/>
              <a:t>Exemplo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3790156" y="1675791"/>
            <a:ext cx="3931586" cy="3587824"/>
            <a:chOff x="4553390" y="1628800"/>
            <a:chExt cx="3931586" cy="3587824"/>
          </a:xfrm>
        </p:grpSpPr>
        <p:sp>
          <p:nvSpPr>
            <p:cNvPr id="5" name="Elipse 4"/>
            <p:cNvSpPr/>
            <p:nvPr/>
          </p:nvSpPr>
          <p:spPr>
            <a:xfrm>
              <a:off x="4553390" y="2929136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5806380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5806380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7548872" y="162880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7548872" y="4280520"/>
              <a:ext cx="936104" cy="93610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11" name="Conector de seta reta 10"/>
            <p:cNvCxnSpPr>
              <a:stCxn id="5" idx="7"/>
              <a:endCxn id="6" idx="3"/>
            </p:cNvCxnSpPr>
            <p:nvPr/>
          </p:nvCxnSpPr>
          <p:spPr>
            <a:xfrm flipV="1">
              <a:off x="5352405" y="2427815"/>
              <a:ext cx="591064" cy="638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6" idx="6"/>
              <a:endCxn id="8" idx="2"/>
            </p:cNvCxnSpPr>
            <p:nvPr/>
          </p:nvCxnSpPr>
          <p:spPr>
            <a:xfrm>
              <a:off x="6742484" y="209685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9" idx="0"/>
              <a:endCxn id="8" idx="4"/>
            </p:cNvCxnSpPr>
            <p:nvPr/>
          </p:nvCxnSpPr>
          <p:spPr>
            <a:xfrm flipV="1">
              <a:off x="8016924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5" idx="5"/>
              <a:endCxn id="7" idx="1"/>
            </p:cNvCxnSpPr>
            <p:nvPr/>
          </p:nvCxnSpPr>
          <p:spPr>
            <a:xfrm>
              <a:off x="5352405" y="3728151"/>
              <a:ext cx="591064" cy="68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7" idx="6"/>
              <a:endCxn id="9" idx="2"/>
            </p:cNvCxnSpPr>
            <p:nvPr/>
          </p:nvCxnSpPr>
          <p:spPr>
            <a:xfrm>
              <a:off x="6742484" y="4748572"/>
              <a:ext cx="806388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6" idx="5"/>
              <a:endCxn id="9" idx="1"/>
            </p:cNvCxnSpPr>
            <p:nvPr/>
          </p:nvCxnSpPr>
          <p:spPr>
            <a:xfrm>
              <a:off x="6605395" y="2427815"/>
              <a:ext cx="1080566" cy="198979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7" idx="6"/>
              <a:endCxn id="8" idx="3"/>
            </p:cNvCxnSpPr>
            <p:nvPr/>
          </p:nvCxnSpPr>
          <p:spPr>
            <a:xfrm flipV="1">
              <a:off x="6742484" y="2427815"/>
              <a:ext cx="943477" cy="23207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/>
            <p:nvPr/>
          </p:nvCxnSpPr>
          <p:spPr>
            <a:xfrm flipV="1">
              <a:off x="6094412" y="2564904"/>
              <a:ext cx="0" cy="171561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/>
            <p:nvPr/>
          </p:nvCxnSpPr>
          <p:spPr>
            <a:xfrm>
              <a:off x="6454452" y="2564904"/>
              <a:ext cx="0" cy="171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/>
            <p:cNvSpPr txBox="1"/>
            <p:nvPr/>
          </p:nvSpPr>
          <p:spPr>
            <a:xfrm>
              <a:off x="5357768" y="24938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6985002" y="174670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8016924" y="32307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303711" y="3911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2</a:t>
              </a:r>
              <a:endParaRPr lang="en-US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932836" y="47384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5</a:t>
              </a:r>
              <a:endParaRPr lang="en-US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782096" y="32341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1</a:t>
              </a:r>
              <a:endParaRPr lang="en-US" dirty="0"/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6406729" y="321886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7253466" y="24661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4</a:t>
              </a:r>
              <a:endParaRPr lang="en-US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410508" y="3736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3</a:t>
              </a:r>
              <a:endParaRPr lang="en-US" dirty="0"/>
            </a:p>
          </p:txBody>
        </p:sp>
      </p:grpSp>
      <p:graphicFrame>
        <p:nvGraphicFramePr>
          <p:cNvPr id="47" name="Tabela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314611"/>
              </p:ext>
            </p:extLst>
          </p:nvPr>
        </p:nvGraphicFramePr>
        <p:xfrm>
          <a:off x="8398668" y="2845630"/>
          <a:ext cx="3148764" cy="14625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24794"/>
                <a:gridCol w="524794"/>
                <a:gridCol w="524794"/>
                <a:gridCol w="524794"/>
                <a:gridCol w="524794"/>
                <a:gridCol w="524794"/>
              </a:tblGrid>
              <a:tr h="351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799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  <a:tr h="351389">
                <a:tc>
                  <a:txBody>
                    <a:bodyPr/>
                    <a:lstStyle/>
                    <a:p>
                      <a:r>
                        <a:rPr lang="pt-BR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pt-BR" sz="1799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8398668" y="4464600"/>
            <a:ext cx="93610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nV = </a:t>
            </a:r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8326660" y="1959177"/>
            <a:ext cx="29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Fim do algoritmo!</a:t>
            </a:r>
            <a:endParaRPr lang="en-US" dirty="0"/>
          </a:p>
        </p:txBody>
      </p:sp>
      <p:sp>
        <p:nvSpPr>
          <p:cNvPr id="2" name="CaixaDeTexto 1"/>
          <p:cNvSpPr txBox="1"/>
          <p:nvPr/>
        </p:nvSpPr>
        <p:spPr>
          <a:xfrm>
            <a:off x="3646140" y="5445224"/>
            <a:ext cx="799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Qual é o menor caminho de A para E e o custo?</a:t>
            </a:r>
          </a:p>
          <a:p>
            <a:r>
              <a:rPr lang="pt-BR" dirty="0" smtClean="0"/>
              <a:t>Basta observar o vetor de precedentes: E-B-C-A</a:t>
            </a:r>
          </a:p>
          <a:p>
            <a:r>
              <a:rPr lang="pt-BR" dirty="0" smtClean="0"/>
              <a:t>Custo: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6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6656795" y="659325"/>
            <a:ext cx="3430117" cy="12575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2400" dirty="0" smtClean="0"/>
              <a:t>Implementação em C</a:t>
            </a:r>
            <a:endParaRPr lang="pt-BR" sz="2800" dirty="0" smtClean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4798601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290" y="2420888"/>
            <a:ext cx="6715125" cy="2352675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5014290" y="5013176"/>
            <a:ext cx="5760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Perceba que esse algoritmo em C não possui complexidade O(</a:t>
            </a:r>
            <a:r>
              <a:rPr lang="pt-BR" dirty="0" err="1" smtClean="0"/>
              <a:t>nlogn</a:t>
            </a:r>
            <a:r>
              <a:rPr lang="pt-BR" dirty="0" smtClean="0"/>
              <a:t>), mas O(n^2)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84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2400" dirty="0" smtClean="0"/>
              <a:t>Implementação em C++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574132" y="764704"/>
            <a:ext cx="79928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N</a:t>
            </a:r>
            <a:r>
              <a:rPr lang="pt-BR" sz="2000" dirty="0" smtClean="0"/>
              <a:t>a implementação em C++ podemos tornar mais eficientes várias etapas do algoritmo por causa dos containers pré-existentes na linguagem.</a:t>
            </a:r>
          </a:p>
          <a:p>
            <a:endParaRPr lang="pt-BR" sz="2000" dirty="0" smtClean="0"/>
          </a:p>
          <a:p>
            <a:r>
              <a:rPr lang="pt-BR" sz="2000" dirty="0"/>
              <a:t>Podemos usar uma </a:t>
            </a:r>
            <a:r>
              <a:rPr lang="pt-BR" sz="2000" dirty="0">
                <a:solidFill>
                  <a:schemeClr val="accent2"/>
                </a:solidFill>
              </a:rPr>
              <a:t>priority_queue</a:t>
            </a:r>
            <a:r>
              <a:rPr lang="pt-BR" sz="2000" dirty="0"/>
              <a:t> </a:t>
            </a:r>
            <a:r>
              <a:rPr lang="pt-BR" sz="2000" dirty="0" smtClean="0"/>
              <a:t>de </a:t>
            </a:r>
            <a:r>
              <a:rPr lang="pt-BR" sz="2000" dirty="0" err="1" smtClean="0">
                <a:solidFill>
                  <a:schemeClr val="accent2"/>
                </a:solidFill>
              </a:rPr>
              <a:t>pairs</a:t>
            </a:r>
            <a:r>
              <a:rPr lang="pt-BR" sz="2000" dirty="0" smtClean="0"/>
              <a:t> </a:t>
            </a:r>
            <a:r>
              <a:rPr lang="pt-BR" sz="2000" dirty="0" smtClean="0"/>
              <a:t>para sempre ter na sua extremidade a menor distância e o vértice do grafo que possui essa mínima distância</a:t>
            </a:r>
          </a:p>
          <a:p>
            <a:endParaRPr lang="pt-BR" sz="2000" dirty="0" smtClean="0"/>
          </a:p>
          <a:p>
            <a:r>
              <a:rPr lang="pt-BR" sz="2000" dirty="0"/>
              <a:t>O par guarda a distância mínima e o seu respectivo vértice e o vector  guarda as distâncias mínimas.</a:t>
            </a:r>
          </a:p>
          <a:p>
            <a:endParaRPr lang="pt-BR" sz="2000" dirty="0"/>
          </a:p>
          <a:p>
            <a:r>
              <a:rPr lang="pt-BR" sz="2000" dirty="0"/>
              <a:t>Dessa forma não precisamos varrer o vetor a procura da menor distância, pois ela sempre estará na primeira posição da </a:t>
            </a:r>
            <a:r>
              <a:rPr lang="pt-BR" sz="2000" dirty="0" smtClean="0"/>
              <a:t>priority_queue (</a:t>
            </a:r>
            <a:r>
              <a:rPr lang="pt-BR" sz="2000" dirty="0" smtClean="0">
                <a:solidFill>
                  <a:schemeClr val="accent2"/>
                </a:solidFill>
              </a:rPr>
              <a:t>Lembrete</a:t>
            </a:r>
            <a:r>
              <a:rPr lang="pt-BR" sz="2000" dirty="0" smtClean="0"/>
              <a:t>: a priority_queue mantém o </a:t>
            </a:r>
            <a:r>
              <a:rPr lang="pt-BR" sz="2000" dirty="0" smtClean="0">
                <a:solidFill>
                  <a:schemeClr val="accent2"/>
                </a:solidFill>
              </a:rPr>
              <a:t>MAIOR</a:t>
            </a:r>
            <a:r>
              <a:rPr lang="pt-BR" sz="2000" dirty="0" smtClean="0"/>
              <a:t> valor como primeiro, então deve-se colocar as distâncias como negativas para que o primeiro termo seja o menor).</a:t>
            </a:r>
            <a:endParaRPr lang="en-US" sz="2000" dirty="0"/>
          </a:p>
          <a:p>
            <a:endParaRPr lang="pt-BR" sz="2000" dirty="0" smtClean="0"/>
          </a:p>
          <a:p>
            <a:r>
              <a:rPr lang="pt-BR" sz="2000" dirty="0"/>
              <a:t>Trocar os vetores de C por </a:t>
            </a:r>
            <a:r>
              <a:rPr lang="pt-BR" sz="2000" dirty="0">
                <a:solidFill>
                  <a:schemeClr val="accent2"/>
                </a:solidFill>
              </a:rPr>
              <a:t>vectors</a:t>
            </a:r>
            <a:r>
              <a:rPr lang="pt-BR" sz="2000" dirty="0" smtClean="0"/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52019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924944"/>
            <a:ext cx="3430117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Dijkstra</a:t>
            </a:r>
          </a:p>
          <a:p>
            <a:r>
              <a:rPr lang="pt-BR" sz="2400" dirty="0" smtClean="0"/>
              <a:t>Implementação em C++</a:t>
            </a:r>
          </a:p>
        </p:txBody>
      </p:sp>
      <p:pic>
        <p:nvPicPr>
          <p:cNvPr id="31" name="Google Shape;8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62164" y="836712"/>
            <a:ext cx="7560840" cy="5040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785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le:Halin graph.svg - Wikimedia Commons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247">
            <a:off x="1701924" y="1124744"/>
            <a:ext cx="561875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6000" b="1" dirty="0"/>
              <a:t>Algoritmo de Floyd-</a:t>
            </a:r>
            <a:r>
              <a:rPr lang="pt-BR" sz="6000" b="1" dirty="0" err="1"/>
              <a:t>Warshall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909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36104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endParaRPr lang="pt-BR" sz="3600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10136" y="793940"/>
            <a:ext cx="7992888" cy="1482932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>
                  <a:solidFill>
                    <a:schemeClr val="tx1"/>
                  </a:solidFill>
                </a:rPr>
                <a:t>Esse algoritmo serve para achar </a:t>
              </a:r>
              <a:r>
                <a:rPr lang="pt-BR" sz="2400" dirty="0" smtClean="0">
                  <a:solidFill>
                    <a:schemeClr val="tx1"/>
                  </a:solidFill>
                </a:rPr>
                <a:t>as menores distâncias possíveis entre TODOS os pares de vértices. </a:t>
              </a: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3610136" y="2651530"/>
            <a:ext cx="8173832" cy="1482932"/>
            <a:chOff x="3609071" y="2564904"/>
            <a:chExt cx="8173832" cy="2376264"/>
          </a:xfrm>
        </p:grpSpPr>
        <p:sp>
          <p:nvSpPr>
            <p:cNvPr id="7" name="Retângulo 6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Ele roda em O(n³), ou seja, é inferior a rodar Dijkstra n vezes (O(n²logn)), mas é mais </a:t>
              </a:r>
              <a:r>
                <a:rPr lang="pt-BR" sz="2400" dirty="0" smtClean="0">
                  <a:solidFill>
                    <a:schemeClr val="accent5"/>
                  </a:solidFill>
                </a:rPr>
                <a:t>fácil e rápido de </a:t>
              </a:r>
              <a:r>
                <a:rPr lang="pt-BR" sz="2400" dirty="0" err="1" smtClean="0">
                  <a:solidFill>
                    <a:schemeClr val="accent5"/>
                  </a:solidFill>
                </a:rPr>
                <a:t>codar</a:t>
              </a:r>
              <a:r>
                <a:rPr lang="pt-BR" sz="2400" dirty="0" smtClean="0">
                  <a:solidFill>
                    <a:schemeClr val="accent5"/>
                  </a:solidFill>
                </a:rPr>
                <a:t>.</a:t>
              </a:r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3790015" y="2782965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3598751" y="4509120"/>
            <a:ext cx="7992888" cy="1482932"/>
            <a:chOff x="3609071" y="2564904"/>
            <a:chExt cx="7992888" cy="2376264"/>
          </a:xfrm>
        </p:grpSpPr>
        <p:sp>
          <p:nvSpPr>
            <p:cNvPr id="10" name="Retângulo 9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A implementação dele é mais rápida com uma matriz de adjacência.</a:t>
              </a:r>
            </a:p>
          </p:txBody>
        </p:sp>
        <p:sp>
          <p:nvSpPr>
            <p:cNvPr id="11" name="CaixaDeTexto 10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5697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36104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endParaRPr lang="pt-BR" sz="3600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10136" y="793940"/>
            <a:ext cx="7992888" cy="1482932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O algoritmo de Floyd-</a:t>
              </a:r>
              <a:r>
                <a:rPr lang="pt-BR" sz="2400" dirty="0" err="1" smtClean="0">
                  <a:solidFill>
                    <a:schemeClr val="tx1"/>
                  </a:solidFill>
                </a:rPr>
                <a:t>Warshall</a:t>
              </a:r>
              <a:r>
                <a:rPr lang="pt-BR" sz="2400" dirty="0" smtClean="0">
                  <a:solidFill>
                    <a:schemeClr val="tx1"/>
                  </a:solidFill>
                </a:rPr>
                <a:t> retorna a </a:t>
              </a:r>
              <a:r>
                <a:rPr lang="pt-BR" sz="2400" dirty="0" smtClean="0">
                  <a:solidFill>
                    <a:schemeClr val="accent5"/>
                  </a:solidFill>
                </a:rPr>
                <a:t>matriz de caminhos mínimos</a:t>
              </a:r>
              <a:r>
                <a:rPr lang="pt-BR" sz="2400" dirty="0" smtClean="0">
                  <a:solidFill>
                    <a:schemeClr val="tx1"/>
                  </a:solidFill>
                </a:rPr>
                <a:t> para o grafo.</a:t>
              </a: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3598751" y="4509120"/>
            <a:ext cx="7992888" cy="1482932"/>
            <a:chOff x="3609071" y="2564904"/>
            <a:chExt cx="7992888" cy="2376264"/>
          </a:xfrm>
        </p:grpSpPr>
        <p:sp>
          <p:nvSpPr>
            <p:cNvPr id="10" name="Retângulo 9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A rota completa não é exibida.</a:t>
              </a:r>
            </a:p>
          </p:txBody>
        </p:sp>
        <p:sp>
          <p:nvSpPr>
            <p:cNvPr id="11" name="CaixaDeTexto 10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3610136" y="2651530"/>
            <a:ext cx="7992888" cy="1482932"/>
            <a:chOff x="3609071" y="2564904"/>
            <a:chExt cx="7992888" cy="2376264"/>
          </a:xfrm>
        </p:grpSpPr>
        <p:sp>
          <p:nvSpPr>
            <p:cNvPr id="13" name="Retângulo 12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O algoritmo aceita arestas com pesos negativos.</a:t>
              </a: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886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669450"/>
            <a:ext cx="3430117" cy="2767662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Reflexão sobre Grafos com pesos negativos</a:t>
            </a:r>
            <a:endParaRPr lang="pt-BR" sz="36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3473656" y="764704"/>
            <a:ext cx="70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Problema: Qual o caminho mais curto entre A e B?</a:t>
            </a:r>
            <a:endParaRPr lang="pt-BR" sz="2400" dirty="0"/>
          </a:p>
        </p:txBody>
      </p:sp>
      <p:grpSp>
        <p:nvGrpSpPr>
          <p:cNvPr id="8" name="Grupo 7"/>
          <p:cNvGrpSpPr/>
          <p:nvPr/>
        </p:nvGrpSpPr>
        <p:grpSpPr>
          <a:xfrm>
            <a:off x="6094412" y="1484784"/>
            <a:ext cx="2460581" cy="1146935"/>
            <a:chOff x="261764" y="4720001"/>
            <a:chExt cx="2460581" cy="1146935"/>
          </a:xfrm>
        </p:grpSpPr>
        <p:sp>
          <p:nvSpPr>
            <p:cNvPr id="7" name="Elipse 6"/>
            <p:cNvSpPr/>
            <p:nvPr/>
          </p:nvSpPr>
          <p:spPr>
            <a:xfrm>
              <a:off x="261764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15" name="Elipse 14"/>
            <p:cNvSpPr/>
            <p:nvPr/>
          </p:nvSpPr>
          <p:spPr>
            <a:xfrm>
              <a:off x="1930257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cxnSp>
          <p:nvCxnSpPr>
            <p:cNvPr id="16" name="Conector de seta reta 15"/>
            <p:cNvCxnSpPr>
              <a:stCxn id="7" idx="7"/>
              <a:endCxn id="15" idx="1"/>
            </p:cNvCxnSpPr>
            <p:nvPr/>
          </p:nvCxnSpPr>
          <p:spPr>
            <a:xfrm>
              <a:off x="937853" y="5016384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15" idx="3"/>
              <a:endCxn id="7" idx="5"/>
            </p:cNvCxnSpPr>
            <p:nvPr/>
          </p:nvCxnSpPr>
          <p:spPr>
            <a:xfrm flipH="1">
              <a:off x="937853" y="5555802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1224925" y="4720001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-4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254168" y="5497604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</p:grpSp>
      <p:sp>
        <p:nvSpPr>
          <p:cNvPr id="18" name="CaixaDeTexto 17"/>
          <p:cNvSpPr txBox="1"/>
          <p:nvPr/>
        </p:nvSpPr>
        <p:spPr>
          <a:xfrm>
            <a:off x="3574132" y="3068960"/>
            <a:ext cx="498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 -&gt; B : -4</a:t>
            </a:r>
          </a:p>
        </p:txBody>
      </p:sp>
    </p:spTree>
    <p:extLst>
      <p:ext uri="{BB962C8B-B14F-4D97-AF65-F5344CB8AC3E}">
        <p14:creationId xmlns:p14="http://schemas.microsoft.com/office/powerpoint/2010/main" val="169173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3473656" y="764704"/>
            <a:ext cx="70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Problema: Qual o caminho mais curto entre A e B?</a:t>
            </a:r>
            <a:endParaRPr lang="pt-BR" sz="2400" dirty="0"/>
          </a:p>
        </p:txBody>
      </p:sp>
      <p:grpSp>
        <p:nvGrpSpPr>
          <p:cNvPr id="8" name="Grupo 7"/>
          <p:cNvGrpSpPr/>
          <p:nvPr/>
        </p:nvGrpSpPr>
        <p:grpSpPr>
          <a:xfrm>
            <a:off x="6094412" y="1484784"/>
            <a:ext cx="2460581" cy="1146935"/>
            <a:chOff x="261764" y="4720001"/>
            <a:chExt cx="2460581" cy="1146935"/>
          </a:xfrm>
        </p:grpSpPr>
        <p:sp>
          <p:nvSpPr>
            <p:cNvPr id="7" name="Elipse 6"/>
            <p:cNvSpPr/>
            <p:nvPr/>
          </p:nvSpPr>
          <p:spPr>
            <a:xfrm>
              <a:off x="261764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15" name="Elipse 14"/>
            <p:cNvSpPr/>
            <p:nvPr/>
          </p:nvSpPr>
          <p:spPr>
            <a:xfrm>
              <a:off x="1930257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cxnSp>
          <p:nvCxnSpPr>
            <p:cNvPr id="16" name="Conector de seta reta 15"/>
            <p:cNvCxnSpPr>
              <a:stCxn id="7" idx="7"/>
              <a:endCxn id="15" idx="1"/>
            </p:cNvCxnSpPr>
            <p:nvPr/>
          </p:nvCxnSpPr>
          <p:spPr>
            <a:xfrm>
              <a:off x="937853" y="5016384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15" idx="3"/>
              <a:endCxn id="7" idx="5"/>
            </p:cNvCxnSpPr>
            <p:nvPr/>
          </p:nvCxnSpPr>
          <p:spPr>
            <a:xfrm flipH="1">
              <a:off x="937853" y="5555802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1224925" y="4720001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-4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254168" y="5497604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</p:grpSp>
      <p:sp>
        <p:nvSpPr>
          <p:cNvPr id="18" name="CaixaDeTexto 17"/>
          <p:cNvSpPr txBox="1"/>
          <p:nvPr/>
        </p:nvSpPr>
        <p:spPr>
          <a:xfrm>
            <a:off x="3574132" y="3068960"/>
            <a:ext cx="4980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 -&gt; B : -4</a:t>
            </a:r>
          </a:p>
          <a:p>
            <a:r>
              <a:rPr lang="pt-BR" dirty="0" smtClean="0">
                <a:solidFill>
                  <a:schemeClr val="accent5"/>
                </a:solidFill>
              </a:rPr>
              <a:t>A -&gt; B -&gt; A -&gt; B: -6</a:t>
            </a:r>
          </a:p>
        </p:txBody>
      </p:sp>
      <p:sp>
        <p:nvSpPr>
          <p:cNvPr id="13" name="Título 1"/>
          <p:cNvSpPr txBox="1">
            <a:spLocks/>
          </p:cNvSpPr>
          <p:nvPr/>
        </p:nvSpPr>
        <p:spPr>
          <a:xfrm>
            <a:off x="0" y="1669450"/>
            <a:ext cx="3430117" cy="27676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mtClean="0"/>
              <a:t>Reflexão sobre Grafos com pesos negativos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23498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3473656" y="764704"/>
            <a:ext cx="70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Problema: Qual o caminho mais curto entre A e B?</a:t>
            </a:r>
            <a:endParaRPr lang="pt-BR" sz="2400" dirty="0"/>
          </a:p>
        </p:txBody>
      </p:sp>
      <p:grpSp>
        <p:nvGrpSpPr>
          <p:cNvPr id="8" name="Grupo 7"/>
          <p:cNvGrpSpPr/>
          <p:nvPr/>
        </p:nvGrpSpPr>
        <p:grpSpPr>
          <a:xfrm>
            <a:off x="6094412" y="1484784"/>
            <a:ext cx="2460581" cy="1146935"/>
            <a:chOff x="261764" y="4720001"/>
            <a:chExt cx="2460581" cy="1146935"/>
          </a:xfrm>
        </p:grpSpPr>
        <p:sp>
          <p:nvSpPr>
            <p:cNvPr id="7" name="Elipse 6"/>
            <p:cNvSpPr/>
            <p:nvPr/>
          </p:nvSpPr>
          <p:spPr>
            <a:xfrm>
              <a:off x="261764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15" name="Elipse 14"/>
            <p:cNvSpPr/>
            <p:nvPr/>
          </p:nvSpPr>
          <p:spPr>
            <a:xfrm>
              <a:off x="1930257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cxnSp>
          <p:nvCxnSpPr>
            <p:cNvPr id="16" name="Conector de seta reta 15"/>
            <p:cNvCxnSpPr>
              <a:stCxn id="7" idx="7"/>
              <a:endCxn id="15" idx="1"/>
            </p:cNvCxnSpPr>
            <p:nvPr/>
          </p:nvCxnSpPr>
          <p:spPr>
            <a:xfrm>
              <a:off x="937853" y="5016384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15" idx="3"/>
              <a:endCxn id="7" idx="5"/>
            </p:cNvCxnSpPr>
            <p:nvPr/>
          </p:nvCxnSpPr>
          <p:spPr>
            <a:xfrm flipH="1">
              <a:off x="937853" y="5555802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1224925" y="4720001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-4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254168" y="5497604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</p:grpSp>
      <p:sp>
        <p:nvSpPr>
          <p:cNvPr id="18" name="CaixaDeTexto 17"/>
          <p:cNvSpPr txBox="1"/>
          <p:nvPr/>
        </p:nvSpPr>
        <p:spPr>
          <a:xfrm>
            <a:off x="3574132" y="3068960"/>
            <a:ext cx="4980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 -&gt; B : -4</a:t>
            </a:r>
          </a:p>
          <a:p>
            <a:r>
              <a:rPr lang="pt-BR" dirty="0" smtClean="0"/>
              <a:t>A -&gt; B -&gt; A -&gt; B: -6</a:t>
            </a:r>
          </a:p>
          <a:p>
            <a:r>
              <a:rPr lang="pt-BR" dirty="0" smtClean="0">
                <a:solidFill>
                  <a:schemeClr val="accent5"/>
                </a:solidFill>
              </a:rPr>
              <a:t>A -&gt; B -&gt; A -&gt; B -&gt; A -&gt; B: -8</a:t>
            </a:r>
            <a:endParaRPr lang="pt-BR" dirty="0">
              <a:solidFill>
                <a:schemeClr val="accent5"/>
              </a:solidFill>
            </a:endParaRPr>
          </a:p>
        </p:txBody>
      </p:sp>
      <p:sp>
        <p:nvSpPr>
          <p:cNvPr id="13" name="Título 1"/>
          <p:cNvSpPr>
            <a:spLocks noGrp="1"/>
          </p:cNvSpPr>
          <p:nvPr>
            <p:ph type="title"/>
          </p:nvPr>
        </p:nvSpPr>
        <p:spPr>
          <a:xfrm>
            <a:off x="0" y="1669450"/>
            <a:ext cx="3430117" cy="2767662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Reflexão sobre Grafos com pesos negativos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225054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3473656" y="764704"/>
            <a:ext cx="70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Problema: Qual o caminho mais curto entre A e B?</a:t>
            </a:r>
            <a:endParaRPr lang="pt-BR" sz="2400" dirty="0"/>
          </a:p>
        </p:txBody>
      </p:sp>
      <p:grpSp>
        <p:nvGrpSpPr>
          <p:cNvPr id="8" name="Grupo 7"/>
          <p:cNvGrpSpPr/>
          <p:nvPr/>
        </p:nvGrpSpPr>
        <p:grpSpPr>
          <a:xfrm>
            <a:off x="6094412" y="1484784"/>
            <a:ext cx="2460581" cy="1146935"/>
            <a:chOff x="261764" y="4720001"/>
            <a:chExt cx="2460581" cy="1146935"/>
          </a:xfrm>
        </p:grpSpPr>
        <p:sp>
          <p:nvSpPr>
            <p:cNvPr id="7" name="Elipse 6"/>
            <p:cNvSpPr/>
            <p:nvPr/>
          </p:nvSpPr>
          <p:spPr>
            <a:xfrm>
              <a:off x="261764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15" name="Elipse 14"/>
            <p:cNvSpPr/>
            <p:nvPr/>
          </p:nvSpPr>
          <p:spPr>
            <a:xfrm>
              <a:off x="1930257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cxnSp>
          <p:nvCxnSpPr>
            <p:cNvPr id="16" name="Conector de seta reta 15"/>
            <p:cNvCxnSpPr>
              <a:stCxn id="7" idx="7"/>
              <a:endCxn id="15" idx="1"/>
            </p:cNvCxnSpPr>
            <p:nvPr/>
          </p:nvCxnSpPr>
          <p:spPr>
            <a:xfrm>
              <a:off x="937853" y="5016384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15" idx="3"/>
              <a:endCxn id="7" idx="5"/>
            </p:cNvCxnSpPr>
            <p:nvPr/>
          </p:nvCxnSpPr>
          <p:spPr>
            <a:xfrm flipH="1">
              <a:off x="937853" y="5555802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1224925" y="4720001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-4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254168" y="5497604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</p:grpSp>
      <p:sp>
        <p:nvSpPr>
          <p:cNvPr id="18" name="CaixaDeTexto 17"/>
          <p:cNvSpPr txBox="1"/>
          <p:nvPr/>
        </p:nvSpPr>
        <p:spPr>
          <a:xfrm>
            <a:off x="3574132" y="3068960"/>
            <a:ext cx="4980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 -&gt; B : -4</a:t>
            </a:r>
          </a:p>
          <a:p>
            <a:r>
              <a:rPr lang="pt-BR" dirty="0" smtClean="0"/>
              <a:t>A -&gt; B -&gt; A -&gt; B: -6</a:t>
            </a:r>
          </a:p>
          <a:p>
            <a:r>
              <a:rPr lang="pt-BR" dirty="0" smtClean="0"/>
              <a:t>A -&gt; B -&gt; A -&gt; B -&gt; A -&gt; B: -8</a:t>
            </a:r>
          </a:p>
          <a:p>
            <a:r>
              <a:rPr lang="pt-BR" dirty="0" smtClean="0">
                <a:solidFill>
                  <a:schemeClr val="accent5"/>
                </a:solidFill>
              </a:rPr>
              <a:t>(...)</a:t>
            </a:r>
            <a:endParaRPr lang="pt-BR" dirty="0">
              <a:solidFill>
                <a:schemeClr val="accent5"/>
              </a:solidFill>
            </a:endParaRPr>
          </a:p>
        </p:txBody>
      </p:sp>
      <p:sp>
        <p:nvSpPr>
          <p:cNvPr id="13" name="Título 1"/>
          <p:cNvSpPr>
            <a:spLocks noGrp="1"/>
          </p:cNvSpPr>
          <p:nvPr>
            <p:ph type="title"/>
          </p:nvPr>
        </p:nvSpPr>
        <p:spPr>
          <a:xfrm>
            <a:off x="0" y="1669450"/>
            <a:ext cx="3430117" cy="2767662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Reflexão sobre Grafos com pesos negativos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269479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3473656" y="764704"/>
            <a:ext cx="70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Problema: Qual o caminho mais curto entre A e B?</a:t>
            </a:r>
            <a:endParaRPr lang="pt-BR" sz="2400" dirty="0"/>
          </a:p>
        </p:txBody>
      </p:sp>
      <p:grpSp>
        <p:nvGrpSpPr>
          <p:cNvPr id="8" name="Grupo 7"/>
          <p:cNvGrpSpPr/>
          <p:nvPr/>
        </p:nvGrpSpPr>
        <p:grpSpPr>
          <a:xfrm>
            <a:off x="6094412" y="1484784"/>
            <a:ext cx="2460581" cy="1146935"/>
            <a:chOff x="261764" y="4720001"/>
            <a:chExt cx="2460581" cy="1146935"/>
          </a:xfrm>
        </p:grpSpPr>
        <p:sp>
          <p:nvSpPr>
            <p:cNvPr id="7" name="Elipse 6"/>
            <p:cNvSpPr/>
            <p:nvPr/>
          </p:nvSpPr>
          <p:spPr>
            <a:xfrm>
              <a:off x="261764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15" name="Elipse 14"/>
            <p:cNvSpPr/>
            <p:nvPr/>
          </p:nvSpPr>
          <p:spPr>
            <a:xfrm>
              <a:off x="1930257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cxnSp>
          <p:nvCxnSpPr>
            <p:cNvPr id="16" name="Conector de seta reta 15"/>
            <p:cNvCxnSpPr>
              <a:stCxn id="7" idx="7"/>
              <a:endCxn id="15" idx="1"/>
            </p:cNvCxnSpPr>
            <p:nvPr/>
          </p:nvCxnSpPr>
          <p:spPr>
            <a:xfrm>
              <a:off x="937853" y="5016384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15" idx="3"/>
              <a:endCxn id="7" idx="5"/>
            </p:cNvCxnSpPr>
            <p:nvPr/>
          </p:nvCxnSpPr>
          <p:spPr>
            <a:xfrm flipH="1">
              <a:off x="937853" y="5555802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1224925" y="4720001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-4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254168" y="5497604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</p:grpSp>
      <p:sp>
        <p:nvSpPr>
          <p:cNvPr id="18" name="CaixaDeTexto 17"/>
          <p:cNvSpPr txBox="1"/>
          <p:nvPr/>
        </p:nvSpPr>
        <p:spPr>
          <a:xfrm>
            <a:off x="3574132" y="3068960"/>
            <a:ext cx="4980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 -&gt; B : -4</a:t>
            </a:r>
          </a:p>
          <a:p>
            <a:r>
              <a:rPr lang="pt-BR" dirty="0" smtClean="0"/>
              <a:t>A -&gt; B -&gt; A -&gt; B: -6</a:t>
            </a:r>
          </a:p>
          <a:p>
            <a:r>
              <a:rPr lang="pt-BR" dirty="0" smtClean="0"/>
              <a:t>A -&gt; B -&gt; A -&gt; B -&gt; A -&gt; B: -8</a:t>
            </a:r>
          </a:p>
          <a:p>
            <a:r>
              <a:rPr lang="pt-BR" dirty="0" smtClean="0">
                <a:solidFill>
                  <a:schemeClr val="accent5"/>
                </a:solidFill>
              </a:rPr>
              <a:t>(...)</a:t>
            </a:r>
            <a:endParaRPr lang="pt-BR" dirty="0">
              <a:solidFill>
                <a:schemeClr val="accent5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574132" y="4475697"/>
            <a:ext cx="7085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Problema: Qual o caminho mais curto entre A e B?</a:t>
            </a:r>
          </a:p>
          <a:p>
            <a:r>
              <a:rPr lang="pt-BR" sz="2400" dirty="0" smtClean="0">
                <a:solidFill>
                  <a:schemeClr val="accent2"/>
                </a:solidFill>
              </a:rPr>
              <a:t>Resposta: Indefinido!</a:t>
            </a:r>
            <a:endParaRPr lang="pt-BR" sz="2400" dirty="0">
              <a:solidFill>
                <a:schemeClr val="accent2"/>
              </a:solidFill>
            </a:endParaRP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0" y="1669450"/>
            <a:ext cx="3430117" cy="27676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mtClean="0"/>
              <a:t>Reflexão sobre Grafos com pesos negativos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54175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3473656" y="764704"/>
            <a:ext cx="70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Problema: Qual o caminho mais curto entre A e B?</a:t>
            </a:r>
            <a:endParaRPr lang="pt-BR" sz="2400" dirty="0"/>
          </a:p>
        </p:txBody>
      </p:sp>
      <p:grpSp>
        <p:nvGrpSpPr>
          <p:cNvPr id="8" name="Grupo 7"/>
          <p:cNvGrpSpPr/>
          <p:nvPr/>
        </p:nvGrpSpPr>
        <p:grpSpPr>
          <a:xfrm>
            <a:off x="6094412" y="1484784"/>
            <a:ext cx="2460581" cy="1146935"/>
            <a:chOff x="261764" y="4720001"/>
            <a:chExt cx="2460581" cy="1146935"/>
          </a:xfrm>
        </p:grpSpPr>
        <p:sp>
          <p:nvSpPr>
            <p:cNvPr id="7" name="Elipse 6"/>
            <p:cNvSpPr/>
            <p:nvPr/>
          </p:nvSpPr>
          <p:spPr>
            <a:xfrm>
              <a:off x="261764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15" name="Elipse 14"/>
            <p:cNvSpPr/>
            <p:nvPr/>
          </p:nvSpPr>
          <p:spPr>
            <a:xfrm>
              <a:off x="1930257" y="4904667"/>
              <a:ext cx="792088" cy="76285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cxnSp>
          <p:nvCxnSpPr>
            <p:cNvPr id="16" name="Conector de seta reta 15"/>
            <p:cNvCxnSpPr>
              <a:stCxn id="7" idx="7"/>
              <a:endCxn id="15" idx="1"/>
            </p:cNvCxnSpPr>
            <p:nvPr/>
          </p:nvCxnSpPr>
          <p:spPr>
            <a:xfrm>
              <a:off x="937853" y="5016384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15" idx="3"/>
              <a:endCxn id="7" idx="5"/>
            </p:cNvCxnSpPr>
            <p:nvPr/>
          </p:nvCxnSpPr>
          <p:spPr>
            <a:xfrm flipH="1">
              <a:off x="937853" y="5555802"/>
              <a:ext cx="1108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1224925" y="4720001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-4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254168" y="5497604"/>
              <a:ext cx="588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</p:grpSp>
      <p:sp>
        <p:nvSpPr>
          <p:cNvPr id="18" name="CaixaDeTexto 17"/>
          <p:cNvSpPr txBox="1"/>
          <p:nvPr/>
        </p:nvSpPr>
        <p:spPr>
          <a:xfrm>
            <a:off x="3574132" y="3068960"/>
            <a:ext cx="4980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 -&gt; B : -4</a:t>
            </a:r>
          </a:p>
          <a:p>
            <a:r>
              <a:rPr lang="pt-BR" dirty="0" smtClean="0"/>
              <a:t>A -&gt; B -&gt; A -&gt; B: -6</a:t>
            </a:r>
          </a:p>
          <a:p>
            <a:r>
              <a:rPr lang="pt-BR" dirty="0" smtClean="0"/>
              <a:t>A -&gt; B -&gt; A -&gt; B -&gt; A -&gt; B: -8</a:t>
            </a:r>
          </a:p>
          <a:p>
            <a:r>
              <a:rPr lang="pt-BR" dirty="0" smtClean="0">
                <a:solidFill>
                  <a:schemeClr val="accent5"/>
                </a:solidFill>
              </a:rPr>
              <a:t>(...)</a:t>
            </a:r>
            <a:endParaRPr lang="pt-BR" dirty="0">
              <a:solidFill>
                <a:schemeClr val="accent5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574132" y="4475697"/>
            <a:ext cx="7085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Problema: Qual o caminho mais curto entre A e B?</a:t>
            </a:r>
          </a:p>
          <a:p>
            <a:r>
              <a:rPr lang="pt-BR" sz="2400" dirty="0" smtClean="0">
                <a:solidFill>
                  <a:schemeClr val="accent2"/>
                </a:solidFill>
              </a:rPr>
              <a:t>Resposta: Indefinido!</a:t>
            </a:r>
            <a:endParaRPr lang="pt-BR" sz="2400" dirty="0">
              <a:solidFill>
                <a:schemeClr val="accent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790156" y="5805264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accent2"/>
                </a:solidFill>
              </a:rPr>
              <a:t>Quando trabalhar com grafos com pesos negativos, falar de caminho mínimo só faz sentido se não há loops negativos.</a:t>
            </a:r>
            <a:endParaRPr lang="pt-BR" sz="2000" dirty="0">
              <a:solidFill>
                <a:schemeClr val="accent2"/>
              </a:solidFill>
            </a:endParaRPr>
          </a:p>
        </p:txBody>
      </p:sp>
      <p:sp>
        <p:nvSpPr>
          <p:cNvPr id="19" name="Título 1"/>
          <p:cNvSpPr txBox="1">
            <a:spLocks/>
          </p:cNvSpPr>
          <p:nvPr/>
        </p:nvSpPr>
        <p:spPr>
          <a:xfrm>
            <a:off x="0" y="1669450"/>
            <a:ext cx="3430117" cy="27676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mtClean="0"/>
              <a:t>Reflexão sobre Grafos com pesos negativos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61108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06627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48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39469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70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01098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6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21580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55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06088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74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65780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INF + 4 &lt; 0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318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25670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INF + INF &lt; INF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119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660218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INF + INF &lt; -1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14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026094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(-2) + 4 &lt; 3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885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00632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(-2) + 4 &lt; 3 ?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8182644" y="14220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Então substituímos.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850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767416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(-2) + INF &lt; 0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219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12592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(-2) + INF &lt; INF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500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12592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(-2) + INF &lt; INF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657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871771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37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3143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59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869238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08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985594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99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407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32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1882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01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62088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03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91010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77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74007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35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884494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95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5054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-1 + 4 &lt; INF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204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02938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pt-BR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-1 + 4 &lt; INF ?</a:t>
            </a:r>
            <a:endParaRPr lang="pt-BR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8182644" y="14220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Então substituímos.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285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721715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-1 + 2 &lt; INF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276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137520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-1 + 2 &lt; INF ?</a:t>
            </a:r>
            <a:endParaRPr lang="pt-BR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8182644" y="14220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Então substituímos.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266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745502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46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335757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92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755409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-2 + 2 &lt; INF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976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038533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-2 + 2 &lt; INF ?</a:t>
            </a:r>
            <a:endParaRPr lang="pt-BR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8182644" y="14220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Então substituímos.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162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344911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 + 2 &lt; INF 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90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84703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pt-BR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 + 2 &lt; INF ?</a:t>
            </a:r>
            <a:endParaRPr lang="pt-BR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8182644" y="14220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Então substituímos.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422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476598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8110636" y="105273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 + 2 &lt; 0?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901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68737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INF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0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875632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pt-BR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-2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5</a:t>
                      </a:r>
                      <a:endParaRPr lang="pt-BR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-1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90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64704"/>
            <a:ext cx="3430117" cy="3312368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200" b="1" dirty="0" smtClean="0"/>
              <a:t>Exemplo</a:t>
            </a:r>
            <a:endParaRPr lang="pt-BR" sz="3600" b="1" dirty="0"/>
          </a:p>
        </p:txBody>
      </p:sp>
      <p:grpSp>
        <p:nvGrpSpPr>
          <p:cNvPr id="56" name="Grupo 55"/>
          <p:cNvGrpSpPr/>
          <p:nvPr/>
        </p:nvGrpSpPr>
        <p:grpSpPr>
          <a:xfrm>
            <a:off x="3862164" y="1628800"/>
            <a:ext cx="3528392" cy="3240360"/>
            <a:chOff x="4510236" y="1484784"/>
            <a:chExt cx="3528392" cy="3240360"/>
          </a:xfrm>
        </p:grpSpPr>
        <p:sp>
          <p:nvSpPr>
            <p:cNvPr id="37" name="Elipse 36"/>
            <p:cNvSpPr/>
            <p:nvPr/>
          </p:nvSpPr>
          <p:spPr>
            <a:xfrm>
              <a:off x="4510236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pt-BR" dirty="0"/>
            </a:p>
          </p:txBody>
        </p:sp>
        <p:sp>
          <p:nvSpPr>
            <p:cNvPr id="38" name="Elipse 37"/>
            <p:cNvSpPr/>
            <p:nvPr/>
          </p:nvSpPr>
          <p:spPr>
            <a:xfrm>
              <a:off x="6886500" y="1484784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pt-BR" dirty="0"/>
            </a:p>
          </p:txBody>
        </p:sp>
        <p:sp>
          <p:nvSpPr>
            <p:cNvPr id="39" name="Elipse 38"/>
            <p:cNvSpPr/>
            <p:nvPr/>
          </p:nvSpPr>
          <p:spPr>
            <a:xfrm>
              <a:off x="4510236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pt-BR" dirty="0"/>
            </a:p>
          </p:txBody>
        </p:sp>
        <p:sp>
          <p:nvSpPr>
            <p:cNvPr id="40" name="Elipse 39"/>
            <p:cNvSpPr/>
            <p:nvPr/>
          </p:nvSpPr>
          <p:spPr>
            <a:xfrm>
              <a:off x="6886500" y="3573016"/>
              <a:ext cx="1152128" cy="11521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pt-BR" dirty="0"/>
            </a:p>
          </p:txBody>
        </p:sp>
        <p:cxnSp>
          <p:nvCxnSpPr>
            <p:cNvPr id="42" name="Conector de seta reta 41"/>
            <p:cNvCxnSpPr>
              <a:stCxn id="38" idx="4"/>
              <a:endCxn id="40" idx="0"/>
            </p:cNvCxnSpPr>
            <p:nvPr/>
          </p:nvCxnSpPr>
          <p:spPr>
            <a:xfrm>
              <a:off x="7462564" y="2636912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38" idx="2"/>
              <a:endCxn id="37" idx="6"/>
            </p:cNvCxnSpPr>
            <p:nvPr/>
          </p:nvCxnSpPr>
          <p:spPr>
            <a:xfrm flipH="1">
              <a:off x="5662364" y="2060848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39" idx="7"/>
              <a:endCxn id="38" idx="3"/>
            </p:cNvCxnSpPr>
            <p:nvPr/>
          </p:nvCxnSpPr>
          <p:spPr>
            <a:xfrm flipV="1"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>
              <a:stCxn id="37" idx="5"/>
              <a:endCxn id="40" idx="1"/>
            </p:cNvCxnSpPr>
            <p:nvPr/>
          </p:nvCxnSpPr>
          <p:spPr>
            <a:xfrm>
              <a:off x="5493639" y="2468187"/>
              <a:ext cx="1561586" cy="127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>
              <a:stCxn id="40" idx="2"/>
              <a:endCxn id="39" idx="6"/>
            </p:cNvCxnSpPr>
            <p:nvPr/>
          </p:nvCxnSpPr>
          <p:spPr>
            <a:xfrm flipH="1">
              <a:off x="5662364" y="4149080"/>
              <a:ext cx="1224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ixaDeTexto 50"/>
            <p:cNvSpPr txBox="1"/>
            <p:nvPr/>
          </p:nvSpPr>
          <p:spPr>
            <a:xfrm>
              <a:off x="6022404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4</a:t>
              </a:r>
              <a:endParaRPr lang="pt-BR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6130416" y="41870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</a:t>
              </a:r>
              <a:endParaRPr lang="pt-BR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475231" y="291813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3</a:t>
              </a:r>
              <a:endParaRPr lang="pt-BR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6742484" y="265591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-1</a:t>
              </a:r>
              <a:endParaRPr lang="pt-BR" dirty="0"/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5338328" y="258961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-2</a:t>
              </a:r>
              <a:endParaRPr lang="pt-BR" dirty="0"/>
            </a:p>
          </p:txBody>
        </p:sp>
      </p:grp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150316"/>
              </p:ext>
            </p:extLst>
          </p:nvPr>
        </p:nvGraphicFramePr>
        <p:xfrm>
          <a:off x="8110636" y="1906975"/>
          <a:ext cx="3241860" cy="252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72"/>
                <a:gridCol w="648372"/>
                <a:gridCol w="648372"/>
                <a:gridCol w="648372"/>
                <a:gridCol w="648372"/>
              </a:tblGrid>
              <a:tr h="504915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504915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68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36104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Floyd-</a:t>
            </a:r>
            <a:r>
              <a:rPr lang="pt-BR" sz="3600" b="1" dirty="0" err="1" smtClean="0"/>
              <a:t>Warshall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2800" b="1" dirty="0" smtClean="0"/>
              <a:t>Implementação</a:t>
            </a:r>
            <a:endParaRPr lang="pt-BR" sz="3600" b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180" y="1090560"/>
            <a:ext cx="6749607" cy="46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9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le:Halin graph.svg - Wikimedia Commons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247">
            <a:off x="1701924" y="1124744"/>
            <a:ext cx="561875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6000" b="1" dirty="0"/>
              <a:t>Algoritmo de </a:t>
            </a:r>
            <a:r>
              <a:rPr lang="pt-BR" sz="6000" b="1" dirty="0" err="1"/>
              <a:t>Bellman</a:t>
            </a:r>
            <a:r>
              <a:rPr lang="pt-BR" sz="6000" b="1" dirty="0"/>
              <a:t>-Ford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8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36104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</a:t>
            </a:r>
            <a:r>
              <a:rPr lang="pt-BR" sz="3600" b="1" dirty="0" err="1" smtClean="0"/>
              <a:t>Bellman</a:t>
            </a:r>
            <a:r>
              <a:rPr lang="pt-BR" sz="3600" b="1" dirty="0" smtClean="0"/>
              <a:t>-Ford</a:t>
            </a:r>
            <a:endParaRPr lang="pt-BR" sz="3600" b="1" dirty="0"/>
          </a:p>
        </p:txBody>
      </p:sp>
      <p:grpSp>
        <p:nvGrpSpPr>
          <p:cNvPr id="4" name="Grupo 3"/>
          <p:cNvGrpSpPr/>
          <p:nvPr/>
        </p:nvGrpSpPr>
        <p:grpSpPr>
          <a:xfrm>
            <a:off x="3610136" y="793940"/>
            <a:ext cx="7992888" cy="1482932"/>
            <a:chOff x="3609071" y="2564904"/>
            <a:chExt cx="7992888" cy="2376264"/>
          </a:xfrm>
        </p:grpSpPr>
        <p:sp>
          <p:nvSpPr>
            <p:cNvPr id="5" name="Retângulo 4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É um algoritmo de busca de caminho mínimo em um dígrafo ponderado, </a:t>
              </a:r>
              <a:r>
                <a:rPr lang="pt-BR" sz="2400" dirty="0" smtClean="0">
                  <a:solidFill>
                    <a:schemeClr val="accent2"/>
                  </a:solidFill>
                </a:rPr>
                <a:t>podendo ter arestas negativas</a:t>
              </a:r>
              <a:r>
                <a:rPr lang="pt-BR" sz="24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586515" y="2651530"/>
            <a:ext cx="7992888" cy="1482932"/>
            <a:chOff x="3609071" y="2564904"/>
            <a:chExt cx="7992888" cy="2376264"/>
          </a:xfrm>
        </p:grpSpPr>
        <p:sp>
          <p:nvSpPr>
            <p:cNvPr id="8" name="Retângulo 7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É menos eficiente que o Dijkstra, então só utilizamos no caso em que há peso negativo.</a:t>
              </a: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3586515" y="4509120"/>
            <a:ext cx="7992888" cy="1482932"/>
            <a:chOff x="3609071" y="2564904"/>
            <a:chExt cx="7992888" cy="2376264"/>
          </a:xfrm>
        </p:grpSpPr>
        <p:sp>
          <p:nvSpPr>
            <p:cNvPr id="11" name="Retângulo 10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Utiliza a estratégia do Relaxamento, mas de uma forma um pouco diferente que o Dijkstra.</a:t>
              </a: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6458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36104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</a:t>
            </a:r>
            <a:r>
              <a:rPr lang="pt-BR" sz="3600" b="1" dirty="0" err="1" smtClean="0"/>
              <a:t>Bellman</a:t>
            </a:r>
            <a:r>
              <a:rPr lang="pt-BR" sz="3600" b="1" dirty="0" smtClean="0"/>
              <a:t>-Ford</a:t>
            </a:r>
            <a:endParaRPr lang="pt-BR" sz="3600" b="1" dirty="0"/>
          </a:p>
        </p:txBody>
      </p:sp>
      <p:grpSp>
        <p:nvGrpSpPr>
          <p:cNvPr id="4" name="Grupo 3"/>
          <p:cNvGrpSpPr/>
          <p:nvPr/>
        </p:nvGrpSpPr>
        <p:grpSpPr>
          <a:xfrm>
            <a:off x="3610136" y="793940"/>
            <a:ext cx="7992888" cy="1482932"/>
            <a:chOff x="3609071" y="2564904"/>
            <a:chExt cx="7992888" cy="2376264"/>
          </a:xfrm>
        </p:grpSpPr>
        <p:sp>
          <p:nvSpPr>
            <p:cNvPr id="5" name="Retângulo 4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2400" dirty="0" smtClean="0">
                  <a:solidFill>
                    <a:schemeClr val="tx1"/>
                  </a:solidFill>
                </a:rPr>
                <a:t>Pode retornar a árvore de caminhos mínimos. Então além de um vetor de distâncias (</a:t>
              </a:r>
              <a:r>
                <a:rPr lang="pt-BR" sz="2400" dirty="0" smtClean="0">
                  <a:solidFill>
                    <a:schemeClr val="accent2"/>
                  </a:solidFill>
                </a:rPr>
                <a:t>d</a:t>
              </a:r>
              <a:r>
                <a:rPr lang="pt-BR" sz="2400" dirty="0" smtClean="0">
                  <a:solidFill>
                    <a:schemeClr val="tx1"/>
                  </a:solidFill>
                </a:rPr>
                <a:t>), precisaremos de um vetor de precedentes (</a:t>
              </a:r>
              <a:r>
                <a:rPr lang="pt-BR" sz="2400" dirty="0" smtClean="0">
                  <a:solidFill>
                    <a:schemeClr val="accent2"/>
                  </a:solidFill>
                </a:rPr>
                <a:t>p</a:t>
              </a:r>
              <a:r>
                <a:rPr lang="pt-BR" sz="2400" dirty="0" smtClean="0">
                  <a:solidFill>
                    <a:schemeClr val="tx1"/>
                  </a:solidFill>
                </a:rPr>
                <a:t>).</a:t>
              </a: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3609071" y="2968206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</p:txBody>
        </p:sp>
      </p:grpSp>
      <p:sp>
        <p:nvSpPr>
          <p:cNvPr id="12" name="CaixaDeTexto 11"/>
          <p:cNvSpPr txBox="1"/>
          <p:nvPr/>
        </p:nvSpPr>
        <p:spPr>
          <a:xfrm>
            <a:off x="3610136" y="2903216"/>
            <a:ext cx="7992888" cy="288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08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36104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</a:t>
            </a:r>
            <a:r>
              <a:rPr lang="pt-BR" sz="3600" b="1" dirty="0" err="1" smtClean="0"/>
              <a:t>Bellman</a:t>
            </a:r>
            <a:r>
              <a:rPr lang="pt-BR" sz="3600" b="1" dirty="0" smtClean="0"/>
              <a:t>-Ford</a:t>
            </a:r>
            <a:endParaRPr lang="pt-BR" sz="3600" b="1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718148" y="692696"/>
            <a:ext cx="76328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Etapa de Inicialização (Vértice u é a raiz)</a:t>
            </a:r>
          </a:p>
          <a:p>
            <a:endParaRPr lang="en-US" dirty="0" smtClean="0"/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Para cada vértice i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p(i) = valor_indefinido </a:t>
            </a:r>
            <a:r>
              <a:rPr lang="pt-BR" sz="1400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(Você pode usar -1, por exemplo)</a:t>
            </a:r>
            <a:endParaRPr lang="en-US" sz="1400" i="1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d(i) </a:t>
            </a:r>
            <a:r>
              <a:rPr lang="en-US" dirty="0"/>
              <a:t>←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∞ 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d(u) </a:t>
            </a:r>
            <a:r>
              <a:rPr lang="en-US" dirty="0"/>
              <a:t>← </a:t>
            </a:r>
            <a:r>
              <a:rPr lang="en-US" dirty="0" smtClean="0"/>
              <a:t>0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Programa/Etapa de Relaxamento</a:t>
            </a:r>
          </a:p>
          <a:p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Para k de 1 até n-1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para toda aresta do grafo = (</a:t>
            </a:r>
            <a:r>
              <a:rPr lang="pt-B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u,v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) 	</a:t>
            </a:r>
            <a:r>
              <a:rPr lang="pt-BR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(flecha vai de u a v)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se d(v) &gt; d(u) + peso(</a:t>
            </a:r>
            <a:r>
              <a:rPr lang="pt-B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u,v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		d(v) </a:t>
            </a:r>
            <a:r>
              <a:rPr lang="en-US" dirty="0"/>
              <a:t>← </a:t>
            </a:r>
            <a:r>
              <a:rPr lang="en-US" dirty="0" smtClean="0"/>
              <a:t>d(u) + peso(</a:t>
            </a:r>
            <a:r>
              <a:rPr lang="en-US" dirty="0" err="1" smtClean="0"/>
              <a:t>u,v</a:t>
            </a:r>
            <a:r>
              <a:rPr lang="en-US" dirty="0" smtClean="0"/>
              <a:t>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	p(v)</a:t>
            </a:r>
            <a:r>
              <a:rPr lang="en-US" dirty="0" smtClean="0"/>
              <a:t> </a:t>
            </a:r>
            <a:r>
              <a:rPr lang="en-US" dirty="0"/>
              <a:t>← </a:t>
            </a:r>
            <a:r>
              <a:rPr lang="en-US" dirty="0" smtClean="0"/>
              <a:t>u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74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36104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Algoritmo de </a:t>
            </a:r>
            <a:r>
              <a:rPr lang="pt-BR" sz="3600" b="1" dirty="0" err="1" smtClean="0"/>
              <a:t>Bellman</a:t>
            </a:r>
            <a:r>
              <a:rPr lang="pt-BR" sz="3600" b="1" dirty="0" smtClean="0"/>
              <a:t>-Ford</a:t>
            </a:r>
            <a:br>
              <a:rPr lang="pt-BR" sz="3600" b="1" dirty="0" smtClean="0"/>
            </a:br>
            <a:r>
              <a:rPr lang="pt-BR" sz="3600" b="1" dirty="0" smtClean="0"/>
              <a:t>Exemplo</a:t>
            </a:r>
            <a:endParaRPr lang="pt-BR" sz="3600" b="1" dirty="0"/>
          </a:p>
        </p:txBody>
      </p:sp>
      <p:pic>
        <p:nvPicPr>
          <p:cNvPr id="1026" name="Picture 2" descr="Back to Basics — Divine Algorithms Vol II: Bellman-Ford Algorithm | by  Sherief Shahin | Blue Harvest Tech Blog | Medium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180" y="2276872"/>
            <a:ext cx="7115175" cy="248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21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36104"/>
          </a:xfrm>
        </p:spPr>
        <p:txBody>
          <a:bodyPr rtlCol="0">
            <a:noAutofit/>
          </a:bodyPr>
          <a:lstStyle/>
          <a:p>
            <a:r>
              <a:rPr lang="pt-BR" sz="3600" b="1" dirty="0" smtClean="0"/>
              <a:t>Exercícios</a:t>
            </a:r>
            <a:endParaRPr lang="pt-BR" sz="3600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646140" y="980728"/>
            <a:ext cx="69847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linkClick r:id="rId3"/>
              </a:rPr>
              <a:t>https://br.spoj.com/problems/DENGUE</a:t>
            </a:r>
            <a:r>
              <a:rPr lang="pt-BR" dirty="0" smtClean="0">
                <a:hlinkClick r:id="rId3"/>
              </a:rPr>
              <a:t>/</a:t>
            </a:r>
            <a:endParaRPr lang="pt-BR" dirty="0" smtClean="0"/>
          </a:p>
          <a:p>
            <a:endParaRPr lang="pt-BR" dirty="0"/>
          </a:p>
          <a:p>
            <a:r>
              <a:rPr lang="pt-BR" dirty="0">
                <a:hlinkClick r:id="rId4"/>
              </a:rPr>
              <a:t>https://br.spoj.com/problems/DESVIO</a:t>
            </a:r>
            <a:r>
              <a:rPr lang="pt-BR" dirty="0" smtClean="0">
                <a:hlinkClick r:id="rId4"/>
              </a:rPr>
              <a:t>/</a:t>
            </a:r>
            <a:endParaRPr lang="pt-BR" dirty="0" smtClean="0"/>
          </a:p>
          <a:p>
            <a:endParaRPr lang="pt-BR" dirty="0"/>
          </a:p>
          <a:p>
            <a:r>
              <a:rPr lang="pt-BR" dirty="0">
                <a:hlinkClick r:id="rId5"/>
              </a:rPr>
              <a:t>https://br.spoj.com/problems/PONTES09</a:t>
            </a:r>
            <a:r>
              <a:rPr lang="pt-BR" dirty="0" smtClean="0">
                <a:hlinkClick r:id="rId5"/>
              </a:rPr>
              <a:t>/</a:t>
            </a:r>
            <a:endParaRPr lang="pt-BR" dirty="0" smtClean="0"/>
          </a:p>
          <a:p>
            <a:endParaRPr lang="pt-BR" dirty="0"/>
          </a:p>
          <a:p>
            <a:r>
              <a:rPr lang="pt-BR" dirty="0">
                <a:hlinkClick r:id="rId6"/>
              </a:rPr>
              <a:t>https://br.spoj.com/problems/MINIMO</a:t>
            </a:r>
            <a:r>
              <a:rPr lang="pt-BR" dirty="0" smtClean="0">
                <a:hlinkClick r:id="rId6"/>
              </a:rPr>
              <a:t>/</a:t>
            </a:r>
            <a:endParaRPr lang="pt-BR" dirty="0" smtClean="0"/>
          </a:p>
          <a:p>
            <a:endParaRPr lang="pt-BR" dirty="0"/>
          </a:p>
          <a:p>
            <a:r>
              <a:rPr lang="pt-BR" dirty="0"/>
              <a:t>https://olimpiada.ic.unicamp.br/pratique/p1/2013/f1/robo/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22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Dúvidas?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 smtClean="0"/>
              <a:t>Wpp</a:t>
            </a:r>
            <a:r>
              <a:rPr lang="pt-BR" dirty="0" smtClean="0"/>
              <a:t>: (12) 99743-5808</a:t>
            </a:r>
          </a:p>
        </p:txBody>
      </p:sp>
    </p:spTree>
    <p:extLst>
      <p:ext uri="{BB962C8B-B14F-4D97-AF65-F5344CB8AC3E}">
        <p14:creationId xmlns:p14="http://schemas.microsoft.com/office/powerpoint/2010/main" val="199988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uadro">
  <a:themeElements>
    <a:clrScheme name="Personalizada 6">
      <a:dk1>
        <a:sysClr val="windowText" lastClr="000000"/>
      </a:dk1>
      <a:lt1>
        <a:sysClr val="window" lastClr="FFFFFF"/>
      </a:lt1>
      <a:dk2>
        <a:srgbClr val="4A3F38"/>
      </a:dk2>
      <a:lt2>
        <a:srgbClr val="FFFFFF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adr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ppt/theme/theme2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TM03457475[[fn=Quadro]]</Template>
  <TotalTime>1866</TotalTime>
  <Words>5196</Words>
  <Application>Microsoft Office PowerPoint</Application>
  <PresentationFormat>Personalizar</PresentationFormat>
  <Paragraphs>2737</Paragraphs>
  <Slides>105</Slides>
  <Notes>70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105</vt:i4>
      </vt:variant>
    </vt:vector>
  </HeadingPairs>
  <TitlesOfParts>
    <vt:vector size="109" baseType="lpstr">
      <vt:lpstr>Arial</vt:lpstr>
      <vt:lpstr>Corbel</vt:lpstr>
      <vt:lpstr>Wingdings 2</vt:lpstr>
      <vt:lpstr>Quadro</vt:lpstr>
      <vt:lpstr>   Aula 11: Algoritmos para Grafos – Parte I</vt:lpstr>
      <vt:lpstr>Ementa OBI</vt:lpstr>
      <vt:lpstr>Tópicos da Aula</vt:lpstr>
      <vt:lpstr>Relembrando</vt:lpstr>
      <vt:lpstr>Relembrando</vt:lpstr>
      <vt:lpstr>Relembrando</vt:lpstr>
      <vt:lpstr>Relembrando</vt:lpstr>
      <vt:lpstr>Relembrando</vt:lpstr>
      <vt:lpstr>Relembrando</vt:lpstr>
      <vt:lpstr>Relembrando</vt:lpstr>
      <vt:lpstr>Relembrando</vt:lpstr>
      <vt:lpstr>Relembrando</vt:lpstr>
      <vt:lpstr>Relembrando</vt:lpstr>
      <vt:lpstr>Dijkstra</vt:lpstr>
      <vt:lpstr>Dijkstra</vt:lpstr>
      <vt:lpstr>Dijkstra</vt:lpstr>
      <vt:lpstr>Dijkstra</vt:lpstr>
      <vt:lpstr>Dijkstra</vt:lpstr>
      <vt:lpstr>Dijkstra</vt:lpstr>
      <vt:lpstr>Dijkstra</vt:lpstr>
      <vt:lpstr>Dijkstra</vt:lpstr>
      <vt:lpstr>Dijkstra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Algoritmo de Floyd-Warshall</vt:lpstr>
      <vt:lpstr>Algoritmo de Floyd-Warshall</vt:lpstr>
      <vt:lpstr>Algoritmo de Floyd-Warshall</vt:lpstr>
      <vt:lpstr>Reflexão sobre Grafos com pesos negativos</vt:lpstr>
      <vt:lpstr>Apresentação do PowerPoint</vt:lpstr>
      <vt:lpstr>Reflexão sobre Grafos com pesos negativos</vt:lpstr>
      <vt:lpstr>Reflexão sobre Grafos com pesos negativos</vt:lpstr>
      <vt:lpstr>Apresentação do PowerPoint</vt:lpstr>
      <vt:lpstr>Apresentação do PowerPoint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Exemplo</vt:lpstr>
      <vt:lpstr>Algoritmo de Floyd-Warshall Implementação</vt:lpstr>
      <vt:lpstr>Algoritmo de Bellman-Ford</vt:lpstr>
      <vt:lpstr>Algoritmo de Bellman-Ford</vt:lpstr>
      <vt:lpstr>Algoritmo de Bellman-Ford</vt:lpstr>
      <vt:lpstr>Algoritmo de Bellman-Ford</vt:lpstr>
      <vt:lpstr>Algoritmo de Bellman-Ford Exemplo</vt:lpstr>
      <vt:lpstr>Exercícios</vt:lpstr>
      <vt:lpstr>Dúvidas?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10: Introdução a Grafos</dc:title>
  <dc:creator>andrei</dc:creator>
  <cp:lastModifiedBy>Conta da Microsoft</cp:lastModifiedBy>
  <cp:revision>101</cp:revision>
  <dcterms:created xsi:type="dcterms:W3CDTF">2021-04-30T14:23:31Z</dcterms:created>
  <dcterms:modified xsi:type="dcterms:W3CDTF">2021-08-03T21:31:44Z</dcterms:modified>
</cp:coreProperties>
</file>